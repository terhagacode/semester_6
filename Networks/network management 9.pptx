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8" r:id="rId1"/>
  </p:sldMasterIdLst>
  <p:sldIdLst>
    <p:sldId id="256" r:id="rId2"/>
    <p:sldId id="314" r:id="rId3"/>
    <p:sldId id="315" r:id="rId4"/>
    <p:sldId id="338" r:id="rId5"/>
    <p:sldId id="316" r:id="rId6"/>
    <p:sldId id="339" r:id="rId7"/>
    <p:sldId id="317" r:id="rId8"/>
    <p:sldId id="318" r:id="rId9"/>
    <p:sldId id="319" r:id="rId10"/>
    <p:sldId id="320" r:id="rId11"/>
    <p:sldId id="321" r:id="rId12"/>
    <p:sldId id="322" r:id="rId13"/>
    <p:sldId id="323" r:id="rId14"/>
    <p:sldId id="324" r:id="rId15"/>
    <p:sldId id="325" r:id="rId16"/>
    <p:sldId id="326" r:id="rId17"/>
    <p:sldId id="327" r:id="rId18"/>
    <p:sldId id="328" r:id="rId19"/>
    <p:sldId id="329" r:id="rId20"/>
    <p:sldId id="330" r:id="rId21"/>
    <p:sldId id="29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5/19/2024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5/19/2024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5/19/2024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5/19/2024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5/19/2024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5/19/2024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3598E33-A2AB-4C76-A064-386F6B304DF9}" type="datetimeFigureOut">
              <a:rPr lang="en-US" smtClean="0"/>
              <a:t>5/19/2024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ar-SA" dirty="0" smtClean="0"/>
              <a:t>إدارة وإستخدام الشبكات </a:t>
            </a:r>
            <a:endParaRPr lang="en-US" dirty="0"/>
          </a:p>
        </p:txBody>
      </p:sp>
      <p:sp>
        <p:nvSpPr>
          <p:cNvPr id="3" name="Subtitle 2"/>
          <p:cNvSpPr>
            <a:spLocks noGrp="1"/>
          </p:cNvSpPr>
          <p:nvPr>
            <p:ph type="subTitle" idx="1"/>
          </p:nvPr>
        </p:nvSpPr>
        <p:spPr>
          <a:xfrm>
            <a:off x="457200" y="3733800"/>
            <a:ext cx="7854696" cy="2590800"/>
          </a:xfrm>
        </p:spPr>
        <p:txBody>
          <a:bodyPr>
            <a:normAutofit/>
          </a:bodyPr>
          <a:lstStyle/>
          <a:p>
            <a:pPr algn="ctr" rtl="1"/>
            <a:r>
              <a:rPr lang="ar-SA" b="1" dirty="0"/>
              <a:t>. أجهزة رصد الشبكة عن بعد</a:t>
            </a:r>
            <a:r>
              <a:rPr lang="en-US" dirty="0"/>
              <a:t/>
            </a:r>
            <a:br>
              <a:rPr lang="en-US" dirty="0"/>
            </a:br>
            <a:r>
              <a:rPr lang="ar-SA" dirty="0" smtClean="0"/>
              <a:t>محاضرة رقم (9)</a:t>
            </a:r>
          </a:p>
          <a:p>
            <a:pPr algn="ctr" rtl="1"/>
            <a:endParaRPr lang="ar-SA" dirty="0" smtClean="0"/>
          </a:p>
          <a:p>
            <a:pPr algn="ctr" rtl="1"/>
            <a:r>
              <a:rPr lang="ar-SA" dirty="0" smtClean="0"/>
              <a:t>					اعداد :</a:t>
            </a:r>
          </a:p>
          <a:p>
            <a:pPr algn="l" rtl="1"/>
            <a:r>
              <a:rPr lang="ar-SA" dirty="0" smtClean="0"/>
              <a:t>أ . مودة ادم محمد</a:t>
            </a:r>
            <a:endParaRPr lang="en-US" dirty="0"/>
          </a:p>
        </p:txBody>
      </p:sp>
    </p:spTree>
    <p:extLst>
      <p:ext uri="{BB962C8B-B14F-4D97-AF65-F5344CB8AC3E}">
        <p14:creationId xmlns:p14="http://schemas.microsoft.com/office/powerpoint/2010/main" val="3019230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b="1" dirty="0"/>
              <a:t>. أجهزة رصد الشبكة عن </a:t>
            </a:r>
            <a:r>
              <a:rPr lang="ar-SA" b="1" dirty="0" smtClean="0"/>
              <a:t>بعد</a:t>
            </a:r>
            <a:endParaRPr lang="en-US" dirty="0"/>
          </a:p>
        </p:txBody>
      </p:sp>
      <p:sp>
        <p:nvSpPr>
          <p:cNvPr id="3" name="Content Placeholder 2"/>
          <p:cNvSpPr>
            <a:spLocks noGrp="1"/>
          </p:cNvSpPr>
          <p:nvPr>
            <p:ph idx="1"/>
          </p:nvPr>
        </p:nvSpPr>
        <p:spPr/>
        <p:txBody>
          <a:bodyPr/>
          <a:lstStyle/>
          <a:p>
            <a:pPr algn="r" rtl="1"/>
            <a:r>
              <a:rPr lang="ar-SA" dirty="0" smtClean="0"/>
              <a:t>إن </a:t>
            </a:r>
            <a:r>
              <a:rPr lang="ar-SA" dirty="0"/>
              <a:t>الغرض من جهاز رصد الشبكة عن بعد، هو المساعدة في إجراء عمليات إدارة الشبكة على قطاع شبكي </a:t>
            </a:r>
            <a:r>
              <a:rPr lang="en-US" dirty="0"/>
              <a:t>Network Segment</a:t>
            </a:r>
            <a:r>
              <a:rPr lang="ar-SA" dirty="0"/>
              <a:t> محدد. يوضع هذا الجهاز (أو المجس </a:t>
            </a:r>
            <a:r>
              <a:rPr lang="en-US" dirty="0"/>
              <a:t>Probe</a:t>
            </a:r>
            <a:r>
              <a:rPr lang="ar-SA" dirty="0"/>
              <a:t>) على قطاعات الشبكة. ويقوم برصد هذه القطاعات الشبكية وتجميع الإحصاءات. يوضح الشكل 6.1 المكونات الأساسية لرصد الشبكة عن بعد، </a:t>
            </a:r>
            <a:r>
              <a:rPr lang="ar-SA" dirty="0" smtClean="0"/>
              <a:t>وتشمل</a:t>
            </a:r>
            <a:r>
              <a:rPr lang="en-US" dirty="0" smtClean="0"/>
              <a:t>:</a:t>
            </a:r>
          </a:p>
          <a:p>
            <a:pPr algn="r" rtl="1"/>
            <a:r>
              <a:rPr lang="ar-SA" dirty="0" smtClean="0"/>
              <a:t> </a:t>
            </a:r>
            <a:r>
              <a:rPr lang="ar-SA" dirty="0"/>
              <a:t>نظام إدارة الشبكة، </a:t>
            </a:r>
            <a:endParaRPr lang="en-US" dirty="0" smtClean="0"/>
          </a:p>
          <a:p>
            <a:pPr algn="r" rtl="1"/>
            <a:r>
              <a:rPr lang="ar-SA" dirty="0" smtClean="0"/>
              <a:t>جهاز </a:t>
            </a:r>
            <a:r>
              <a:rPr lang="ar-SA" dirty="0"/>
              <a:t>الرصد (المجس</a:t>
            </a:r>
            <a:r>
              <a:rPr lang="ar-SA" dirty="0" smtClean="0"/>
              <a:t>)،</a:t>
            </a:r>
            <a:endParaRPr lang="en-US" dirty="0" smtClean="0"/>
          </a:p>
          <a:p>
            <a:pPr algn="r" rtl="1"/>
            <a:r>
              <a:rPr lang="ar-SA" dirty="0" smtClean="0"/>
              <a:t> </a:t>
            </a:r>
            <a:r>
              <a:rPr lang="ar-SA" dirty="0"/>
              <a:t>وقاعدة المعلومات الخاصة بالرصد، </a:t>
            </a:r>
            <a:endParaRPr lang="en-US" dirty="0" smtClean="0"/>
          </a:p>
          <a:p>
            <a:pPr algn="r" rtl="1"/>
            <a:r>
              <a:rPr lang="ar-SA" dirty="0" smtClean="0"/>
              <a:t>و </a:t>
            </a:r>
            <a:r>
              <a:rPr lang="ar-SA" dirty="0"/>
              <a:t>القطاع الشبكي لإيثرنيت، الذي يتم رصد بياناته</a:t>
            </a:r>
            <a:endParaRPr lang="en-US" dirty="0"/>
          </a:p>
        </p:txBody>
      </p:sp>
    </p:spTree>
    <p:extLst>
      <p:ext uri="{BB962C8B-B14F-4D97-AF65-F5344CB8AC3E}">
        <p14:creationId xmlns:p14="http://schemas.microsoft.com/office/powerpoint/2010/main" val="2232159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43000"/>
            <a:ext cx="5857875" cy="5331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138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algn="r" rtl="1" eaLnBrk="0" fontAlgn="base" hangingPunct="0">
              <a:spcBef>
                <a:spcPct val="0"/>
              </a:spcBef>
              <a:spcAft>
                <a:spcPct val="0"/>
              </a:spcAft>
              <a:buClrTx/>
              <a:buSzTx/>
              <a:buNone/>
            </a:pPr>
            <a:r>
              <a:rPr lang="ar-SA" altLang="en-US" sz="2800" dirty="0">
                <a:solidFill>
                  <a:srgbClr val="000000"/>
                </a:solidFill>
                <a:latin typeface="Simplified Arabic"/>
                <a:ea typeface="Times New Roman" panose="02020603050405020304" pitchFamily="18" charset="0"/>
                <a:cs typeface="Arial" panose="020B0604020202020204" pitchFamily="34" charset="0"/>
              </a:rPr>
              <a:t>يمكن أن يكون </a:t>
            </a: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جهاز الرصدعبارة </a:t>
            </a:r>
            <a:r>
              <a:rPr lang="ar-SA" altLang="en-US" sz="2800" dirty="0">
                <a:solidFill>
                  <a:srgbClr val="000000"/>
                </a:solidFill>
                <a:latin typeface="Simplified Arabic"/>
                <a:ea typeface="Times New Roman" panose="02020603050405020304" pitchFamily="18" charset="0"/>
                <a:cs typeface="Arial" panose="020B0604020202020204" pitchFamily="34" charset="0"/>
              </a:rPr>
              <a:t>عن برنامج مشغل على حاسوب شخصي، أو جهاز الوكيل </a:t>
            </a:r>
            <a:r>
              <a:rPr lang="en-US" altLang="en-US" sz="2800" dirty="0">
                <a:solidFill>
                  <a:srgbClr val="000000"/>
                </a:solidFill>
                <a:ea typeface="Times New Roman" panose="02020603050405020304" pitchFamily="18" charset="0"/>
                <a:cs typeface="Simplified Arabic"/>
              </a:rPr>
              <a:t>Agent</a:t>
            </a:r>
            <a:r>
              <a:rPr lang="ar-SA" altLang="en-US" sz="2800" dirty="0">
                <a:solidFill>
                  <a:srgbClr val="000000"/>
                </a:solidFill>
                <a:latin typeface="Simplified Arabic"/>
                <a:ea typeface="Times New Roman" panose="02020603050405020304" pitchFamily="18" charset="0"/>
                <a:cs typeface="Arial" panose="020B0604020202020204" pitchFamily="34" charset="0"/>
              </a:rPr>
              <a:t>، كما هو موضح في الشكل 6.2. يمكن أن يوجد </a:t>
            </a: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بجهاز </a:t>
            </a:r>
            <a:r>
              <a:rPr lang="ar-SA" altLang="en-US" sz="2800" dirty="0">
                <a:solidFill>
                  <a:srgbClr val="000000"/>
                </a:solidFill>
                <a:latin typeface="Simplified Arabic"/>
                <a:ea typeface="Times New Roman" panose="02020603050405020304" pitchFamily="18" charset="0"/>
                <a:cs typeface="Arial" panose="020B0604020202020204" pitchFamily="34" charset="0"/>
              </a:rPr>
              <a:t>الرصد وحدات بينية على قطاعات متعددة من الشبكة، ويستطيع </a:t>
            </a: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جهاز الرصد </a:t>
            </a:r>
            <a:r>
              <a:rPr lang="ar-SA" altLang="en-US" sz="2800" dirty="0">
                <a:solidFill>
                  <a:srgbClr val="000000"/>
                </a:solidFill>
                <a:latin typeface="Simplified Arabic"/>
                <a:ea typeface="Times New Roman" panose="02020603050405020304" pitchFamily="18" charset="0"/>
                <a:cs typeface="Arial" panose="020B0604020202020204" pitchFamily="34" charset="0"/>
              </a:rPr>
              <a:t>تجميع البيانات من كل قطاعٍ على حدة. كما يمكن أن يحتوي </a:t>
            </a: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على </a:t>
            </a:r>
            <a:r>
              <a:rPr lang="ar-SA" altLang="en-US" sz="2800" dirty="0">
                <a:solidFill>
                  <a:srgbClr val="000000"/>
                </a:solidFill>
                <a:latin typeface="Simplified Arabic"/>
                <a:ea typeface="Times New Roman" panose="02020603050405020304" pitchFamily="18" charset="0"/>
                <a:cs typeface="Arial" panose="020B0604020202020204" pitchFamily="34" charset="0"/>
              </a:rPr>
              <a:t>ذاكرة خاصة، ومعالج وبطاقة الشبكة المخصصين لإجراء الوظائف الخاصة بإدارة الشبكة</a:t>
            </a: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a:t>
            </a:r>
          </a:p>
          <a:p>
            <a:pPr marL="0" lvl="0" indent="0" algn="r" rtl="1" eaLnBrk="0" fontAlgn="base" hangingPunct="0">
              <a:spcBef>
                <a:spcPct val="0"/>
              </a:spcBef>
              <a:spcAft>
                <a:spcPct val="0"/>
              </a:spcAft>
              <a:buClrTx/>
              <a:buSzTx/>
              <a:buNone/>
            </a:pPr>
            <a:r>
              <a:rPr lang="ar-SA" altLang="en-US" sz="2800" dirty="0" smtClean="0">
                <a:solidFill>
                  <a:srgbClr val="000000"/>
                </a:solidFill>
                <a:latin typeface="Simplified Arabic"/>
                <a:ea typeface="Times New Roman" panose="02020603050405020304" pitchFamily="18" charset="0"/>
                <a:cs typeface="Arial" panose="020B0604020202020204" pitchFamily="34" charset="0"/>
              </a:rPr>
              <a:t> </a:t>
            </a:r>
            <a:r>
              <a:rPr lang="ar-SA" altLang="en-US" sz="2800" dirty="0">
                <a:solidFill>
                  <a:srgbClr val="000000"/>
                </a:solidFill>
                <a:latin typeface="Simplified Arabic"/>
                <a:ea typeface="Times New Roman" panose="02020603050405020304" pitchFamily="18" charset="0"/>
                <a:cs typeface="Arial" panose="020B0604020202020204" pitchFamily="34" charset="0"/>
              </a:rPr>
              <a:t>يكون جهاز رصد الشبكة عن بعد مسئولا عن تجميع الإحصاءات المعرفة في قاعدة المعلومات الإدارية </a:t>
            </a:r>
            <a:r>
              <a:rPr lang="en-US" altLang="en-US" sz="2800" dirty="0">
                <a:solidFill>
                  <a:srgbClr val="000000"/>
                </a:solidFill>
                <a:ea typeface="Times New Roman" panose="02020603050405020304" pitchFamily="18" charset="0"/>
                <a:cs typeface="Simplified Arabic"/>
              </a:rPr>
              <a:t>RMON MIB</a:t>
            </a:r>
            <a:r>
              <a:rPr lang="ar-SA" altLang="en-US" sz="2800" dirty="0">
                <a:solidFill>
                  <a:srgbClr val="000000"/>
                </a:solidFill>
                <a:latin typeface="Simplified Arabic"/>
                <a:ea typeface="Times New Roman" panose="02020603050405020304" pitchFamily="18" charset="0"/>
                <a:cs typeface="Arial" panose="020B0604020202020204" pitchFamily="34" charset="0"/>
              </a:rPr>
              <a:t>. </a:t>
            </a:r>
            <a:endParaRPr lang="en-US" altLang="en-US" sz="1200" dirty="0"/>
          </a:p>
          <a:p>
            <a:pPr marL="0" lvl="0" indent="0" algn="l" rtl="1" eaLnBrk="0" fontAlgn="base" hangingPunct="0">
              <a:spcBef>
                <a:spcPct val="0"/>
              </a:spcBef>
              <a:spcAft>
                <a:spcPct val="0"/>
              </a:spcAft>
              <a:buClrTx/>
              <a:buSzTx/>
              <a:buNone/>
            </a:pPr>
            <a:endParaRPr lang="en-US" altLang="en-US" sz="3600" dirty="0">
              <a:latin typeface="Arial" panose="020B0604020202020204" pitchFamily="34" charset="0"/>
              <a:cs typeface="Arial" panose="020B0604020202020204" pitchFamily="34" charset="0"/>
            </a:endParaRPr>
          </a:p>
          <a:p>
            <a:pPr algn="l" rtl="1"/>
            <a:endParaRPr lang="en-US" dirty="0"/>
          </a:p>
        </p:txBody>
      </p:sp>
    </p:spTree>
    <p:extLst>
      <p:ext uri="{BB962C8B-B14F-4D97-AF65-F5344CB8AC3E}">
        <p14:creationId xmlns:p14="http://schemas.microsoft.com/office/powerpoint/2010/main" val="3610127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275588"/>
            <a:ext cx="6629400" cy="4533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433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lvl="0" indent="0" algn="r" rtl="1" eaLnBrk="0" fontAlgn="base" hangingPunct="0">
              <a:spcBef>
                <a:spcPct val="0"/>
              </a:spcBef>
              <a:spcAft>
                <a:spcPct val="0"/>
              </a:spcAft>
              <a:buClrTx/>
              <a:buSzTx/>
              <a:buNone/>
            </a:pP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إن قاعدة المعلومات </a:t>
            </a: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 </a:t>
            </a:r>
            <a:r>
              <a:rPr lang="en-US" altLang="en-US" sz="2800" dirty="0">
                <a:solidFill>
                  <a:srgbClr val="000000"/>
                </a:solidFill>
                <a:latin typeface="Arial" panose="020B0604020202020204" pitchFamily="34" charset="0"/>
                <a:ea typeface="Times New Roman" panose="02020603050405020304" pitchFamily="18" charset="0"/>
                <a:cs typeface="Simplified Arabic" charset="-78"/>
              </a:rPr>
              <a:t>RMON-MIB</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 تمت معايرتها </a:t>
            </a:r>
            <a:r>
              <a:rPr lang="en-US" altLang="en-US" sz="2800" dirty="0">
                <a:solidFill>
                  <a:srgbClr val="000000"/>
                </a:solidFill>
                <a:latin typeface="Arial" panose="020B0604020202020204" pitchFamily="34" charset="0"/>
                <a:ea typeface="Times New Roman" panose="02020603050405020304" pitchFamily="18" charset="0"/>
                <a:cs typeface="Simplified Arabic" charset="-78"/>
              </a:rPr>
              <a:t>standardized</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 من أجل العمل على قطاعات الشبكات المحلية </a:t>
            </a: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ايثرنت</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 لكن هذا لا يمنع تقنيات الشبكات الأخرى من استخدامها. فقد تم توسعتها لتشمل إدارة شبكات مثل </a:t>
            </a:r>
            <a:r>
              <a:rPr lang="en-US" altLang="en-US" sz="2800" dirty="0">
                <a:solidFill>
                  <a:srgbClr val="000000"/>
                </a:solidFill>
                <a:latin typeface="Arial" panose="020B0604020202020204" pitchFamily="34" charset="0"/>
                <a:ea typeface="Times New Roman" panose="02020603050405020304" pitchFamily="18" charset="0"/>
                <a:cs typeface="Simplified Arabic" charset="-78"/>
              </a:rPr>
              <a:t>Token Ring</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 وشبكات </a:t>
            </a:r>
            <a:r>
              <a:rPr lang="en-US" altLang="en-US" sz="2800" dirty="0">
                <a:solidFill>
                  <a:srgbClr val="000000"/>
                </a:solidFill>
                <a:latin typeface="Arial" panose="020B0604020202020204" pitchFamily="34" charset="0"/>
                <a:ea typeface="Times New Roman" panose="02020603050405020304" pitchFamily="18" charset="0"/>
                <a:cs typeface="Simplified Arabic" charset="-78"/>
              </a:rPr>
              <a:t>FDDI</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 ، كما هو موضح في الشكل6.3 . </a:t>
            </a:r>
            <a:endPar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endParaRPr>
          </a:p>
          <a:p>
            <a:pPr marL="0" lvl="0" indent="0" algn="r" rtl="1" eaLnBrk="0" fontAlgn="base" hangingPunct="0">
              <a:spcBef>
                <a:spcPct val="0"/>
              </a:spcBef>
              <a:spcAft>
                <a:spcPct val="0"/>
              </a:spcAft>
              <a:buClrTx/>
              <a:buSzTx/>
              <a:buNone/>
            </a:pPr>
            <a:endParaRPr lang="en-US" altLang="en-US" sz="1200" dirty="0">
              <a:latin typeface="Arial" panose="020B0604020202020204" pitchFamily="34" charset="0"/>
            </a:endParaRPr>
          </a:p>
          <a:p>
            <a:pPr marL="0" lvl="0" indent="0" algn="r" rtl="1" eaLnBrk="0" fontAlgn="base" hangingPunct="0">
              <a:spcBef>
                <a:spcPct val="0"/>
              </a:spcBef>
              <a:spcAft>
                <a:spcPct val="0"/>
              </a:spcAft>
              <a:buClrTx/>
              <a:buSzTx/>
              <a:buNone/>
            </a:pP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يمكن للمؤسسة أن تضع جهاز رصد الشبكة عن بعد في كل قطاع شبكي، كما موضح في الشكل6.3.عند تطبيق هذه الطريقة، يستطيع مدير الشبكة المركزي تجميع الإحصاءات الخاصة بقاعدة معلومات </a:t>
            </a: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a:t>
            </a:r>
            <a:r>
              <a:rPr lang="en-US" altLang="en-US" sz="2800" dirty="0">
                <a:solidFill>
                  <a:srgbClr val="000000"/>
                </a:solidFill>
                <a:latin typeface="Arial" panose="020B0604020202020204" pitchFamily="34" charset="0"/>
                <a:ea typeface="Times New Roman" panose="02020603050405020304" pitchFamily="18" charset="0"/>
                <a:cs typeface="Simplified Arabic" charset="-78"/>
              </a:rPr>
              <a:t> RMON-MIB </a:t>
            </a: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 </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من كل قطاع شبكي. </a:t>
            </a:r>
            <a:endPar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endParaRPr>
          </a:p>
          <a:p>
            <a:pPr marL="0" lvl="0" indent="0" algn="r" rtl="1" eaLnBrk="0" fontAlgn="base" hangingPunct="0">
              <a:spcBef>
                <a:spcPct val="0"/>
              </a:spcBef>
              <a:spcAft>
                <a:spcPct val="0"/>
              </a:spcAft>
              <a:buClrTx/>
              <a:buSzTx/>
              <a:buNone/>
            </a:pP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إن </a:t>
            </a: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شراء جهاز مخصص لكل قطاع شبكي قد يكون مكلفا للعديد من المؤسسات. في بعض الحالات، عندما يوجد جهاز رصد شبكة عن بعد، من أجل الوصول لإدارة</a:t>
            </a:r>
            <a:endParaRPr lang="en-US" altLang="en-US" sz="1200" dirty="0">
              <a:latin typeface="Arial" panose="020B0604020202020204" pitchFamily="34" charset="0"/>
            </a:endParaRPr>
          </a:p>
          <a:p>
            <a:pPr marL="0" lvl="0" indent="0" algn="r" rtl="1" eaLnBrk="0" fontAlgn="base" hangingPunct="0">
              <a:spcBef>
                <a:spcPct val="0"/>
              </a:spcBef>
              <a:spcAft>
                <a:spcPct val="0"/>
              </a:spcAft>
              <a:buClrTx/>
              <a:buSzTx/>
              <a:buNone/>
            </a:pPr>
            <a:r>
              <a:rPr lang="ar-SA" altLang="en-US" sz="2800" dirty="0">
                <a:solidFill>
                  <a:srgbClr val="000000"/>
                </a:solidFill>
                <a:latin typeface="Arial" panose="020B0604020202020204" pitchFamily="34" charset="0"/>
                <a:ea typeface="Times New Roman" panose="02020603050405020304" pitchFamily="18" charset="0"/>
                <a:cs typeface="Simplified Arabic" charset="-78"/>
              </a:rPr>
              <a:t>الشبكة، ربما يوازن هذه التكلفة</a:t>
            </a: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a:t>
            </a:r>
          </a:p>
          <a:p>
            <a:pPr marL="0" lvl="0" indent="0" algn="r" rtl="1" eaLnBrk="0" fontAlgn="base" hangingPunct="0">
              <a:spcBef>
                <a:spcPct val="0"/>
              </a:spcBef>
              <a:spcAft>
                <a:spcPct val="0"/>
              </a:spcAft>
              <a:buClrTx/>
              <a:buSzTx/>
              <a:buNone/>
            </a:pPr>
            <a:r>
              <a:rPr lang="ar-SA" altLang="en-US" sz="2800" dirty="0" smtClean="0">
                <a:solidFill>
                  <a:srgbClr val="000000"/>
                </a:solidFill>
                <a:latin typeface="Arial" panose="020B0604020202020204" pitchFamily="34" charset="0"/>
                <a:ea typeface="Times New Roman" panose="02020603050405020304" pitchFamily="18" charset="0"/>
                <a:cs typeface="Simplified Arabic" charset="-78"/>
              </a:rPr>
              <a:t> </a:t>
            </a:r>
            <a:endParaRPr lang="en-US" dirty="0"/>
          </a:p>
        </p:txBody>
      </p:sp>
    </p:spTree>
    <p:extLst>
      <p:ext uri="{BB962C8B-B14F-4D97-AF65-F5344CB8AC3E}">
        <p14:creationId xmlns:p14="http://schemas.microsoft.com/office/powerpoint/2010/main" val="135283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307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09994"/>
            <a:ext cx="6553200" cy="526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236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600" b="1" dirty="0" smtClean="0"/>
              <a:t>1 </a:t>
            </a:r>
            <a:r>
              <a:rPr lang="ar-SA" sz="3600" b="1" dirty="0" smtClean="0"/>
              <a:t>مجس </a:t>
            </a:r>
            <a:r>
              <a:rPr lang="ar-SA" sz="3600" b="1" dirty="0"/>
              <a:t>الرصد غير المحجوز </a:t>
            </a:r>
            <a:r>
              <a:rPr lang="en-US" sz="3600" b="1" dirty="0" smtClean="0"/>
              <a:t>Non Dedicated </a:t>
            </a:r>
            <a:endParaRPr lang="en-US" sz="3600" dirty="0"/>
          </a:p>
        </p:txBody>
      </p:sp>
      <p:sp>
        <p:nvSpPr>
          <p:cNvPr id="3" name="Content Placeholder 2"/>
          <p:cNvSpPr>
            <a:spLocks noGrp="1"/>
          </p:cNvSpPr>
          <p:nvPr>
            <p:ph idx="1"/>
          </p:nvPr>
        </p:nvSpPr>
        <p:spPr/>
        <p:txBody>
          <a:bodyPr>
            <a:normAutofit/>
          </a:bodyPr>
          <a:lstStyle/>
          <a:p>
            <a:pPr algn="r" rtl="1"/>
            <a:r>
              <a:rPr lang="ar-SA" dirty="0" smtClean="0"/>
              <a:t>يوجد </a:t>
            </a:r>
            <a:r>
              <a:rPr lang="ar-SA" dirty="0"/>
              <a:t>حل آخر، وهو شراء برنامج يستطيع إجراء رصد الشبكة عن بعد، بواسطة جهاز غير محجوز </a:t>
            </a:r>
            <a:r>
              <a:rPr lang="en-US" dirty="0" smtClean="0"/>
              <a:t>Non dedicated</a:t>
            </a:r>
            <a:r>
              <a:rPr lang="ar-SA" dirty="0"/>
              <a:t>. حيث نستطيع شراء البرنامج للعديد من محطات العمل التي تستطيع إضافة رصد الشبكة عن بعد، ضمن وظيفة محطة العمل مثل منتجات شركة </a:t>
            </a:r>
            <a:r>
              <a:rPr lang="en-US" dirty="0" smtClean="0"/>
              <a:t>HP-Net Metrix</a:t>
            </a:r>
            <a:r>
              <a:rPr lang="ar-SA" dirty="0"/>
              <a:t>. على الرغم من ذلك، فإن إجراء رصد الشبكة عن بعد يتطلب توفير وحدات بينية للجهاز تعمل في نمط الاختلاط </a:t>
            </a:r>
            <a:r>
              <a:rPr lang="en-US" dirty="0"/>
              <a:t>Promiscuous</a:t>
            </a:r>
            <a:r>
              <a:rPr lang="ar-SA" dirty="0"/>
              <a:t>، إلى الإصغاء لكل إطار في قطاع الشبكة. </a:t>
            </a:r>
            <a:endParaRPr lang="ar-SA" dirty="0" smtClean="0"/>
          </a:p>
          <a:p>
            <a:pPr algn="r" rtl="1"/>
            <a:r>
              <a:rPr lang="en-US" dirty="0"/>
              <a:t> </a:t>
            </a:r>
          </a:p>
        </p:txBody>
      </p:sp>
    </p:spTree>
    <p:extLst>
      <p:ext uri="{BB962C8B-B14F-4D97-AF65-F5344CB8AC3E}">
        <p14:creationId xmlns:p14="http://schemas.microsoft.com/office/powerpoint/2010/main" val="3568777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حيث يسمح هذا النمط من التشغيل ، بأن تقوم بطاقة الشبكة بتمرير جميع حزم البيانات التي يستقبلها إلى المعالج، وليس فقط الحزم الخاصة بالعنوان الموجود بالوحدة </a:t>
            </a:r>
            <a:r>
              <a:rPr lang="en-US" dirty="0"/>
              <a:t>MAC</a:t>
            </a:r>
            <a:r>
              <a:rPr lang="ar-SA" dirty="0"/>
              <a:t>. ويمكن أن يؤدي ذلك إلى بطء أداء الوحدات البينية في محطات عمل الشبكة. </a:t>
            </a:r>
            <a:endParaRPr lang="en-US" dirty="0"/>
          </a:p>
          <a:p>
            <a:pPr algn="r" rtl="1"/>
            <a:r>
              <a:rPr lang="ar-SA" dirty="0"/>
              <a:t>على سبيل المثال، يحتاج جهاز الموجَّه أن يفحص فقط مقدمة الإطار في الايثرنيت لتحديد ما إذا كان يحتاج تحديد المسار </a:t>
            </a:r>
            <a:r>
              <a:rPr lang="en-US" dirty="0"/>
              <a:t>Routing</a:t>
            </a:r>
            <a:r>
              <a:rPr lang="ar-SA" dirty="0"/>
              <a:t>. لكن عندما يكون الموجه هو نفسه أيضا جهاز الرصد عن بعد - كما هو موضح في الشكل 6.3 - فقد يحتاج إلى فحص الإطار بكامله (لكل إطار) بغض النظر إن كان سيحدد له المسار أم لا.</a:t>
            </a:r>
            <a:endParaRPr lang="en-US" dirty="0"/>
          </a:p>
          <a:p>
            <a:endParaRPr lang="en-US" dirty="0"/>
          </a:p>
        </p:txBody>
      </p:sp>
    </p:spTree>
    <p:extLst>
      <p:ext uri="{BB962C8B-B14F-4D97-AF65-F5344CB8AC3E}">
        <p14:creationId xmlns:p14="http://schemas.microsoft.com/office/powerpoint/2010/main" val="175855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en-US" b="1" dirty="0" smtClean="0"/>
              <a:t>2</a:t>
            </a:r>
            <a:r>
              <a:rPr lang="ar-SA" b="1" dirty="0" smtClean="0"/>
              <a:t> </a:t>
            </a:r>
            <a:r>
              <a:rPr lang="ar-SA" b="1" dirty="0"/>
              <a:t>المجمع السلكي الذكي </a:t>
            </a:r>
            <a:r>
              <a:rPr lang="en-US" dirty="0"/>
              <a:t>Intelligent Wiring</a:t>
            </a:r>
            <a:r>
              <a:rPr lang="en-US" b="1" dirty="0"/>
              <a:t> </a:t>
            </a:r>
            <a:r>
              <a:rPr lang="en-US" dirty="0"/>
              <a:t>Hub</a:t>
            </a:r>
          </a:p>
          <a:p>
            <a:pPr algn="r" rtl="1"/>
            <a:r>
              <a:rPr lang="ar-SA" dirty="0"/>
              <a:t>يوجد اختيار آخر من أجل رصد الشبكة عن بعد، وهو بوضع المجس الوظيفي داخل مجمع سلكي ذكي</a:t>
            </a:r>
            <a:r>
              <a:rPr lang="en-US" dirty="0"/>
              <a:t> Intelligent Wiring Hub</a:t>
            </a:r>
            <a:r>
              <a:rPr lang="ar-SA" dirty="0"/>
              <a:t>. </a:t>
            </a:r>
            <a:r>
              <a:rPr lang="ar-SA" dirty="0" smtClean="0"/>
              <a:t>يوصل </a:t>
            </a:r>
            <a:r>
              <a:rPr lang="ar-SA" dirty="0"/>
              <a:t>المجمع السلكي في نهاية النظم، ويتم وضع المجس في مكان مناسب. يوضح الشكل6.4، مجسات "رمون" مختلفة موزعة داخل قطاعات الشبكة.  </a:t>
            </a:r>
            <a:endParaRPr lang="en-US" dirty="0"/>
          </a:p>
        </p:txBody>
      </p:sp>
    </p:spTree>
    <p:extLst>
      <p:ext uri="{BB962C8B-B14F-4D97-AF65-F5344CB8AC3E}">
        <p14:creationId xmlns:p14="http://schemas.microsoft.com/office/powerpoint/2010/main" val="4274575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036" y="1808321"/>
            <a:ext cx="6721928" cy="464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1083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600" b="1" dirty="0"/>
              <a:t>.  أهداف قاعدة المعلومات الإدارية للرصد عن </a:t>
            </a:r>
            <a:r>
              <a:rPr lang="ar-SA" sz="3600" b="1" dirty="0" smtClean="0"/>
              <a:t>بعد</a:t>
            </a:r>
            <a:endParaRPr lang="en-US" sz="3600" dirty="0"/>
          </a:p>
        </p:txBody>
      </p:sp>
      <p:sp>
        <p:nvSpPr>
          <p:cNvPr id="3" name="Content Placeholder 2"/>
          <p:cNvSpPr>
            <a:spLocks noGrp="1"/>
          </p:cNvSpPr>
          <p:nvPr>
            <p:ph idx="1"/>
          </p:nvPr>
        </p:nvSpPr>
        <p:spPr/>
        <p:txBody>
          <a:bodyPr>
            <a:normAutofit/>
          </a:bodyPr>
          <a:lstStyle/>
          <a:p>
            <a:pPr marL="0" indent="0" algn="r" rtl="1">
              <a:buNone/>
            </a:pPr>
            <a:endParaRPr lang="en-US" dirty="0"/>
          </a:p>
          <a:p>
            <a:pPr algn="r" rtl="1"/>
            <a:r>
              <a:rPr lang="ar-SA" dirty="0"/>
              <a:t>يوجد خمسة أهداف رئيسية لقاعدة المعلومات الإدارية وهي:</a:t>
            </a:r>
            <a:endParaRPr lang="en-US" dirty="0"/>
          </a:p>
          <a:p>
            <a:pPr algn="r" rtl="1"/>
            <a:r>
              <a:rPr lang="ar-SA" dirty="0"/>
              <a:t>أ- إجراء بعض العمليات دون الاعتماد على الاتصال بالشبكة </a:t>
            </a:r>
            <a:r>
              <a:rPr lang="en-US" dirty="0"/>
              <a:t>Off-Line Operation</a:t>
            </a:r>
            <a:r>
              <a:rPr lang="ar-SA" dirty="0"/>
              <a:t>.</a:t>
            </a:r>
            <a:endParaRPr lang="en-US" dirty="0"/>
          </a:p>
          <a:p>
            <a:pPr algn="r" rtl="1"/>
            <a:r>
              <a:rPr lang="ar-SA" dirty="0"/>
              <a:t>ب- أخذ المبادرة بإجراء عملية الرصد </a:t>
            </a:r>
            <a:r>
              <a:rPr lang="en-US" dirty="0"/>
              <a:t>Preemptive Monitoring</a:t>
            </a:r>
            <a:r>
              <a:rPr lang="ar-SA" dirty="0"/>
              <a:t>.</a:t>
            </a:r>
            <a:endParaRPr lang="en-US" dirty="0"/>
          </a:p>
          <a:p>
            <a:pPr algn="r" rtl="1"/>
            <a:r>
              <a:rPr lang="ar-SA" dirty="0"/>
              <a:t>ج- الكشف عن المشاكل وتدوينها </a:t>
            </a:r>
            <a:r>
              <a:rPr lang="en-US" dirty="0"/>
              <a:t>Problem Detection and Reporting</a:t>
            </a:r>
            <a:r>
              <a:rPr lang="ar-SA" dirty="0"/>
              <a:t>.</a:t>
            </a:r>
            <a:endParaRPr lang="en-US" dirty="0"/>
          </a:p>
          <a:p>
            <a:pPr algn="r" rtl="1"/>
            <a:r>
              <a:rPr lang="ar-SA" dirty="0"/>
              <a:t>د- إتاحة بيانات القيمة المضافة </a:t>
            </a:r>
            <a:r>
              <a:rPr lang="en-US" dirty="0"/>
              <a:t>Value-Added Data</a:t>
            </a:r>
            <a:r>
              <a:rPr lang="ar-SA" dirty="0"/>
              <a:t>.</a:t>
            </a:r>
            <a:endParaRPr lang="en-US" dirty="0"/>
          </a:p>
          <a:p>
            <a:pPr algn="r" rtl="1"/>
            <a:r>
              <a:rPr lang="ar-SA" dirty="0"/>
              <a:t>ه- توفير الدعم لمديرين متعددين </a:t>
            </a:r>
            <a:r>
              <a:rPr lang="en-US" dirty="0"/>
              <a:t>Multiple Managers</a:t>
            </a:r>
            <a:r>
              <a:rPr lang="ar-SA" dirty="0"/>
              <a:t> .</a:t>
            </a:r>
            <a:endParaRPr lang="en-US" dirty="0"/>
          </a:p>
          <a:p>
            <a:pPr algn="r"/>
            <a:endParaRPr lang="en-US" dirty="0"/>
          </a:p>
        </p:txBody>
      </p:sp>
    </p:spTree>
    <p:extLst>
      <p:ext uri="{BB962C8B-B14F-4D97-AF65-F5344CB8AC3E}">
        <p14:creationId xmlns:p14="http://schemas.microsoft.com/office/powerpoint/2010/main" val="4178112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إجراء بعض العمليات دون الاعتماد على الاتصال بالشبكة</a:t>
            </a:r>
            <a:r>
              <a:rPr lang="ar-SA" dirty="0"/>
              <a:t> </a:t>
            </a:r>
            <a:r>
              <a:rPr lang="en-US" dirty="0"/>
              <a:t>Off-Line Operation </a:t>
            </a:r>
          </a:p>
          <a:p>
            <a:pPr algn="r" rtl="1"/>
            <a:r>
              <a:rPr lang="ar-SA" dirty="0"/>
              <a:t>يستطيع جهاز رصد الشبكة عن بعد توفير إجراءات بعض العمليات أثناء عدم الاتصال </a:t>
            </a:r>
            <a:r>
              <a:rPr lang="en-US" dirty="0"/>
              <a:t>Offline</a:t>
            </a:r>
            <a:r>
              <a:rPr lang="ar-SA" dirty="0"/>
              <a:t> بالشبكة. ويفيد هذا الهدف في الفترات التي عندها لا يمكن للجهاز أن يكون متصلاً بصفة مستمرة مع نظام إدارة الشبكة المركزي، حيث إنه في بعض الحالات لا يستطيع المجس الاتصال بمدير الشبكة المركزي، بسبب عطل في الشبكة، أو انقطاع </a:t>
            </a:r>
            <a:r>
              <a:rPr lang="en-US" dirty="0"/>
              <a:t>Outage</a:t>
            </a:r>
            <a:r>
              <a:rPr lang="ar-SA" dirty="0"/>
              <a:t> الشبكة. في حالات أخرى عندما يتم حساب تكاليف استخدام الشبكة؛ فإنه من المناسب أن يقوم مجس الرصد بالاتصال بالنظام المركزي، عندما يقع حادث حرج بالشبكة، وبذلك يتم توفير تكاليف الاتصال بالشبكة.</a:t>
            </a:r>
            <a:endParaRPr lang="en-US" dirty="0"/>
          </a:p>
          <a:p>
            <a:pPr algn="r"/>
            <a:endParaRPr lang="en-US" dirty="0"/>
          </a:p>
        </p:txBody>
      </p:sp>
    </p:spTree>
    <p:extLst>
      <p:ext uri="{BB962C8B-B14F-4D97-AF65-F5344CB8AC3E}">
        <p14:creationId xmlns:p14="http://schemas.microsoft.com/office/powerpoint/2010/main" val="136316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أخذ المبادرة بإجراء عملية الرصد</a:t>
            </a:r>
            <a:endParaRPr lang="en-US" dirty="0"/>
          </a:p>
          <a:p>
            <a:pPr algn="r" rtl="1"/>
            <a:r>
              <a:rPr lang="ar-SA" dirty="0"/>
              <a:t> </a:t>
            </a:r>
            <a:r>
              <a:rPr lang="en-US" dirty="0"/>
              <a:t>Preemptive Monitoring</a:t>
            </a:r>
            <a:r>
              <a:rPr lang="ar-SA" dirty="0"/>
              <a:t> </a:t>
            </a:r>
            <a:endParaRPr lang="en-US" dirty="0"/>
          </a:p>
          <a:p>
            <a:pPr algn="r" rtl="1"/>
            <a:r>
              <a:rPr lang="ar-SA" dirty="0"/>
              <a:t>يستطيع مجس الرصد المعاونة في المبادرة بإجراء عملية الرصد على قطاع الشبكة بواسطة استمرار رصد القطاع، وإخبار نظام الإدارة المركزي في حالة وجود عطل. يمكن ضبط مجس الرصد بإجراء تشخيص الأعطال بشكل مستمر ومراقبة أداء الشبكة. يمكن إرسال نتائج عمليات تشخيص الأعطال وتدوينها في سجل الأداء. عندما لا يوجد مشكلة، يمكن لمجس الرصد أن يوفر معلومات عن القطاع الشبكي قبل وبعد حدوث العطل</a:t>
            </a:r>
            <a:endParaRPr lang="en-US" dirty="0"/>
          </a:p>
        </p:txBody>
      </p:sp>
    </p:spTree>
    <p:extLst>
      <p:ext uri="{BB962C8B-B14F-4D97-AF65-F5344CB8AC3E}">
        <p14:creationId xmlns:p14="http://schemas.microsoft.com/office/powerpoint/2010/main" val="1841631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الكشف عن المشاكل وتدوينها</a:t>
            </a:r>
            <a:endParaRPr lang="en-US" dirty="0"/>
          </a:p>
          <a:p>
            <a:pPr algn="r" rtl="1"/>
            <a:r>
              <a:rPr lang="ar-SA" dirty="0"/>
              <a:t> </a:t>
            </a:r>
            <a:r>
              <a:rPr lang="en-US" dirty="0"/>
              <a:t>Problem Detection and Reporting</a:t>
            </a:r>
            <a:r>
              <a:rPr lang="ar-SA" dirty="0"/>
              <a:t> </a:t>
            </a:r>
            <a:endParaRPr lang="en-US" dirty="0"/>
          </a:p>
          <a:p>
            <a:pPr algn="r" rtl="1"/>
            <a:r>
              <a:rPr lang="ar-SA" dirty="0"/>
              <a:t>إن عملية الكشف عن المشكلة وتدوينها، يمكن أن يتحقق بواسطة قيام مدير الشبكة بتهيئة مجس الرصد بأن يتذكر شروطاً معينة في القطاع، ويشمل ذلك الأخطاء. عندما يتحقق هذا الشرط، يقوم مجس الرصد بتسجيله، وإخبار نظام إدارة الشبكة. تساعد الخاصية لجهاز الرصد عن بعد، في تقليل كمية حركة مرور الرسائل بين نظام إدارة الشبكة المركزي وأجهزة القطاع. بسبب أن مجس الرصد يقوم برصد القطاع؛ فليس من الضروري أن يقوم نظام إدارة الشبكة بالقيام برصده أيضا.</a:t>
            </a:r>
            <a:endParaRPr lang="en-US" dirty="0"/>
          </a:p>
          <a:p>
            <a:pPr algn="r"/>
            <a:endParaRPr lang="en-US" dirty="0"/>
          </a:p>
        </p:txBody>
      </p:sp>
    </p:spTree>
    <p:extLst>
      <p:ext uri="{BB962C8B-B14F-4D97-AF65-F5344CB8AC3E}">
        <p14:creationId xmlns:p14="http://schemas.microsoft.com/office/powerpoint/2010/main" val="336217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إتاحة بيانات القيمة المضافة </a:t>
            </a:r>
            <a:r>
              <a:rPr lang="en-US" dirty="0"/>
              <a:t>Value-Added Data</a:t>
            </a:r>
            <a:r>
              <a:rPr lang="ar-SA" dirty="0"/>
              <a:t> </a:t>
            </a:r>
            <a:endParaRPr lang="en-US" dirty="0"/>
          </a:p>
          <a:p>
            <a:pPr algn="r" rtl="1"/>
            <a:r>
              <a:rPr lang="ar-SA" dirty="0"/>
              <a:t>يمكن لمجس الرصد أن يوفر بيانات القيمة المضافة من أجل إدارة الشبكة. إن مجس الرصد هو جهاز يتم حجزه </a:t>
            </a:r>
            <a:r>
              <a:rPr lang="en-US" dirty="0"/>
              <a:t>Dedicated</a:t>
            </a:r>
            <a:r>
              <a:rPr lang="ar-SA" dirty="0"/>
              <a:t> لأجل الرصد، ومسموح له أن يقضي وقتا لتفسير </a:t>
            </a:r>
            <a:r>
              <a:rPr lang="en-US" dirty="0"/>
              <a:t>Interpreting</a:t>
            </a:r>
            <a:r>
              <a:rPr lang="ar-SA" dirty="0"/>
              <a:t> المعلومات حول القطاع الشبكي. على سبيل المثال، يستطيع مجس الرصد إيجاد قطاع الحواسيب المضيفة </a:t>
            </a:r>
            <a:r>
              <a:rPr lang="en-US" dirty="0"/>
              <a:t>Hosts</a:t>
            </a:r>
            <a:r>
              <a:rPr lang="ar-SA" dirty="0"/>
              <a:t> التي تولد معظم الأخطاء، أو معظم حركة الرسائل الإذاعية </a:t>
            </a:r>
            <a:r>
              <a:rPr lang="en-US" dirty="0"/>
              <a:t>Broadcast Traffic</a:t>
            </a:r>
            <a:r>
              <a:rPr lang="ar-SA" dirty="0"/>
              <a:t> . يستطيع المجس أيضا، تحديد الحواسيب المضيفة التي تقوم غالبا بإجراء عمليات الاتصال، ومتى تم ذلك. تكون هذه المعلومات ذات فائدة عظيمة في حل مشاكل الشبكة في القطاع. </a:t>
            </a:r>
            <a:endParaRPr lang="en-US" dirty="0"/>
          </a:p>
        </p:txBody>
      </p:sp>
    </p:spTree>
    <p:extLst>
      <p:ext uri="{BB962C8B-B14F-4D97-AF65-F5344CB8AC3E}">
        <p14:creationId xmlns:p14="http://schemas.microsoft.com/office/powerpoint/2010/main" val="213393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توفير الدعم لمدرين متعددين </a:t>
            </a:r>
            <a:r>
              <a:rPr lang="en-US" dirty="0"/>
              <a:t>Multiple Managers</a:t>
            </a:r>
            <a:r>
              <a:rPr lang="ar-SA" dirty="0"/>
              <a:t> </a:t>
            </a:r>
            <a:endParaRPr lang="en-US" dirty="0"/>
          </a:p>
          <a:p>
            <a:pPr algn="r" rtl="1"/>
            <a:r>
              <a:rPr lang="ar-SA" dirty="0"/>
              <a:t>الهدف الأخير لجهاز الرصد عن بعد، هو توفير الدعم اللازم للعديد من المديرين. يوجد الكثير من المؤسسات بها نظم إدارة شبكات متعددة، التي تحتاج أن تستفسر عن عمليات الشبكة. يستطيع مجس الرصد عن بعد، الاستجابة لكل مديرين هذه المؤسسات، وتوفير بيانات القيمة المضافة، أو كشف المشكلة </a:t>
            </a:r>
            <a:r>
              <a:rPr lang="en-US" dirty="0"/>
              <a:t>Problem Detection</a:t>
            </a:r>
            <a:r>
              <a:rPr lang="ar-SA" dirty="0"/>
              <a:t> لكل مدير على حدة. في معظم الحالات، سوف يتطلب ذلك من مجس الرصد، أن يخصص مصادر لإجراء عملية الاتصال، لكل مدير على حدة.</a:t>
            </a:r>
            <a:endParaRPr lang="en-US" dirty="0"/>
          </a:p>
        </p:txBody>
      </p:sp>
    </p:spTree>
    <p:extLst>
      <p:ext uri="{BB962C8B-B14F-4D97-AF65-F5344CB8AC3E}">
        <p14:creationId xmlns:p14="http://schemas.microsoft.com/office/powerpoint/2010/main" val="2767097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r-SA" dirty="0"/>
              <a:t>.</a:t>
            </a:r>
            <a:r>
              <a:rPr lang="ar-SA" b="1" dirty="0"/>
              <a:t> مجموعات عناصر قواعد المعلومات الإدارية  </a:t>
            </a:r>
            <a:r>
              <a:rPr lang="en-US" dirty="0"/>
              <a:t>RMON1, </a:t>
            </a:r>
            <a:r>
              <a:rPr lang="en-US" dirty="0" smtClean="0"/>
              <a:t>RMON2</a:t>
            </a:r>
            <a:endParaRPr lang="en-US" dirty="0"/>
          </a:p>
        </p:txBody>
      </p:sp>
      <p:sp>
        <p:nvSpPr>
          <p:cNvPr id="3" name="Content Placeholder 2"/>
          <p:cNvSpPr>
            <a:spLocks noGrp="1"/>
          </p:cNvSpPr>
          <p:nvPr>
            <p:ph idx="1"/>
          </p:nvPr>
        </p:nvSpPr>
        <p:spPr/>
        <p:txBody>
          <a:bodyPr/>
          <a:lstStyle/>
          <a:p>
            <a:pPr algn="r" rtl="1"/>
            <a:r>
              <a:rPr lang="ar-SA" dirty="0" smtClean="0"/>
              <a:t>تختص </a:t>
            </a:r>
            <a:r>
              <a:rPr lang="ar-SA" dirty="0"/>
              <a:t>قاعدة المعلومات الإدارية </a:t>
            </a:r>
            <a:r>
              <a:rPr lang="ar-SA" dirty="0" smtClean="0"/>
              <a:t>"</a:t>
            </a:r>
            <a:r>
              <a:rPr lang="en-US" dirty="0"/>
              <a:t> RMON1 </a:t>
            </a:r>
            <a:r>
              <a:rPr lang="ar-SA" dirty="0" smtClean="0"/>
              <a:t>" </a:t>
            </a:r>
            <a:r>
              <a:rPr lang="ar-SA" dirty="0"/>
              <a:t>بإدارة الشبكات المحلية، التي تتعامل فقط مع المستويين الأول والثاني في النظام المرجعي </a:t>
            </a:r>
            <a:r>
              <a:rPr lang="en-US" dirty="0"/>
              <a:t>OSI</a:t>
            </a:r>
            <a:r>
              <a:rPr lang="ar-SA" dirty="0"/>
              <a:t>، كما هو مبين في الشكل 6.5. وتختص قاعدة المعلومات الإدارية </a:t>
            </a:r>
            <a:r>
              <a:rPr lang="ar-SA" dirty="0" smtClean="0"/>
              <a:t>"</a:t>
            </a:r>
            <a:r>
              <a:rPr lang="en-US" dirty="0" smtClean="0"/>
              <a:t>RMON2</a:t>
            </a:r>
            <a:r>
              <a:rPr lang="ar-SA" dirty="0" smtClean="0"/>
              <a:t> </a:t>
            </a:r>
            <a:r>
              <a:rPr lang="ar-SA" dirty="0"/>
              <a:t>" بالتعامل مع إدارة المستويات العليا.</a:t>
            </a:r>
            <a:endParaRPr lang="en-US" dirty="0"/>
          </a:p>
          <a:p>
            <a:pPr algn="r"/>
            <a:endParaRPr lang="en-US" dirty="0"/>
          </a:p>
        </p:txBody>
      </p:sp>
    </p:spTree>
    <p:extLst>
      <p:ext uri="{BB962C8B-B14F-4D97-AF65-F5344CB8AC3E}">
        <p14:creationId xmlns:p14="http://schemas.microsoft.com/office/powerpoint/2010/main" val="1552315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endParaRPr lang="ar-SA" dirty="0" smtClean="0"/>
          </a:p>
          <a:p>
            <a:pPr algn="r" rtl="1"/>
            <a:endParaRPr lang="ar-SA" dirty="0"/>
          </a:p>
          <a:p>
            <a:pPr algn="r" rtl="1"/>
            <a:endParaRPr lang="ar-SA" dirty="0" smtClean="0"/>
          </a:p>
          <a:p>
            <a:pPr algn="r" rtl="1"/>
            <a:endParaRPr lang="ar-SA" dirty="0"/>
          </a:p>
          <a:p>
            <a:pPr algn="r" rtl="1"/>
            <a:r>
              <a:rPr lang="ar-SA" dirty="0"/>
              <a:t>يوضح الشكل6.6 قائمة مجموعة "رمون-1" ، و "رمون-2"، وموضعهما بالنسبة إلى مؤسسة المعايير الدولية </a:t>
            </a:r>
            <a:r>
              <a:rPr lang="en-US" dirty="0"/>
              <a:t>ISO</a:t>
            </a:r>
            <a:r>
              <a:rPr lang="ar-SA" dirty="0"/>
              <a:t>، و معايير </a:t>
            </a:r>
            <a:r>
              <a:rPr lang="en-US" dirty="0"/>
              <a:t>IETF</a:t>
            </a:r>
            <a:r>
              <a:rPr lang="ar-SA" dirty="0"/>
              <a:t>. وهما يحتويان على تسع عشرة مجموعة، مبينة أسماؤهم في الشكل6.6، </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093" y="533400"/>
            <a:ext cx="6649814" cy="304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1966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551" y="1982607"/>
            <a:ext cx="8229600" cy="4389120"/>
          </a:xfrm>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533400"/>
            <a:ext cx="7772399"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675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بعض مشاكل البروتوكول </a:t>
            </a:r>
            <a:r>
              <a:rPr lang="ar-SA" b="1" dirty="0" smtClean="0"/>
              <a:t>“</a:t>
            </a:r>
            <a:r>
              <a:rPr lang="en-US" b="1" dirty="0" smtClean="0"/>
              <a:t>SNMPv1</a:t>
            </a:r>
            <a:r>
              <a:rPr lang="ar-SA" b="1" dirty="0" smtClean="0"/>
              <a:t>" </a:t>
            </a:r>
            <a:endParaRPr lang="en-US" dirty="0"/>
          </a:p>
        </p:txBody>
      </p:sp>
      <p:sp>
        <p:nvSpPr>
          <p:cNvPr id="3" name="Content Placeholder 2"/>
          <p:cNvSpPr>
            <a:spLocks noGrp="1"/>
          </p:cNvSpPr>
          <p:nvPr>
            <p:ph idx="1"/>
          </p:nvPr>
        </p:nvSpPr>
        <p:spPr/>
        <p:txBody>
          <a:bodyPr/>
          <a:lstStyle/>
          <a:p>
            <a:pPr marL="0" indent="0" algn="r" rtl="1">
              <a:buNone/>
            </a:pPr>
            <a:endParaRPr lang="en-US" dirty="0"/>
          </a:p>
          <a:p>
            <a:pPr algn="r" rtl="1"/>
            <a:r>
              <a:rPr lang="ar-SA" dirty="0"/>
              <a:t>على الرغم من كفاءة البروتوكول </a:t>
            </a:r>
            <a:r>
              <a:rPr lang="ar-SA" dirty="0" smtClean="0"/>
              <a:t>"</a:t>
            </a:r>
            <a:r>
              <a:rPr lang="en-US" b="1" dirty="0"/>
              <a:t> SNMPv1 </a:t>
            </a:r>
            <a:r>
              <a:rPr lang="ar-SA" dirty="0" smtClean="0"/>
              <a:t>" </a:t>
            </a:r>
            <a:r>
              <a:rPr lang="ar-SA" dirty="0"/>
              <a:t>في 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a:p>
            <a:pPr algn="r"/>
            <a:endParaRPr lang="en-US" dirty="0"/>
          </a:p>
        </p:txBody>
      </p:sp>
      <p:pic>
        <p:nvPicPr>
          <p:cNvPr id="4" name="Picture 4" descr="C:\Users\mawada\Downloads\2.png"/>
          <p:cNvPicPr>
            <a:picLocks noChangeAspect="1" noChangeArrowheads="1"/>
          </p:cNvPicPr>
          <p:nvPr/>
        </p:nvPicPr>
        <p:blipFill>
          <a:blip r:embed="rId2"/>
          <a:srcRect/>
          <a:stretch>
            <a:fillRect/>
          </a:stretch>
        </p:blipFill>
        <p:spPr bwMode="auto">
          <a:xfrm>
            <a:off x="0" y="0"/>
            <a:ext cx="9144000" cy="6324600"/>
          </a:xfrm>
          <a:prstGeom prst="rect">
            <a:avLst/>
          </a:prstGeom>
          <a:noFill/>
        </p:spPr>
      </p:pic>
    </p:spTree>
    <p:extLst>
      <p:ext uri="{BB962C8B-B14F-4D97-AF65-F5344CB8AC3E}">
        <p14:creationId xmlns:p14="http://schemas.microsoft.com/office/powerpoint/2010/main" val="29208225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24733</TotalTime>
  <Words>1220</Words>
  <Application>Microsoft Office PowerPoint</Application>
  <PresentationFormat>On-screen Show (4:3)</PresentationFormat>
  <Paragraphs>59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Simplified Arabic</vt:lpstr>
      <vt:lpstr>Times New Roman</vt:lpstr>
      <vt:lpstr>Wingdings 2</vt:lpstr>
      <vt:lpstr>Flow</vt:lpstr>
      <vt:lpstr>إدارة وإستخدام الشبكات </vt:lpstr>
      <vt:lpstr>. أجهزة رصد الشبكة عن بعد</vt:lpstr>
      <vt:lpstr>PowerPoint Presentation</vt:lpstr>
      <vt:lpstr>PowerPoint Presentation</vt:lpstr>
      <vt:lpstr>PowerPoint Presentation</vt:lpstr>
      <vt:lpstr>PowerPoint Presentation</vt:lpstr>
      <vt:lpstr>PowerPoint Presentation</vt:lpstr>
      <vt:lpstr>1 مجس الرصد غير المحجوز Non Dedicated </vt:lpstr>
      <vt:lpstr>PowerPoint Presentation</vt:lpstr>
      <vt:lpstr>PowerPoint Presentation</vt:lpstr>
      <vt:lpstr>PowerPoint Presentation</vt:lpstr>
      <vt:lpstr>.  أهداف قاعدة المعلومات الإدارية للرصد عن بعد</vt:lpstr>
      <vt:lpstr>PowerPoint Presentation</vt:lpstr>
      <vt:lpstr>PowerPoint Presentation</vt:lpstr>
      <vt:lpstr>PowerPoint Presentation</vt:lpstr>
      <vt:lpstr>PowerPoint Presentation</vt:lpstr>
      <vt:lpstr>PowerPoint Presentation</vt:lpstr>
      <vt:lpstr>. مجموعات عناصر قواعد المعلومات الإدارية  RMON1, RMON2</vt:lpstr>
      <vt:lpstr>PowerPoint Presentation</vt:lpstr>
      <vt:lpstr>PowerPoint Presentation</vt:lpstr>
      <vt:lpstr> بعض مشاكل البروتوكول “SNMPv1"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mawadaadam@gmail.com</dc:creator>
  <cp:lastModifiedBy>hp</cp:lastModifiedBy>
  <cp:revision>75</cp:revision>
  <dcterms:created xsi:type="dcterms:W3CDTF">2022-06-25T16:03:02Z</dcterms:created>
  <dcterms:modified xsi:type="dcterms:W3CDTF">2024-05-28T12:47:43Z</dcterms:modified>
</cp:coreProperties>
</file>