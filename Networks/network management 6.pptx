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838" r:id="rId1"/>
  </p:sldMasterIdLst>
  <p:sldIdLst>
    <p:sldId id="256" r:id="rId2"/>
    <p:sldId id="331" r:id="rId3"/>
    <p:sldId id="312" r:id="rId4"/>
    <p:sldId id="313" r:id="rId5"/>
    <p:sldId id="314" r:id="rId6"/>
    <p:sldId id="315" r:id="rId7"/>
    <p:sldId id="316" r:id="rId8"/>
    <p:sldId id="317" r:id="rId9"/>
    <p:sldId id="318" r:id="rId10"/>
    <p:sldId id="319" r:id="rId11"/>
    <p:sldId id="320" r:id="rId12"/>
    <p:sldId id="321" r:id="rId13"/>
    <p:sldId id="322" r:id="rId14"/>
    <p:sldId id="323" r:id="rId15"/>
    <p:sldId id="324" r:id="rId16"/>
    <p:sldId id="325" r:id="rId17"/>
    <p:sldId id="326" r:id="rId18"/>
    <p:sldId id="327" r:id="rId19"/>
    <p:sldId id="328" r:id="rId20"/>
    <p:sldId id="329" r:id="rId21"/>
    <p:sldId id="330" r:id="rId22"/>
    <p:sldId id="291"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69" d="100"/>
          <a:sy n="69" d="100"/>
        </p:scale>
        <p:origin x="14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A3598E33-A2AB-4C76-A064-386F6B304DF9}" type="datetimeFigureOut">
              <a:rPr lang="en-US" smtClean="0"/>
              <a:t>5/14/2024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4B053F1B-4C28-4940-9DBE-82A684CF08F7}"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3598E33-A2AB-4C76-A064-386F6B304DF9}" type="datetimeFigureOut">
              <a:rPr lang="en-US" smtClean="0"/>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3598E33-A2AB-4C76-A064-386F6B304DF9}" type="datetimeFigureOut">
              <a:rPr lang="en-US" smtClean="0"/>
              <a:t>5/14/2024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3598E33-A2AB-4C76-A064-386F6B304DF9}" type="datetimeFigureOut">
              <a:rPr lang="en-US" smtClean="0"/>
              <a:t>5/14/2024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3598E33-A2AB-4C76-A064-386F6B304DF9}" type="datetimeFigureOut">
              <a:rPr lang="en-US" smtClean="0"/>
              <a:t>5/14/2024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598E33-A2AB-4C76-A064-386F6B304DF9}" type="datetimeFigureOut">
              <a:rPr lang="en-US" smtClean="0"/>
              <a:t>5/14/2024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3598E33-A2AB-4C76-A064-386F6B304DF9}" type="datetimeFigureOut">
              <a:rPr lang="en-US" smtClean="0"/>
              <a:t>5/14/2024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3598E33-A2AB-4C76-A064-386F6B304DF9}" type="datetimeFigureOut">
              <a:rPr lang="en-US" smtClean="0"/>
              <a:t>5/14/2024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4B053F1B-4C28-4940-9DBE-82A684CF08F7}"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3598E33-A2AB-4C76-A064-386F6B304DF9}" type="datetimeFigureOut">
              <a:rPr lang="en-US" smtClean="0"/>
              <a:t>5/14/2024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B053F1B-4C28-4940-9DBE-82A684CF08F7}"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ar-SA" dirty="0" smtClean="0"/>
              <a:t>إدارة وإستخدام الشبكات </a:t>
            </a:r>
            <a:endParaRPr lang="en-US" dirty="0"/>
          </a:p>
        </p:txBody>
      </p:sp>
      <p:sp>
        <p:nvSpPr>
          <p:cNvPr id="3" name="Subtitle 2"/>
          <p:cNvSpPr>
            <a:spLocks noGrp="1"/>
          </p:cNvSpPr>
          <p:nvPr>
            <p:ph type="subTitle" idx="1"/>
          </p:nvPr>
        </p:nvSpPr>
        <p:spPr>
          <a:xfrm>
            <a:off x="457200" y="3733800"/>
            <a:ext cx="7854696" cy="2590800"/>
          </a:xfrm>
        </p:spPr>
        <p:txBody>
          <a:bodyPr>
            <a:normAutofit/>
          </a:bodyPr>
          <a:lstStyle/>
          <a:p>
            <a:pPr algn="ctr" rtl="1"/>
            <a:r>
              <a:rPr lang="ar-SA" b="1" dirty="0"/>
              <a:t>بروتوكول </a:t>
            </a:r>
            <a:r>
              <a:rPr lang="en-US" b="1" dirty="0" smtClean="0"/>
              <a:t>CMIP</a:t>
            </a:r>
            <a:endParaRPr lang="en-US" dirty="0" smtClean="0"/>
          </a:p>
          <a:p>
            <a:pPr algn="ctr" rtl="1"/>
            <a:r>
              <a:rPr lang="ar-SA" dirty="0" smtClean="0"/>
              <a:t>محاضرة رقم (</a:t>
            </a:r>
            <a:r>
              <a:rPr lang="en-US" dirty="0" smtClean="0"/>
              <a:t>6</a:t>
            </a:r>
            <a:r>
              <a:rPr lang="ar-SA" dirty="0" smtClean="0"/>
              <a:t>)</a:t>
            </a:r>
          </a:p>
          <a:p>
            <a:pPr algn="ctr" rtl="1"/>
            <a:endParaRPr lang="ar-SA" dirty="0" smtClean="0"/>
          </a:p>
          <a:p>
            <a:pPr algn="ctr" rtl="1"/>
            <a:r>
              <a:rPr lang="ar-SA" dirty="0" smtClean="0"/>
              <a:t>					اعداد :</a:t>
            </a:r>
          </a:p>
          <a:p>
            <a:pPr algn="l" rtl="1"/>
            <a:r>
              <a:rPr lang="ar-SA" dirty="0" smtClean="0"/>
              <a:t>أ . مودة ادم محمد</a:t>
            </a:r>
            <a:endParaRPr lang="en-US" dirty="0"/>
          </a:p>
        </p:txBody>
      </p:sp>
    </p:spTree>
    <p:extLst>
      <p:ext uri="{BB962C8B-B14F-4D97-AF65-F5344CB8AC3E}">
        <p14:creationId xmlns:p14="http://schemas.microsoft.com/office/powerpoint/2010/main" val="30192309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ar-SA" dirty="0" smtClean="0"/>
              <a:t>أهداف الوحدة :-</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1805065695"/>
              </p:ext>
            </p:extLst>
          </p:nvPr>
        </p:nvGraphicFramePr>
        <p:xfrm>
          <a:off x="1219200" y="1847088"/>
          <a:ext cx="6781800" cy="4629912"/>
        </p:xfrm>
        <a:graphic>
          <a:graphicData uri="http://schemas.openxmlformats.org/drawingml/2006/table">
            <a:tbl>
              <a:tblPr rtl="1" firstRow="1" firstCol="1" lastRow="1" lastCol="1" bandRow="1" bandCol="1">
                <a:tableStyleId>{69C7853C-536D-4A76-A0AE-DD22124D55A5}</a:tableStyleId>
              </a:tblPr>
              <a:tblGrid>
                <a:gridCol w="6781800">
                  <a:extLst>
                    <a:ext uri="{9D8B030D-6E8A-4147-A177-3AD203B41FA5}">
                      <a16:colId xmlns:a16="http://schemas.microsoft.com/office/drawing/2014/main" val="291402902"/>
                    </a:ext>
                  </a:extLst>
                </a:gridCol>
              </a:tblGrid>
              <a:tr h="578739">
                <a:tc>
                  <a:txBody>
                    <a:bodyPr/>
                    <a:lstStyle/>
                    <a:p>
                      <a:pPr marL="0" marR="0" algn="r" rtl="1">
                        <a:spcBef>
                          <a:spcPts val="0"/>
                        </a:spcBef>
                        <a:spcAft>
                          <a:spcPts val="0"/>
                        </a:spcAft>
                      </a:pPr>
                      <a:r>
                        <a:rPr lang="ar-SA" sz="2000">
                          <a:effectLst/>
                        </a:rPr>
                        <a:t>4. المرافقات الإدارية و قوائم الدخول </a:t>
                      </a:r>
                      <a:endParaRPr lang="en-US" sz="2000">
                        <a:solidFill>
                          <a:srgbClr val="000000"/>
                        </a:solidFill>
                        <a:effectLst/>
                        <a:latin typeface="Times New Roman" panose="02020603050405020304" pitchFamily="18" charset="0"/>
                        <a:ea typeface="Times New Roman" panose="02020603050405020304" pitchFamily="18" charset="0"/>
                        <a:cs typeface="Simplified Arabic" panose="02020603050405020304" pitchFamily="18" charset="-78"/>
                      </a:endParaRPr>
                    </a:p>
                  </a:txBody>
                  <a:tcPr marL="68580" marR="68580" marT="0" marB="0"/>
                </a:tc>
                <a:extLst>
                  <a:ext uri="{0D108BD9-81ED-4DB2-BD59-A6C34878D82A}">
                    <a16:rowId xmlns:a16="http://schemas.microsoft.com/office/drawing/2014/main" val="2930460382"/>
                  </a:ext>
                </a:extLst>
              </a:tr>
              <a:tr h="578739">
                <a:tc>
                  <a:txBody>
                    <a:bodyPr/>
                    <a:lstStyle/>
                    <a:p>
                      <a:pPr marL="0" marR="0" indent="82550" algn="r" rtl="1">
                        <a:spcBef>
                          <a:spcPts val="0"/>
                        </a:spcBef>
                        <a:spcAft>
                          <a:spcPts val="0"/>
                        </a:spcAft>
                      </a:pPr>
                      <a:r>
                        <a:rPr lang="ar-SA" sz="2000">
                          <a:effectLst/>
                        </a:rPr>
                        <a:t>1.4 المرافقات الإدارية </a:t>
                      </a:r>
                      <a:r>
                        <a:rPr lang="en-US" sz="2000">
                          <a:effectLst/>
                        </a:rPr>
                        <a:t>Management Associations</a:t>
                      </a:r>
                      <a:endParaRPr lang="en-US" sz="2000">
                        <a:solidFill>
                          <a:srgbClr val="000000"/>
                        </a:solidFill>
                        <a:effectLst/>
                        <a:latin typeface="Times New Roman" panose="02020603050405020304" pitchFamily="18" charset="0"/>
                        <a:ea typeface="Times New Roman" panose="02020603050405020304" pitchFamily="18" charset="0"/>
                        <a:cs typeface="Simplified Arabic" panose="02020603050405020304" pitchFamily="18" charset="-78"/>
                      </a:endParaRPr>
                    </a:p>
                  </a:txBody>
                  <a:tcPr marL="68580" marR="68580" marT="0" marB="0"/>
                </a:tc>
                <a:extLst>
                  <a:ext uri="{0D108BD9-81ED-4DB2-BD59-A6C34878D82A}">
                    <a16:rowId xmlns:a16="http://schemas.microsoft.com/office/drawing/2014/main" val="3790469775"/>
                  </a:ext>
                </a:extLst>
              </a:tr>
              <a:tr h="578739">
                <a:tc>
                  <a:txBody>
                    <a:bodyPr/>
                    <a:lstStyle/>
                    <a:p>
                      <a:pPr marL="0" marR="0" algn="r" rtl="1">
                        <a:spcBef>
                          <a:spcPts val="0"/>
                        </a:spcBef>
                        <a:spcAft>
                          <a:spcPts val="0"/>
                        </a:spcAft>
                      </a:pPr>
                      <a:r>
                        <a:rPr lang="ar-SA" sz="2000" dirty="0">
                          <a:effectLst/>
                        </a:rPr>
                        <a:t>  2.4  قوائم الدخول </a:t>
                      </a:r>
                      <a:r>
                        <a:rPr lang="en-US" sz="2000" dirty="0">
                          <a:effectLst/>
                        </a:rPr>
                        <a:t>Access Lists</a:t>
                      </a:r>
                      <a:endParaRPr lang="en-US" sz="2000" dirty="0">
                        <a:solidFill>
                          <a:srgbClr val="000000"/>
                        </a:solidFill>
                        <a:effectLst/>
                        <a:latin typeface="Times New Roman" panose="02020603050405020304" pitchFamily="18" charset="0"/>
                        <a:ea typeface="Times New Roman" panose="02020603050405020304" pitchFamily="18" charset="0"/>
                        <a:cs typeface="Simplified Arabic" panose="02020603050405020304" pitchFamily="18" charset="-78"/>
                      </a:endParaRPr>
                    </a:p>
                  </a:txBody>
                  <a:tcPr marL="68580" marR="68580" marT="0" marB="0"/>
                </a:tc>
                <a:extLst>
                  <a:ext uri="{0D108BD9-81ED-4DB2-BD59-A6C34878D82A}">
                    <a16:rowId xmlns:a16="http://schemas.microsoft.com/office/drawing/2014/main" val="1382939417"/>
                  </a:ext>
                </a:extLst>
              </a:tr>
              <a:tr h="578739">
                <a:tc>
                  <a:txBody>
                    <a:bodyPr/>
                    <a:lstStyle/>
                    <a:p>
                      <a:pPr marL="0" marR="0" algn="r" rtl="1">
                        <a:spcBef>
                          <a:spcPts val="0"/>
                        </a:spcBef>
                        <a:spcAft>
                          <a:spcPts val="0"/>
                        </a:spcAft>
                      </a:pPr>
                      <a:r>
                        <a:rPr lang="ar-SA" sz="2000">
                          <a:effectLst/>
                        </a:rPr>
                        <a:t>5.  بروتوكول </a:t>
                      </a:r>
                      <a:r>
                        <a:rPr lang="en-US" sz="2000">
                          <a:effectLst/>
                        </a:rPr>
                        <a:t>CMIP</a:t>
                      </a:r>
                      <a:endParaRPr lang="en-US" sz="2000">
                        <a:solidFill>
                          <a:srgbClr val="000000"/>
                        </a:solidFill>
                        <a:effectLst/>
                        <a:latin typeface="Times New Roman" panose="02020603050405020304" pitchFamily="18" charset="0"/>
                        <a:ea typeface="Times New Roman" panose="02020603050405020304" pitchFamily="18" charset="0"/>
                        <a:cs typeface="Simplified Arabic" panose="02020603050405020304" pitchFamily="18" charset="-78"/>
                      </a:endParaRPr>
                    </a:p>
                  </a:txBody>
                  <a:tcPr marL="68580" marR="68580" marT="0" marB="0"/>
                </a:tc>
                <a:extLst>
                  <a:ext uri="{0D108BD9-81ED-4DB2-BD59-A6C34878D82A}">
                    <a16:rowId xmlns:a16="http://schemas.microsoft.com/office/drawing/2014/main" val="2244110130"/>
                  </a:ext>
                </a:extLst>
              </a:tr>
              <a:tr h="578739">
                <a:tc>
                  <a:txBody>
                    <a:bodyPr/>
                    <a:lstStyle/>
                    <a:p>
                      <a:pPr marL="0" marR="0" algn="r" rtl="1">
                        <a:spcBef>
                          <a:spcPts val="0"/>
                        </a:spcBef>
                        <a:spcAft>
                          <a:spcPts val="0"/>
                        </a:spcAft>
                      </a:pPr>
                      <a:r>
                        <a:rPr lang="ar-SA" sz="2000">
                          <a:effectLst/>
                        </a:rPr>
                        <a:t>  1.5  مشاكل بروتوكول </a:t>
                      </a:r>
                      <a:r>
                        <a:rPr lang="en-US" sz="2000">
                          <a:effectLst/>
                        </a:rPr>
                        <a:t>CMIS/CMIP</a:t>
                      </a:r>
                      <a:endParaRPr lang="en-US" sz="2000">
                        <a:solidFill>
                          <a:srgbClr val="000000"/>
                        </a:solidFill>
                        <a:effectLst/>
                        <a:latin typeface="Times New Roman" panose="02020603050405020304" pitchFamily="18" charset="0"/>
                        <a:ea typeface="Times New Roman" panose="02020603050405020304" pitchFamily="18" charset="0"/>
                        <a:cs typeface="Simplified Arabic" panose="02020603050405020304" pitchFamily="18" charset="-78"/>
                      </a:endParaRPr>
                    </a:p>
                  </a:txBody>
                  <a:tcPr marL="68580" marR="68580" marT="0" marB="0"/>
                </a:tc>
                <a:extLst>
                  <a:ext uri="{0D108BD9-81ED-4DB2-BD59-A6C34878D82A}">
                    <a16:rowId xmlns:a16="http://schemas.microsoft.com/office/drawing/2014/main" val="307215242"/>
                  </a:ext>
                </a:extLst>
              </a:tr>
              <a:tr h="578739">
                <a:tc>
                  <a:txBody>
                    <a:bodyPr/>
                    <a:lstStyle/>
                    <a:p>
                      <a:pPr marL="0" marR="0" algn="r" rtl="1">
                        <a:spcBef>
                          <a:spcPts val="0"/>
                        </a:spcBef>
                        <a:spcAft>
                          <a:spcPts val="0"/>
                        </a:spcAft>
                      </a:pPr>
                      <a:r>
                        <a:rPr lang="ar-SA" sz="2000">
                          <a:effectLst/>
                        </a:rPr>
                        <a:t>6. بروتوكول "</a:t>
                      </a:r>
                      <a:r>
                        <a:rPr lang="en-US" sz="2000">
                          <a:effectLst/>
                        </a:rPr>
                        <a:t>CMOT</a:t>
                      </a:r>
                      <a:r>
                        <a:rPr lang="ar-SA" sz="2000">
                          <a:effectLst/>
                        </a:rPr>
                        <a:t>"  و بروتوكول "</a:t>
                      </a:r>
                      <a:r>
                        <a:rPr lang="en-US" sz="2000">
                          <a:effectLst/>
                        </a:rPr>
                        <a:t>LMMP</a:t>
                      </a:r>
                      <a:r>
                        <a:rPr lang="ar-SA" sz="2000">
                          <a:effectLst/>
                        </a:rPr>
                        <a:t>"</a:t>
                      </a:r>
                      <a:endParaRPr lang="en-US" sz="2000">
                        <a:solidFill>
                          <a:srgbClr val="000000"/>
                        </a:solidFill>
                        <a:effectLst/>
                        <a:latin typeface="Times New Roman" panose="02020603050405020304" pitchFamily="18" charset="0"/>
                        <a:ea typeface="Times New Roman" panose="02020603050405020304" pitchFamily="18" charset="0"/>
                        <a:cs typeface="Simplified Arabic" panose="02020603050405020304" pitchFamily="18" charset="-78"/>
                      </a:endParaRPr>
                    </a:p>
                  </a:txBody>
                  <a:tcPr marL="68580" marR="68580" marT="0" marB="0"/>
                </a:tc>
                <a:extLst>
                  <a:ext uri="{0D108BD9-81ED-4DB2-BD59-A6C34878D82A}">
                    <a16:rowId xmlns:a16="http://schemas.microsoft.com/office/drawing/2014/main" val="2670101051"/>
                  </a:ext>
                </a:extLst>
              </a:tr>
              <a:tr h="578739">
                <a:tc>
                  <a:txBody>
                    <a:bodyPr/>
                    <a:lstStyle/>
                    <a:p>
                      <a:pPr marL="0" marR="0" algn="r" rtl="1">
                        <a:spcBef>
                          <a:spcPts val="0"/>
                        </a:spcBef>
                        <a:spcAft>
                          <a:spcPts val="0"/>
                        </a:spcAft>
                      </a:pPr>
                      <a:r>
                        <a:rPr lang="ar-SA" sz="2000">
                          <a:effectLst/>
                        </a:rPr>
                        <a:t>  1.6  بروتوكول </a:t>
                      </a:r>
                      <a:r>
                        <a:rPr lang="en-US" sz="2000">
                          <a:effectLst/>
                        </a:rPr>
                        <a:t>CMOT</a:t>
                      </a:r>
                      <a:endParaRPr lang="en-US" sz="2000">
                        <a:solidFill>
                          <a:srgbClr val="000000"/>
                        </a:solidFill>
                        <a:effectLst/>
                        <a:latin typeface="Times New Roman" panose="02020603050405020304" pitchFamily="18" charset="0"/>
                        <a:ea typeface="Times New Roman" panose="02020603050405020304" pitchFamily="18" charset="0"/>
                        <a:cs typeface="Simplified Arabic" panose="02020603050405020304" pitchFamily="18" charset="-78"/>
                      </a:endParaRPr>
                    </a:p>
                  </a:txBody>
                  <a:tcPr marL="68580" marR="68580" marT="0" marB="0"/>
                </a:tc>
                <a:extLst>
                  <a:ext uri="{0D108BD9-81ED-4DB2-BD59-A6C34878D82A}">
                    <a16:rowId xmlns:a16="http://schemas.microsoft.com/office/drawing/2014/main" val="3488025071"/>
                  </a:ext>
                </a:extLst>
              </a:tr>
              <a:tr h="578739">
                <a:tc>
                  <a:txBody>
                    <a:bodyPr/>
                    <a:lstStyle/>
                    <a:p>
                      <a:pPr marL="0" marR="0" algn="r" rtl="1">
                        <a:spcBef>
                          <a:spcPts val="0"/>
                        </a:spcBef>
                        <a:spcAft>
                          <a:spcPts val="0"/>
                        </a:spcAft>
                      </a:pPr>
                      <a:r>
                        <a:rPr lang="ar-SA" sz="2000" dirty="0">
                          <a:effectLst/>
                        </a:rPr>
                        <a:t>  2.6  بروتوكول </a:t>
                      </a:r>
                      <a:r>
                        <a:rPr lang="en-US" sz="2000" dirty="0">
                          <a:effectLst/>
                        </a:rPr>
                        <a:t>LMMP</a:t>
                      </a:r>
                      <a:endParaRPr lang="en-US" sz="2000" dirty="0">
                        <a:solidFill>
                          <a:srgbClr val="000000"/>
                        </a:solidFill>
                        <a:effectLst/>
                        <a:latin typeface="Times New Roman" panose="02020603050405020304" pitchFamily="18" charset="0"/>
                        <a:ea typeface="Times New Roman" panose="02020603050405020304" pitchFamily="18" charset="0"/>
                        <a:cs typeface="Simplified Arabic" panose="02020603050405020304" pitchFamily="18" charset="-78"/>
                      </a:endParaRPr>
                    </a:p>
                  </a:txBody>
                  <a:tcPr marL="68580" marR="68580" marT="0" marB="0"/>
                </a:tc>
                <a:extLst>
                  <a:ext uri="{0D108BD9-81ED-4DB2-BD59-A6C34878D82A}">
                    <a16:rowId xmlns:a16="http://schemas.microsoft.com/office/drawing/2014/main" val="643657337"/>
                  </a:ext>
                </a:extLst>
              </a:tr>
            </a:tbl>
          </a:graphicData>
        </a:graphic>
      </p:graphicFrame>
    </p:spTree>
    <p:extLst>
      <p:ext uri="{BB962C8B-B14F-4D97-AF65-F5344CB8AC3E}">
        <p14:creationId xmlns:p14="http://schemas.microsoft.com/office/powerpoint/2010/main" val="1086052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smtClean="0"/>
              <a:t>المرافقات </a:t>
            </a:r>
            <a:r>
              <a:rPr lang="ar-SA" b="1" dirty="0"/>
              <a:t>الإدارية </a:t>
            </a:r>
            <a:r>
              <a:rPr lang="en-US" dirty="0"/>
              <a:t>Management Associations</a:t>
            </a:r>
            <a:r>
              <a:rPr lang="ar-SA" b="1" dirty="0"/>
              <a:t> </a:t>
            </a:r>
            <a:endParaRPr lang="en-US" dirty="0"/>
          </a:p>
        </p:txBody>
      </p:sp>
      <p:sp>
        <p:nvSpPr>
          <p:cNvPr id="3" name="Content Placeholder 2"/>
          <p:cNvSpPr>
            <a:spLocks noGrp="1"/>
          </p:cNvSpPr>
          <p:nvPr>
            <p:ph idx="1"/>
          </p:nvPr>
        </p:nvSpPr>
        <p:spPr/>
        <p:txBody>
          <a:bodyPr>
            <a:normAutofit/>
          </a:bodyPr>
          <a:lstStyle/>
          <a:p>
            <a:pPr algn="r" rtl="1"/>
            <a:r>
              <a:rPr lang="ar-SA" dirty="0" smtClean="0"/>
              <a:t>المرافق </a:t>
            </a:r>
            <a:r>
              <a:rPr lang="ar-SA" dirty="0"/>
              <a:t>الإداري هو اتصال </a:t>
            </a:r>
            <a:r>
              <a:rPr lang="en-US" dirty="0"/>
              <a:t>Connection </a:t>
            </a:r>
            <a:r>
              <a:rPr lang="ar-SA" dirty="0"/>
              <a:t> بين النظم المفتوحة ونظائرها لإدارة النظم في الشبكة. تعتمد عملية الاتصال على العنصر البروتوكولي </a:t>
            </a:r>
            <a:r>
              <a:rPr lang="en-US" dirty="0"/>
              <a:t>CMISE</a:t>
            </a:r>
            <a:r>
              <a:rPr lang="ar-SA" dirty="0"/>
              <a:t> لمواجهته مع البروتوكولات الأخرى في </a:t>
            </a:r>
            <a:r>
              <a:rPr lang="ar-SA" dirty="0" smtClean="0"/>
              <a:t>مكدس </a:t>
            </a:r>
            <a:r>
              <a:rPr lang="en-US" dirty="0"/>
              <a:t>Stack</a:t>
            </a:r>
            <a:r>
              <a:rPr lang="ar-SA" dirty="0"/>
              <a:t> بروتوكول </a:t>
            </a:r>
            <a:r>
              <a:rPr lang="en-US" dirty="0"/>
              <a:t>OSI</a:t>
            </a:r>
            <a:r>
              <a:rPr lang="ar-SA" dirty="0"/>
              <a:t> . ويوجد أربعة أنواع ممكنة من المرافقات الإدارية عند تحقيق الاتصال بين النظم المفتوحة وهي كما يلي:</a:t>
            </a:r>
            <a:endParaRPr lang="en-US" dirty="0"/>
          </a:p>
          <a:p>
            <a:pPr algn="r" rtl="1"/>
            <a:r>
              <a:rPr lang="ar-SA" dirty="0"/>
              <a:t>أ- الحدث   </a:t>
            </a:r>
            <a:r>
              <a:rPr lang="en-US" dirty="0"/>
              <a:t>Event</a:t>
            </a:r>
            <a:r>
              <a:rPr lang="ar-SA" dirty="0"/>
              <a:t>.</a:t>
            </a:r>
            <a:endParaRPr lang="en-US" dirty="0"/>
          </a:p>
          <a:p>
            <a:pPr algn="r" rtl="1"/>
            <a:r>
              <a:rPr lang="ar-SA" dirty="0"/>
              <a:t>ب- رصد/الحدث</a:t>
            </a:r>
            <a:r>
              <a:rPr lang="en-US" dirty="0"/>
              <a:t>   Event/Monitor</a:t>
            </a:r>
            <a:r>
              <a:rPr lang="ar-SA" dirty="0"/>
              <a:t>.    </a:t>
            </a:r>
            <a:endParaRPr lang="en-US" dirty="0"/>
          </a:p>
          <a:p>
            <a:pPr algn="r" rtl="1"/>
            <a:r>
              <a:rPr lang="ar-SA" dirty="0"/>
              <a:t>ج- تحكم/الرصد   </a:t>
            </a:r>
            <a:r>
              <a:rPr lang="en-US" dirty="0"/>
              <a:t>Monitor/control</a:t>
            </a:r>
            <a:r>
              <a:rPr lang="ar-SA" dirty="0"/>
              <a:t>.</a:t>
            </a:r>
            <a:endParaRPr lang="en-US" dirty="0"/>
          </a:p>
          <a:p>
            <a:pPr algn="r" rtl="1"/>
            <a:r>
              <a:rPr lang="ar-SA" dirty="0"/>
              <a:t>د- الوكيل/المدير الرسمي   </a:t>
            </a:r>
            <a:r>
              <a:rPr lang="en-US" dirty="0"/>
              <a:t>Full Manager/Agent</a:t>
            </a:r>
            <a:r>
              <a:rPr lang="ar-SA" dirty="0"/>
              <a:t>.      </a:t>
            </a:r>
            <a:endParaRPr lang="en-US" dirty="0"/>
          </a:p>
          <a:p>
            <a:pPr algn="r"/>
            <a:endParaRPr lang="en-US" dirty="0"/>
          </a:p>
        </p:txBody>
      </p:sp>
    </p:spTree>
    <p:extLst>
      <p:ext uri="{BB962C8B-B14F-4D97-AF65-F5344CB8AC3E}">
        <p14:creationId xmlns:p14="http://schemas.microsoft.com/office/powerpoint/2010/main" val="30150707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b="1" u="sng" dirty="0"/>
              <a:t>أولا:  الحدث </a:t>
            </a:r>
            <a:r>
              <a:rPr lang="en-US" b="1" u="sng" dirty="0"/>
              <a:t>Event</a:t>
            </a:r>
            <a:endParaRPr lang="en-US" dirty="0"/>
          </a:p>
          <a:p>
            <a:pPr algn="r" rtl="1"/>
            <a:r>
              <a:rPr lang="ar-SA" dirty="0"/>
              <a:t>يسمح المرافق الحدث لاثنين من النظم المفتوحة أن ترسل رسائل تدوين-حدث </a:t>
            </a:r>
            <a:r>
              <a:rPr lang="en-US" dirty="0"/>
              <a:t>E-EVENT-REPORT</a:t>
            </a:r>
            <a:r>
              <a:rPr lang="ar-SA" dirty="0"/>
              <a:t> . إذ ربما يوجد لنظامين مفتوحين حدثٌ مرافقٌ، عندما يحتاجون لإرسال إدارة أحداث إلي بعضهما فقط. كما يمكن لنظامين مفتوحين نظيرين أن يستخدما خدمات المرافقات الإدارية، وخدمات التبليغ الإدارية، من أجل حدث مرافق. </a:t>
            </a:r>
            <a:endParaRPr lang="en-US" dirty="0"/>
          </a:p>
        </p:txBody>
      </p:sp>
    </p:spTree>
    <p:extLst>
      <p:ext uri="{BB962C8B-B14F-4D97-AF65-F5344CB8AC3E}">
        <p14:creationId xmlns:p14="http://schemas.microsoft.com/office/powerpoint/2010/main" val="23207513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b="1" u="sng" dirty="0"/>
              <a:t>ثانيا: رصد/ الحدث </a:t>
            </a:r>
            <a:r>
              <a:rPr lang="en-US" b="1" u="sng" dirty="0"/>
              <a:t>Event/Monitor</a:t>
            </a:r>
            <a:r>
              <a:rPr lang="ar-SA" b="1" u="sng" dirty="0"/>
              <a:t> </a:t>
            </a:r>
            <a:endParaRPr lang="en-US" dirty="0"/>
          </a:p>
          <a:p>
            <a:pPr algn="r" rtl="1"/>
            <a:r>
              <a:rPr lang="ar-SA" dirty="0"/>
              <a:t>تكون وظيفة مرافق رصد/ الحدث مثل وظيفة مرافق الحدث، فيما عدا أن كل نظام مفتوح نظير يمكن أن يستقبل ويرسل رسائل </a:t>
            </a:r>
            <a:r>
              <a:rPr lang="en-US" dirty="0"/>
              <a:t>M-GET</a:t>
            </a:r>
            <a:r>
              <a:rPr lang="ar-SA" dirty="0"/>
              <a:t> . يسمح مرافق رصد/ الحدث لنظم مفتوحة نظيرة أن تستفسر عن معلومات إدارية، وأن تستقبل أحداث الشبكة.</a:t>
            </a:r>
            <a:endParaRPr lang="en-US" dirty="0"/>
          </a:p>
          <a:p>
            <a:pPr algn="r" rtl="1"/>
            <a:r>
              <a:rPr lang="ar-SA" dirty="0"/>
              <a:t>يكون هذا المرافق مفيداً من أجل مستخدمين لخدمات بروتوكول </a:t>
            </a:r>
            <a:r>
              <a:rPr lang="en-US" dirty="0"/>
              <a:t>CMISE</a:t>
            </a:r>
            <a:r>
              <a:rPr lang="ar-SA" dirty="0"/>
              <a:t> مهتمين لمعرفة حالة نظم مفتوحة نظيرة معينة، ولكن لا يسمح بتغييرها. كما يمكن أن يستخدم مستخدمين نظيرين من النظم المفتوحة خدمات المرافق الإدارية، و خدمات التبليغ الإدارية، وكذلك فئة فرعية لخدمات الأعمال الإدارية لمرافق رصد/ الحدث.</a:t>
            </a:r>
            <a:endParaRPr lang="en-US" dirty="0"/>
          </a:p>
          <a:p>
            <a:pPr algn="r"/>
            <a:endParaRPr lang="en-US" dirty="0"/>
          </a:p>
        </p:txBody>
      </p:sp>
    </p:spTree>
    <p:extLst>
      <p:ext uri="{BB962C8B-B14F-4D97-AF65-F5344CB8AC3E}">
        <p14:creationId xmlns:p14="http://schemas.microsoft.com/office/powerpoint/2010/main" val="9796973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r" rtl="1">
              <a:buNone/>
            </a:pPr>
            <a:r>
              <a:rPr lang="ar-SA" b="1" u="sng" dirty="0" smtClean="0"/>
              <a:t>ثالثا</a:t>
            </a:r>
            <a:r>
              <a:rPr lang="ar-SA" b="1" u="sng" dirty="0"/>
              <a:t>: تحكم/الرصد </a:t>
            </a:r>
            <a:r>
              <a:rPr lang="en-US" b="1" u="sng" dirty="0"/>
              <a:t>Monitor/Control </a:t>
            </a:r>
            <a:r>
              <a:rPr lang="ar-SA" b="1" u="sng" dirty="0"/>
              <a:t> </a:t>
            </a:r>
            <a:endParaRPr lang="en-US" dirty="0"/>
          </a:p>
          <a:p>
            <a:pPr algn="r" rtl="1"/>
            <a:r>
              <a:rPr lang="ar-SA" dirty="0"/>
              <a:t>يسمح مرافق "تحكم/الرصد" بإجراء طلبات الاتصال مستخدما خدمات:</a:t>
            </a:r>
            <a:endParaRPr lang="en-US" dirty="0"/>
          </a:p>
          <a:p>
            <a:pPr algn="r" rtl="1"/>
            <a:r>
              <a:rPr lang="ar-SA" dirty="0"/>
              <a:t> </a:t>
            </a:r>
            <a:r>
              <a:rPr lang="ar-SA" i="1" dirty="0"/>
              <a:t>(</a:t>
            </a:r>
            <a:r>
              <a:rPr lang="en-US" i="1" dirty="0"/>
              <a:t>M-GET, M-CANCEL-GET, M-SET, M-CRAETE, M-ACTION, M-DELETE</a:t>
            </a:r>
            <a:r>
              <a:rPr lang="ar-SA" dirty="0"/>
              <a:t>)  </a:t>
            </a:r>
            <a:endParaRPr lang="en-US" dirty="0"/>
          </a:p>
          <a:p>
            <a:pPr algn="r" rtl="1"/>
            <a:r>
              <a:rPr lang="ar-SA" dirty="0"/>
              <a:t>على الرغم من عدم وجود سماحية بتدوين الحدث </a:t>
            </a:r>
            <a:r>
              <a:rPr lang="en-US" dirty="0"/>
              <a:t>Event Reporting</a:t>
            </a:r>
            <a:r>
              <a:rPr lang="ar-SA" dirty="0"/>
              <a:t>. ربما يستخدم مستخدم-خدمة-عنصر </a:t>
            </a:r>
            <a:r>
              <a:rPr lang="en-US" dirty="0"/>
              <a:t>CMISE</a:t>
            </a:r>
            <a:r>
              <a:rPr lang="ar-SA" dirty="0"/>
              <a:t>، مرافق "تحكم/الرصد" لتغيير تهيئة </a:t>
            </a:r>
            <a:r>
              <a:rPr lang="ar-SA" dirty="0" smtClean="0"/>
              <a:t>نظام </a:t>
            </a:r>
            <a:r>
              <a:rPr lang="ar-SA" dirty="0"/>
              <a:t>مفتوح نظير. </a:t>
            </a:r>
            <a:endParaRPr lang="ar-SA" dirty="0" smtClean="0"/>
          </a:p>
          <a:p>
            <a:pPr algn="r" rtl="1"/>
            <a:r>
              <a:rPr lang="ar-SA" dirty="0"/>
              <a:t>. يمكن لنظامين مفتوحين نظيرين أن يستخدمان الخدمات الإدارية المرافقة ، وكذلك خدمات إدارة العملية من أجل مرافق "تحكم/الرصد".</a:t>
            </a:r>
            <a:endParaRPr lang="en-US" dirty="0"/>
          </a:p>
          <a:p>
            <a:pPr algn="r" rtl="1"/>
            <a:endParaRPr lang="en-US" dirty="0"/>
          </a:p>
        </p:txBody>
      </p:sp>
    </p:spTree>
    <p:extLst>
      <p:ext uri="{BB962C8B-B14F-4D97-AF65-F5344CB8AC3E}">
        <p14:creationId xmlns:p14="http://schemas.microsoft.com/office/powerpoint/2010/main" val="1941812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b="1" u="sng" dirty="0"/>
              <a:t>رابعا: الوكيل/المدير الرسمي </a:t>
            </a:r>
            <a:r>
              <a:rPr lang="en-US" b="1" u="sng" dirty="0"/>
              <a:t>Full Manager/Agent</a:t>
            </a:r>
            <a:r>
              <a:rPr lang="ar-SA" b="1" u="sng" dirty="0"/>
              <a:t>      </a:t>
            </a:r>
            <a:endParaRPr lang="en-US" dirty="0"/>
          </a:p>
          <a:p>
            <a:pPr algn="r" rtl="1"/>
            <a:r>
              <a:rPr lang="ar-SA" dirty="0"/>
              <a:t>يدعم هذا المرافق جميع خدمات </a:t>
            </a:r>
            <a:r>
              <a:rPr lang="en-US" dirty="0"/>
              <a:t>CMIS</a:t>
            </a:r>
            <a:r>
              <a:rPr lang="ar-SA" dirty="0"/>
              <a:t>ٍ.عندما يقوم نظام إدارة الشبكة بإدارة نظام مفتوح نظير، ويحتاج أن يكون قادرا على إجراء أي وظيفة إدارية </a:t>
            </a:r>
            <a:r>
              <a:rPr lang="ar-SA" dirty="0" smtClean="0"/>
              <a:t>به، </a:t>
            </a:r>
            <a:r>
              <a:rPr lang="ar-SA" dirty="0"/>
              <a:t>فإن النظام يستطيع استخدام وكيل/مدير </a:t>
            </a:r>
            <a:r>
              <a:rPr lang="ar-SA" dirty="0" smtClean="0"/>
              <a:t>رسمي</a:t>
            </a:r>
            <a:r>
              <a:rPr lang="en-US" dirty="0"/>
              <a:t> </a:t>
            </a:r>
            <a:r>
              <a:rPr lang="en-US" dirty="0" smtClean="0"/>
              <a:t>.</a:t>
            </a:r>
            <a:endParaRPr lang="en-US" dirty="0"/>
          </a:p>
        </p:txBody>
      </p:sp>
    </p:spTree>
    <p:extLst>
      <p:ext uri="{BB962C8B-B14F-4D97-AF65-F5344CB8AC3E}">
        <p14:creationId xmlns:p14="http://schemas.microsoft.com/office/powerpoint/2010/main" val="153267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قوائم الدخول </a:t>
            </a:r>
            <a:r>
              <a:rPr lang="en-US" b="1" dirty="0"/>
              <a:t>Access Lists</a:t>
            </a:r>
            <a:r>
              <a:rPr lang="en-US" dirty="0"/>
              <a:t/>
            </a:r>
            <a:br>
              <a:rPr lang="en-US" dirty="0"/>
            </a:br>
            <a:endParaRPr lang="en-US" dirty="0"/>
          </a:p>
        </p:txBody>
      </p:sp>
      <p:sp>
        <p:nvSpPr>
          <p:cNvPr id="3" name="Content Placeholder 2"/>
          <p:cNvSpPr>
            <a:spLocks noGrp="1"/>
          </p:cNvSpPr>
          <p:nvPr>
            <p:ph idx="1"/>
          </p:nvPr>
        </p:nvSpPr>
        <p:spPr/>
        <p:txBody>
          <a:bodyPr/>
          <a:lstStyle/>
          <a:p>
            <a:pPr algn="r" rtl="1"/>
            <a:r>
              <a:rPr lang="ar-SA" dirty="0" smtClean="0"/>
              <a:t>بنفس </a:t>
            </a:r>
            <a:r>
              <a:rPr lang="ar-SA" dirty="0"/>
              <a:t>الطريقة التي يستخدم فيها بروتوكول </a:t>
            </a:r>
            <a:r>
              <a:rPr lang="ar-SA" dirty="0" smtClean="0"/>
              <a:t>“</a:t>
            </a:r>
            <a:r>
              <a:rPr lang="en-US" dirty="0" smtClean="0"/>
              <a:t>snmpv1</a:t>
            </a:r>
            <a:r>
              <a:rPr lang="ar-SA" dirty="0" smtClean="0"/>
              <a:t>" </a:t>
            </a:r>
            <a:r>
              <a:rPr lang="ar-SA" dirty="0"/>
              <a:t>حروف المشاركة </a:t>
            </a:r>
            <a:r>
              <a:rPr lang="en-US" dirty="0"/>
              <a:t>Community Strings</a:t>
            </a:r>
            <a:r>
              <a:rPr lang="ar-SA" dirty="0"/>
              <a:t>، ويستخدم فيها بروتوكول </a:t>
            </a:r>
            <a:r>
              <a:rPr lang="ar-SA" dirty="0" smtClean="0"/>
              <a:t>“</a:t>
            </a:r>
            <a:r>
              <a:rPr lang="en-US" dirty="0" smtClean="0"/>
              <a:t>snmpv2</a:t>
            </a:r>
            <a:r>
              <a:rPr lang="ar-SA" dirty="0" smtClean="0"/>
              <a:t>" </a:t>
            </a:r>
            <a:r>
              <a:rPr lang="ar-SA" dirty="0"/>
              <a:t>أطراف الاتصال </a:t>
            </a:r>
            <a:r>
              <a:rPr lang="en-US" dirty="0"/>
              <a:t>Parties</a:t>
            </a:r>
            <a:r>
              <a:rPr lang="ar-SA" dirty="0"/>
              <a:t>، والسياقات </a:t>
            </a:r>
            <a:r>
              <a:rPr lang="en-US" dirty="0"/>
              <a:t>Contexts</a:t>
            </a:r>
            <a:r>
              <a:rPr lang="ar-SA" dirty="0"/>
              <a:t>، لتحقيق أن النظام يستطيع دخول قاعدة المعلومات الإدارية؛ فإن خدمات </a:t>
            </a:r>
            <a:r>
              <a:rPr lang="en-US" dirty="0"/>
              <a:t>CMIS</a:t>
            </a:r>
            <a:r>
              <a:rPr lang="ar-SA" dirty="0"/>
              <a:t> تستخدم قوائم الدخول. </a:t>
            </a:r>
            <a:endParaRPr lang="en-US" dirty="0"/>
          </a:p>
          <a:p>
            <a:pPr algn="r" rtl="1"/>
            <a:r>
              <a:rPr lang="ar-SA" dirty="0"/>
              <a:t>لكل نظام مفتوح، يوجد قوائم دخول تحدد بوضوح طرق الدخول للنظم المفتوحة الأخرى. ينبغي  لمستخدم-خدمة-عنصر </a:t>
            </a:r>
            <a:r>
              <a:rPr lang="en-US" dirty="0"/>
              <a:t>CMISE</a:t>
            </a:r>
            <a:r>
              <a:rPr lang="ar-SA" dirty="0"/>
              <a:t>، فحص تحكم قوائم الدخول قبل توسل </a:t>
            </a:r>
            <a:r>
              <a:rPr lang="en-US" dirty="0"/>
              <a:t>Invocation</a:t>
            </a:r>
            <a:r>
              <a:rPr lang="ar-SA" dirty="0"/>
              <a:t> خدمات </a:t>
            </a:r>
            <a:r>
              <a:rPr lang="en-US" dirty="0"/>
              <a:t>CMIS</a:t>
            </a:r>
            <a:r>
              <a:rPr lang="ar-SA" dirty="0"/>
              <a:t>. </a:t>
            </a:r>
            <a:endParaRPr lang="en-US" dirty="0"/>
          </a:p>
          <a:p>
            <a:pPr algn="r"/>
            <a:endParaRPr lang="en-US" dirty="0"/>
          </a:p>
        </p:txBody>
      </p:sp>
    </p:spTree>
    <p:extLst>
      <p:ext uri="{BB962C8B-B14F-4D97-AF65-F5344CB8AC3E}">
        <p14:creationId xmlns:p14="http://schemas.microsoft.com/office/powerpoint/2010/main" val="1004351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ar-SA" b="1" dirty="0"/>
              <a:t>بروتوكول </a:t>
            </a:r>
            <a:r>
              <a:rPr lang="en-US" dirty="0" smtClean="0"/>
              <a:t>CMIP</a:t>
            </a:r>
            <a:endParaRPr lang="en-US" dirty="0"/>
          </a:p>
        </p:txBody>
      </p:sp>
      <p:sp>
        <p:nvSpPr>
          <p:cNvPr id="3" name="Content Placeholder 2"/>
          <p:cNvSpPr>
            <a:spLocks noGrp="1"/>
          </p:cNvSpPr>
          <p:nvPr>
            <p:ph idx="1"/>
          </p:nvPr>
        </p:nvSpPr>
        <p:spPr/>
        <p:txBody>
          <a:bodyPr/>
          <a:lstStyle/>
          <a:p>
            <a:pPr algn="r" rtl="1"/>
            <a:r>
              <a:rPr lang="ar-SA" dirty="0" smtClean="0"/>
              <a:t>يقوم </a:t>
            </a:r>
            <a:r>
              <a:rPr lang="ar-SA" dirty="0"/>
              <a:t>بروتوكول </a:t>
            </a:r>
            <a:r>
              <a:rPr lang="en-US" dirty="0"/>
              <a:t>CMIP</a:t>
            </a:r>
            <a:r>
              <a:rPr lang="ar-SA" dirty="0"/>
              <a:t> بتنفيذ خدمات </a:t>
            </a:r>
            <a:r>
              <a:rPr lang="en-US" dirty="0"/>
              <a:t>CMIS</a:t>
            </a:r>
            <a:r>
              <a:rPr lang="ar-SA" dirty="0"/>
              <a:t>.  يحتاج بروتوكول </a:t>
            </a:r>
            <a:r>
              <a:rPr lang="en-US" dirty="0"/>
              <a:t>CMIP</a:t>
            </a:r>
            <a:r>
              <a:rPr lang="ar-SA" dirty="0"/>
              <a:t> لآلة كي يؤدي وظائفه، أو مديرٍ </a:t>
            </a:r>
            <a:r>
              <a:rPr lang="en-US" dirty="0"/>
              <a:t>CMIPM</a:t>
            </a:r>
            <a:r>
              <a:rPr lang="ar-SA" dirty="0"/>
              <a:t> ليعمل حسب المواصفات المحددة. إن المدير </a:t>
            </a:r>
            <a:r>
              <a:rPr lang="en-US" dirty="0"/>
              <a:t>CMIPM</a:t>
            </a:r>
            <a:r>
              <a:rPr lang="ar-SA" dirty="0"/>
              <a:t> هو البرنامج الذي يؤدي الأعمال التالية:</a:t>
            </a:r>
            <a:endParaRPr lang="en-US" dirty="0"/>
          </a:p>
          <a:p>
            <a:pPr algn="r" rtl="1"/>
            <a:r>
              <a:rPr lang="ar-SA" b="1" u="sng" dirty="0"/>
              <a:t>أولا:</a:t>
            </a:r>
            <a:r>
              <a:rPr lang="ar-SA" dirty="0"/>
              <a:t> يسمح باستقبال العمليات المرسلة إليه بواسطة مستخدم- خدمة- عنصر </a:t>
            </a:r>
            <a:r>
              <a:rPr lang="en-US" dirty="0"/>
              <a:t>CMISE</a:t>
            </a:r>
            <a:r>
              <a:rPr lang="ar-SA" dirty="0"/>
              <a:t>، ويبدأ تشغيل دالة مناسبة لتحقيق عملية المرافقة.</a:t>
            </a:r>
            <a:endParaRPr lang="en-US" dirty="0"/>
          </a:p>
          <a:p>
            <a:pPr algn="r" rtl="1"/>
            <a:r>
              <a:rPr lang="ar-SA" b="1" u="sng" dirty="0"/>
              <a:t>ثانيا:</a:t>
            </a:r>
            <a:r>
              <a:rPr lang="ar-SA" dirty="0"/>
              <a:t> يستخدم بروتوكول </a:t>
            </a:r>
            <a:r>
              <a:rPr lang="en-US" dirty="0"/>
              <a:t>ROSE</a:t>
            </a:r>
            <a:r>
              <a:rPr lang="ar-SA" dirty="0"/>
              <a:t> لإرسال رسائل عبر الشبكة.</a:t>
            </a:r>
            <a:endParaRPr lang="en-US" dirty="0"/>
          </a:p>
          <a:p>
            <a:pPr algn="r" rtl="1"/>
            <a:r>
              <a:rPr lang="ar-SA" dirty="0"/>
              <a:t>يوضح الشكل3.7 تدفق طلب خدمة </a:t>
            </a:r>
            <a:r>
              <a:rPr lang="en-US" dirty="0"/>
              <a:t>CMIS</a:t>
            </a:r>
            <a:r>
              <a:rPr lang="ar-SA" dirty="0"/>
              <a:t> بين مستخدمي-خدمة-عنصر </a:t>
            </a:r>
            <a:r>
              <a:rPr lang="en-US" dirty="0"/>
              <a:t>CMISE</a:t>
            </a:r>
            <a:r>
              <a:rPr lang="ar-SA" dirty="0"/>
              <a:t> .</a:t>
            </a:r>
            <a:endParaRPr lang="en-US" dirty="0"/>
          </a:p>
        </p:txBody>
      </p:sp>
    </p:spTree>
    <p:extLst>
      <p:ext uri="{BB962C8B-B14F-4D97-AF65-F5344CB8AC3E}">
        <p14:creationId xmlns:p14="http://schemas.microsoft.com/office/powerpoint/2010/main" val="1936065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031255" y="1524000"/>
            <a:ext cx="7081489" cy="4024948"/>
          </a:xfrm>
          <a:prstGeom prst="rect">
            <a:avLst/>
          </a:prstGeom>
        </p:spPr>
      </p:pic>
      <p:sp>
        <p:nvSpPr>
          <p:cNvPr id="5" name="Rectangle 4"/>
          <p:cNvSpPr/>
          <p:nvPr/>
        </p:nvSpPr>
        <p:spPr>
          <a:xfrm>
            <a:off x="2285999" y="5867400"/>
            <a:ext cx="4572000" cy="707886"/>
          </a:xfrm>
          <a:prstGeom prst="rect">
            <a:avLst/>
          </a:prstGeom>
        </p:spPr>
        <p:txBody>
          <a:bodyPr>
            <a:spAutoFit/>
          </a:bodyPr>
          <a:lstStyle/>
          <a:p>
            <a:pPr algn="ctr" rtl="1"/>
            <a:r>
              <a:rPr lang="ar-SA" sz="2000" dirty="0">
                <a:solidFill>
                  <a:srgbClr val="000000"/>
                </a:solidFill>
                <a:latin typeface="Times New Roman" panose="02020603050405020304" pitchFamily="18" charset="0"/>
                <a:ea typeface="Times New Roman" panose="02020603050405020304" pitchFamily="18" charset="0"/>
                <a:cs typeface="Simplified Arabic"/>
              </a:rPr>
              <a:t>الشكل3.7 تحقيق طلب خدمة </a:t>
            </a:r>
            <a:r>
              <a:rPr lang="en-US" sz="2000" dirty="0">
                <a:solidFill>
                  <a:srgbClr val="000000"/>
                </a:solidFill>
                <a:latin typeface="Times New Roman" panose="02020603050405020304" pitchFamily="18" charset="0"/>
                <a:ea typeface="Times New Roman" panose="02020603050405020304" pitchFamily="18" charset="0"/>
                <a:cs typeface="Simplified Arabic"/>
              </a:rPr>
              <a:t>CMIS</a:t>
            </a:r>
            <a:r>
              <a:rPr lang="ar-SA" sz="2000" dirty="0">
                <a:solidFill>
                  <a:srgbClr val="000000"/>
                </a:solidFill>
                <a:latin typeface="Times New Roman" panose="02020603050405020304" pitchFamily="18" charset="0"/>
                <a:ea typeface="Times New Roman" panose="02020603050405020304" pitchFamily="18" charset="0"/>
                <a:cs typeface="Simplified Arabic"/>
              </a:rPr>
              <a:t> بين اثنين من مستخدمي خدمة </a:t>
            </a:r>
            <a:r>
              <a:rPr lang="en-US" sz="2000" dirty="0">
                <a:solidFill>
                  <a:srgbClr val="000000"/>
                </a:solidFill>
                <a:latin typeface="Times New Roman" panose="02020603050405020304" pitchFamily="18" charset="0"/>
                <a:ea typeface="Times New Roman" panose="02020603050405020304" pitchFamily="18" charset="0"/>
                <a:cs typeface="Simplified Arabic"/>
              </a:rPr>
              <a:t>CMISE</a:t>
            </a:r>
            <a:endParaRPr lang="en-US" sz="2000" dirty="0"/>
          </a:p>
        </p:txBody>
      </p:sp>
    </p:spTree>
    <p:extLst>
      <p:ext uri="{BB962C8B-B14F-4D97-AF65-F5344CB8AC3E}">
        <p14:creationId xmlns:p14="http://schemas.microsoft.com/office/powerpoint/2010/main" val="2821023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lgn="r" rtl="1"/>
            <a:r>
              <a:rPr lang="ar-SA" dirty="0"/>
              <a:t>يستخدم المدير </a:t>
            </a:r>
            <a:r>
              <a:rPr lang="en-US" dirty="0"/>
              <a:t>CMIPM</a:t>
            </a:r>
            <a:r>
              <a:rPr lang="ar-SA" dirty="0"/>
              <a:t> مجموعة وحدات بيانات </a:t>
            </a:r>
            <a:r>
              <a:rPr lang="en-US" dirty="0"/>
              <a:t>Data Units</a:t>
            </a:r>
            <a:r>
              <a:rPr lang="ar-SA" dirty="0"/>
              <a:t> معرفة جيدا لتنفيذ خدمات </a:t>
            </a:r>
            <a:r>
              <a:rPr lang="en-US" dirty="0"/>
              <a:t>CMIS</a:t>
            </a:r>
            <a:r>
              <a:rPr lang="ar-SA" dirty="0"/>
              <a:t>، تستخدم كل خدمة </a:t>
            </a:r>
            <a:r>
              <a:rPr lang="en-US" dirty="0"/>
              <a:t>CMIS</a:t>
            </a:r>
            <a:r>
              <a:rPr lang="ar-SA" dirty="0"/>
              <a:t> سلسلة من وحدات هذه </a:t>
            </a:r>
            <a:r>
              <a:rPr lang="ar-SA" dirty="0" smtClean="0"/>
              <a:t>البيانات</a:t>
            </a:r>
            <a:r>
              <a:rPr lang="en-US" dirty="0" smtClean="0"/>
              <a:t> </a:t>
            </a:r>
            <a:r>
              <a:rPr lang="ar-SA" dirty="0"/>
              <a:t>على سبيل المثال، تستخدم الدالة </a:t>
            </a:r>
            <a:r>
              <a:rPr lang="en-US" dirty="0"/>
              <a:t>m-GET</a:t>
            </a:r>
            <a:r>
              <a:rPr lang="ar-SA" dirty="0"/>
              <a:t> للحصول على جزء محدد من بيانات قاعدة المعلومات الإدارية </a:t>
            </a:r>
            <a:r>
              <a:rPr lang="en-US" dirty="0"/>
              <a:t>MIB</a:t>
            </a:r>
            <a:r>
              <a:rPr lang="ar-SA" dirty="0"/>
              <a:t> من مستخدم-خدمة-عنصر</a:t>
            </a:r>
            <a:r>
              <a:rPr lang="en-US" dirty="0"/>
              <a:t>CMISE</a:t>
            </a:r>
            <a:r>
              <a:rPr lang="ar-SA" dirty="0"/>
              <a:t>. </a:t>
            </a:r>
            <a:endParaRPr lang="en-US" dirty="0" smtClean="0"/>
          </a:p>
          <a:p>
            <a:pPr algn="r" rtl="1"/>
            <a:r>
              <a:rPr lang="ar-SA" dirty="0" smtClean="0"/>
              <a:t>بينما </a:t>
            </a:r>
            <a:r>
              <a:rPr lang="ar-SA" dirty="0"/>
              <a:t>تستخدم الدالة </a:t>
            </a:r>
            <a:r>
              <a:rPr lang="en-US" dirty="0"/>
              <a:t>m-Linked-Reply </a:t>
            </a:r>
            <a:r>
              <a:rPr lang="ar-SA" dirty="0"/>
              <a:t> للاستجابة على الدالة </a:t>
            </a:r>
            <a:r>
              <a:rPr lang="en-US" dirty="0"/>
              <a:t>m-GET</a:t>
            </a:r>
            <a:r>
              <a:rPr lang="ar-SA" dirty="0"/>
              <a:t>، وتحدد طريقا لمستخدم –خدمة-عنصر </a:t>
            </a:r>
            <a:r>
              <a:rPr lang="en-US" dirty="0"/>
              <a:t>CMISE</a:t>
            </a:r>
            <a:r>
              <a:rPr lang="ar-SA" dirty="0"/>
              <a:t>، لربط رسالة استجابة، التي ربما تحتاج حزم بيانات متعددة. بذلك عندما يرسل مستخدم –خدمة-عنصر  </a:t>
            </a:r>
            <a:r>
              <a:rPr lang="en-US" dirty="0"/>
              <a:t>CMISE</a:t>
            </a:r>
            <a:r>
              <a:rPr lang="ar-SA" dirty="0"/>
              <a:t> خدمة </a:t>
            </a:r>
            <a:r>
              <a:rPr lang="en-US" dirty="0"/>
              <a:t>M-GET</a:t>
            </a:r>
            <a:r>
              <a:rPr lang="ar-SA" dirty="0"/>
              <a:t> ، تكون النتيجة إرسال وحدة بيانات </a:t>
            </a:r>
            <a:r>
              <a:rPr lang="en-US" dirty="0"/>
              <a:t>m-GET</a:t>
            </a:r>
            <a:r>
              <a:rPr lang="ar-SA" dirty="0"/>
              <a:t>، وإعادة إرسال وحدات بيانات أو أكثر لرسالة </a:t>
            </a:r>
            <a:r>
              <a:rPr lang="en-US" dirty="0"/>
              <a:t>m-Linked-Reply</a:t>
            </a:r>
            <a:r>
              <a:rPr lang="ar-SA" dirty="0"/>
              <a:t>. يوضح الجدول3.2 قوائم الخدمات </a:t>
            </a:r>
            <a:r>
              <a:rPr lang="en-US" dirty="0"/>
              <a:t>CMIS</a:t>
            </a:r>
            <a:r>
              <a:rPr lang="ar-SA" dirty="0"/>
              <a:t> ، وما يقابلها من وحدات بيانات </a:t>
            </a:r>
            <a:r>
              <a:rPr lang="en-US" dirty="0"/>
              <a:t>CMIP</a:t>
            </a:r>
            <a:r>
              <a:rPr lang="ar-SA" dirty="0"/>
              <a:t>. </a:t>
            </a:r>
            <a:endParaRPr lang="en-US" dirty="0"/>
          </a:p>
        </p:txBody>
      </p:sp>
    </p:spTree>
    <p:extLst>
      <p:ext uri="{BB962C8B-B14F-4D97-AF65-F5344CB8AC3E}">
        <p14:creationId xmlns:p14="http://schemas.microsoft.com/office/powerpoint/2010/main" val="1842843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1143000"/>
          </a:xfrm>
        </p:spPr>
        <p:txBody>
          <a:bodyPr>
            <a:normAutofit/>
          </a:bodyPr>
          <a:lstStyle/>
          <a:p>
            <a:pPr algn="r" rtl="1"/>
            <a:r>
              <a:rPr lang="ar-SA" sz="2400" b="1" dirty="0"/>
              <a:t>الجدول3.2 قوائم الخدمات </a:t>
            </a:r>
            <a:r>
              <a:rPr lang="en-US" sz="2400" b="1" dirty="0"/>
              <a:t>CMIS</a:t>
            </a:r>
            <a:r>
              <a:rPr lang="ar-SA" sz="2400" b="1" dirty="0"/>
              <a:t> وما يقابلها من وحدات بيانات </a:t>
            </a:r>
            <a:r>
              <a:rPr lang="en-US" sz="2400" b="1" dirty="0"/>
              <a:t>CMIP</a:t>
            </a:r>
            <a:endParaRPr lang="en-US" sz="2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21210729"/>
              </p:ext>
            </p:extLst>
          </p:nvPr>
        </p:nvGraphicFramePr>
        <p:xfrm>
          <a:off x="1371600" y="1433730"/>
          <a:ext cx="6781799" cy="5410202"/>
        </p:xfrm>
        <a:graphic>
          <a:graphicData uri="http://schemas.openxmlformats.org/drawingml/2006/table">
            <a:tbl>
              <a:tblPr rtl="1" firstRow="1" firstCol="1" lastRow="1" lastCol="1" bandRow="1" bandCol="1"/>
              <a:tblGrid>
                <a:gridCol w="3409814">
                  <a:extLst>
                    <a:ext uri="{9D8B030D-6E8A-4147-A177-3AD203B41FA5}">
                      <a16:colId xmlns:a16="http://schemas.microsoft.com/office/drawing/2014/main" val="3682029577"/>
                    </a:ext>
                  </a:extLst>
                </a:gridCol>
                <a:gridCol w="3371985">
                  <a:extLst>
                    <a:ext uri="{9D8B030D-6E8A-4147-A177-3AD203B41FA5}">
                      <a16:colId xmlns:a16="http://schemas.microsoft.com/office/drawing/2014/main" val="477467839"/>
                    </a:ext>
                  </a:extLst>
                </a:gridCol>
              </a:tblGrid>
              <a:tr h="377400">
                <a:tc>
                  <a:txBody>
                    <a:bodyPr/>
                    <a:lstStyle/>
                    <a:p>
                      <a:pPr marL="0" marR="0" algn="ctr" rtl="0">
                        <a:spcBef>
                          <a:spcPts val="0"/>
                        </a:spcBef>
                        <a:spcAft>
                          <a:spcPts val="0"/>
                        </a:spcAft>
                      </a:pPr>
                      <a:r>
                        <a:rPr lang="en-US" sz="2000" b="1" dirty="0">
                          <a:solidFill>
                            <a:srgbClr val="000000"/>
                          </a:solidFill>
                          <a:effectLst/>
                          <a:latin typeface="Times New Roman" panose="02020603050405020304" pitchFamily="18" charset="0"/>
                          <a:ea typeface="Times New Roman" panose="02020603050405020304" pitchFamily="18" charset="0"/>
                          <a:cs typeface="Simplified Arabic"/>
                        </a:rPr>
                        <a:t>CMIP  </a:t>
                      </a:r>
                      <a:r>
                        <a:rPr lang="ar-SA" sz="2000" b="1" dirty="0">
                          <a:solidFill>
                            <a:srgbClr val="000000"/>
                          </a:solidFill>
                          <a:effectLst/>
                          <a:latin typeface="Times New Roman" panose="02020603050405020304" pitchFamily="18" charset="0"/>
                          <a:ea typeface="Times New Roman" panose="02020603050405020304" pitchFamily="18" charset="0"/>
                          <a:cs typeface="Simplified Arabic"/>
                        </a:rPr>
                        <a:t>وحدات بيانات</a:t>
                      </a:r>
                      <a:endParaRPr lang="en-US" sz="2000" dirty="0">
                        <a:solidFill>
                          <a:srgbClr val="000000"/>
                        </a:solidFill>
                        <a:effectLst/>
                        <a:latin typeface="Times New Roman" panose="02020603050405020304" pitchFamily="18" charset="0"/>
                        <a:ea typeface="Times New Roman" panose="02020603050405020304" pitchFamily="18" charset="0"/>
                        <a:cs typeface="Simplified Arabic"/>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0">
                        <a:spcBef>
                          <a:spcPts val="0"/>
                        </a:spcBef>
                        <a:spcAft>
                          <a:spcPts val="0"/>
                        </a:spcAft>
                      </a:pPr>
                      <a:r>
                        <a:rPr lang="en-US" sz="2000" b="1" dirty="0">
                          <a:solidFill>
                            <a:srgbClr val="000000"/>
                          </a:solidFill>
                          <a:effectLst/>
                          <a:latin typeface="Times New Roman" panose="02020603050405020304" pitchFamily="18" charset="0"/>
                          <a:ea typeface="Times New Roman" panose="02020603050405020304" pitchFamily="18" charset="0"/>
                          <a:cs typeface="Simplified Arabic"/>
                        </a:rPr>
                        <a:t>CMIS </a:t>
                      </a:r>
                      <a:r>
                        <a:rPr lang="ar-SA" sz="2000" b="1" dirty="0">
                          <a:solidFill>
                            <a:srgbClr val="000000"/>
                          </a:solidFill>
                          <a:effectLst/>
                          <a:latin typeface="Times New Roman" panose="02020603050405020304" pitchFamily="18" charset="0"/>
                          <a:ea typeface="Times New Roman" panose="02020603050405020304" pitchFamily="18" charset="0"/>
                          <a:cs typeface="Simplified Arabic"/>
                        </a:rPr>
                        <a:t>خدمة</a:t>
                      </a:r>
                      <a:endParaRPr lang="en-US" sz="2000" dirty="0">
                        <a:solidFill>
                          <a:srgbClr val="000000"/>
                        </a:solidFill>
                        <a:effectLst/>
                        <a:latin typeface="Times New Roman" panose="02020603050405020304" pitchFamily="18" charset="0"/>
                        <a:ea typeface="Times New Roman" panose="02020603050405020304" pitchFamily="18" charset="0"/>
                        <a:cs typeface="Simplified Arabic"/>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3250812"/>
                  </a:ext>
                </a:extLst>
              </a:tr>
              <a:tr h="1011208">
                <a:tc>
                  <a:txBody>
                    <a:bodyPr/>
                    <a:lstStyle/>
                    <a:p>
                      <a:pPr marL="0" marR="0" algn="ctr" rtl="1">
                        <a:spcBef>
                          <a:spcPts val="0"/>
                        </a:spcBef>
                        <a:spcAft>
                          <a:spcPts val="0"/>
                        </a:spcAft>
                      </a:pPr>
                      <a:r>
                        <a:rPr lang="ar-SA" sz="2000">
                          <a:solidFill>
                            <a:srgbClr val="000000"/>
                          </a:solidFill>
                          <a:effectLst/>
                          <a:latin typeface="Times New Roman" panose="02020603050405020304" pitchFamily="18" charset="0"/>
                          <a:ea typeface="Times New Roman" panose="02020603050405020304" pitchFamily="18" charset="0"/>
                          <a:cs typeface="Simplified Arabic"/>
                        </a:rPr>
                        <a:t>تدوين-حدث </a:t>
                      </a:r>
                      <a:r>
                        <a:rPr lang="en-US" sz="2000">
                          <a:solidFill>
                            <a:srgbClr val="000000"/>
                          </a:solidFill>
                          <a:effectLst/>
                          <a:latin typeface="Times New Roman" panose="02020603050405020304" pitchFamily="18" charset="0"/>
                          <a:ea typeface="Times New Roman" panose="02020603050405020304" pitchFamily="18" charset="0"/>
                          <a:cs typeface="Simplified Arabic"/>
                        </a:rPr>
                        <a:t>m-EventReport</a:t>
                      </a:r>
                    </a:p>
                    <a:p>
                      <a:pPr marL="0" marR="0" algn="ctr" rtl="1">
                        <a:spcBef>
                          <a:spcPts val="0"/>
                        </a:spcBef>
                        <a:spcAft>
                          <a:spcPts val="0"/>
                        </a:spcAft>
                      </a:pPr>
                      <a:r>
                        <a:rPr lang="ar-SA" sz="2000">
                          <a:solidFill>
                            <a:srgbClr val="000000"/>
                          </a:solidFill>
                          <a:effectLst/>
                          <a:latin typeface="Times New Roman" panose="02020603050405020304" pitchFamily="18" charset="0"/>
                          <a:ea typeface="Times New Roman" panose="02020603050405020304" pitchFamily="18" charset="0"/>
                          <a:cs typeface="Simplified Arabic"/>
                        </a:rPr>
                        <a:t>تأكيد تدوين-حدث</a:t>
                      </a:r>
                      <a:endParaRPr lang="en-US" sz="2000">
                        <a:solidFill>
                          <a:srgbClr val="000000"/>
                        </a:solidFill>
                        <a:effectLst/>
                        <a:latin typeface="Times New Roman" panose="02020603050405020304" pitchFamily="18" charset="0"/>
                        <a:ea typeface="Times New Roman" panose="02020603050405020304" pitchFamily="18" charset="0"/>
                        <a:cs typeface="Simplified Arabic"/>
                      </a:endParaRPr>
                    </a:p>
                    <a:p>
                      <a:pPr marL="0" marR="0" algn="ctr" rtl="1">
                        <a:spcBef>
                          <a:spcPts val="0"/>
                        </a:spcBef>
                        <a:spcAft>
                          <a:spcPts val="0"/>
                        </a:spcAft>
                      </a:pPr>
                      <a:r>
                        <a:rPr lang="en-US" sz="2000">
                          <a:solidFill>
                            <a:srgbClr val="000000"/>
                          </a:solidFill>
                          <a:effectLst/>
                          <a:latin typeface="Times New Roman" panose="02020603050405020304" pitchFamily="18" charset="0"/>
                          <a:ea typeface="Times New Roman" panose="02020603050405020304" pitchFamily="18" charset="0"/>
                          <a:cs typeface="Simplified Arabic"/>
                        </a:rPr>
                        <a:t>m-EventReport-Confirmed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0"/>
                        </a:spcBef>
                        <a:spcAft>
                          <a:spcPts val="0"/>
                        </a:spcAft>
                      </a:pPr>
                      <a:r>
                        <a:rPr lang="ar-SA" sz="2000">
                          <a:solidFill>
                            <a:srgbClr val="000000"/>
                          </a:solidFill>
                          <a:effectLst/>
                          <a:latin typeface="Times New Roman" panose="02020603050405020304" pitchFamily="18" charset="0"/>
                          <a:ea typeface="Times New Roman" panose="02020603050405020304" pitchFamily="18" charset="0"/>
                          <a:cs typeface="Simplified Arabic"/>
                        </a:rPr>
                        <a:t>تدوين-حدث</a:t>
                      </a:r>
                      <a:endParaRPr lang="en-US" sz="2000">
                        <a:solidFill>
                          <a:srgbClr val="000000"/>
                        </a:solidFill>
                        <a:effectLst/>
                        <a:latin typeface="Times New Roman" panose="02020603050405020304" pitchFamily="18" charset="0"/>
                        <a:ea typeface="Times New Roman" panose="02020603050405020304" pitchFamily="18" charset="0"/>
                        <a:cs typeface="Simplified Arabic"/>
                      </a:endParaRPr>
                    </a:p>
                    <a:p>
                      <a:pPr marL="0" marR="0" algn="ctr" rtl="1">
                        <a:spcBef>
                          <a:spcPts val="0"/>
                        </a:spcBef>
                        <a:spcAft>
                          <a:spcPts val="0"/>
                        </a:spcAft>
                      </a:pPr>
                      <a:r>
                        <a:rPr lang="en-US" sz="2000">
                          <a:solidFill>
                            <a:srgbClr val="000000"/>
                          </a:solidFill>
                          <a:effectLst/>
                          <a:latin typeface="Times New Roman" panose="02020603050405020304" pitchFamily="18" charset="0"/>
                          <a:ea typeface="Times New Roman" panose="02020603050405020304" pitchFamily="18" charset="0"/>
                          <a:cs typeface="Simplified Arabic"/>
                        </a:rPr>
                        <a:t>M-EVENT-REPORT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6275141"/>
                  </a:ext>
                </a:extLst>
              </a:tr>
              <a:tr h="755601">
                <a:tc>
                  <a:txBody>
                    <a:bodyPr/>
                    <a:lstStyle/>
                    <a:p>
                      <a:pPr marL="0" marR="0" algn="ctr" rtl="1">
                        <a:spcBef>
                          <a:spcPts val="0"/>
                        </a:spcBef>
                        <a:spcAft>
                          <a:spcPts val="0"/>
                        </a:spcAft>
                      </a:pPr>
                      <a:r>
                        <a:rPr lang="ar-SA" sz="2000">
                          <a:solidFill>
                            <a:srgbClr val="000000"/>
                          </a:solidFill>
                          <a:effectLst/>
                          <a:latin typeface="Times New Roman" panose="02020603050405020304" pitchFamily="18" charset="0"/>
                          <a:ea typeface="Times New Roman" panose="02020603050405020304" pitchFamily="18" charset="0"/>
                          <a:cs typeface="Simplified Arabic"/>
                        </a:rPr>
                        <a:t>حصول     </a:t>
                      </a:r>
                      <a:r>
                        <a:rPr lang="en-US" sz="2000">
                          <a:solidFill>
                            <a:srgbClr val="000000"/>
                          </a:solidFill>
                          <a:effectLst/>
                          <a:latin typeface="Times New Roman" panose="02020603050405020304" pitchFamily="18" charset="0"/>
                          <a:ea typeface="Times New Roman" panose="02020603050405020304" pitchFamily="18" charset="0"/>
                          <a:cs typeface="Simplified Arabic"/>
                        </a:rPr>
                        <a:t>m-Get</a:t>
                      </a:r>
                    </a:p>
                    <a:p>
                      <a:pPr marL="0" marR="0" algn="ctr" rtl="1">
                        <a:spcBef>
                          <a:spcPts val="0"/>
                        </a:spcBef>
                        <a:spcAft>
                          <a:spcPts val="0"/>
                        </a:spcAft>
                      </a:pPr>
                      <a:r>
                        <a:rPr lang="ar-SA" sz="2000">
                          <a:solidFill>
                            <a:srgbClr val="000000"/>
                          </a:solidFill>
                          <a:effectLst/>
                          <a:latin typeface="Times New Roman" panose="02020603050405020304" pitchFamily="18" charset="0"/>
                          <a:ea typeface="Times New Roman" panose="02020603050405020304" pitchFamily="18" charset="0"/>
                          <a:cs typeface="Simplified Arabic"/>
                        </a:rPr>
                        <a:t>استجابة ربط    </a:t>
                      </a:r>
                      <a:r>
                        <a:rPr lang="en-US" sz="2000">
                          <a:solidFill>
                            <a:srgbClr val="000000"/>
                          </a:solidFill>
                          <a:effectLst/>
                          <a:latin typeface="Times New Roman" panose="02020603050405020304" pitchFamily="18" charset="0"/>
                          <a:ea typeface="Times New Roman" panose="02020603050405020304" pitchFamily="18" charset="0"/>
                          <a:cs typeface="Simplified Arabic"/>
                        </a:rPr>
                        <a:t>m-Linked-Reply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0"/>
                        </a:spcBef>
                        <a:spcAft>
                          <a:spcPts val="0"/>
                        </a:spcAft>
                      </a:pPr>
                      <a:r>
                        <a:rPr lang="ar-SA" sz="2000">
                          <a:solidFill>
                            <a:srgbClr val="000000"/>
                          </a:solidFill>
                          <a:effectLst/>
                          <a:latin typeface="Times New Roman" panose="02020603050405020304" pitchFamily="18" charset="0"/>
                          <a:ea typeface="Times New Roman" panose="02020603050405020304" pitchFamily="18" charset="0"/>
                          <a:cs typeface="Simplified Arabic"/>
                        </a:rPr>
                        <a:t>حصول  </a:t>
                      </a:r>
                      <a:r>
                        <a:rPr lang="en-US" sz="2000">
                          <a:solidFill>
                            <a:srgbClr val="000000"/>
                          </a:solidFill>
                          <a:effectLst/>
                          <a:latin typeface="Times New Roman" panose="02020603050405020304" pitchFamily="18" charset="0"/>
                          <a:ea typeface="Times New Roman" panose="02020603050405020304" pitchFamily="18" charset="0"/>
                          <a:cs typeface="Simplified Arabic"/>
                        </a:rPr>
                        <a:t>M-GET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2658351"/>
                  </a:ext>
                </a:extLst>
              </a:tr>
              <a:tr h="633808">
                <a:tc>
                  <a:txBody>
                    <a:bodyPr/>
                    <a:lstStyle/>
                    <a:p>
                      <a:pPr marL="0" marR="0" algn="ctr" rtl="1">
                        <a:spcBef>
                          <a:spcPts val="0"/>
                        </a:spcBef>
                        <a:spcAft>
                          <a:spcPts val="0"/>
                        </a:spcAft>
                      </a:pPr>
                      <a:r>
                        <a:rPr lang="ar-SA" sz="2000">
                          <a:solidFill>
                            <a:srgbClr val="000000"/>
                          </a:solidFill>
                          <a:effectLst/>
                          <a:latin typeface="Times New Roman" panose="02020603050405020304" pitchFamily="18" charset="0"/>
                          <a:ea typeface="Times New Roman" panose="02020603050405020304" pitchFamily="18" charset="0"/>
                          <a:cs typeface="Simplified Arabic"/>
                        </a:rPr>
                        <a:t>تأكيد إلغاء حصول</a:t>
                      </a:r>
                      <a:endParaRPr lang="en-US" sz="2000">
                        <a:solidFill>
                          <a:srgbClr val="000000"/>
                        </a:solidFill>
                        <a:effectLst/>
                        <a:latin typeface="Times New Roman" panose="02020603050405020304" pitchFamily="18" charset="0"/>
                        <a:ea typeface="Times New Roman" panose="02020603050405020304" pitchFamily="18" charset="0"/>
                        <a:cs typeface="Simplified Arabic"/>
                      </a:endParaRPr>
                    </a:p>
                    <a:p>
                      <a:pPr marL="0" marR="0" algn="ctr" rtl="1">
                        <a:spcBef>
                          <a:spcPts val="0"/>
                        </a:spcBef>
                        <a:spcAft>
                          <a:spcPts val="0"/>
                        </a:spcAft>
                      </a:pPr>
                      <a:r>
                        <a:rPr lang="en-US" sz="2000">
                          <a:solidFill>
                            <a:srgbClr val="000000"/>
                          </a:solidFill>
                          <a:effectLst/>
                          <a:latin typeface="Times New Roman" panose="02020603050405020304" pitchFamily="18" charset="0"/>
                          <a:ea typeface="Times New Roman" panose="02020603050405020304" pitchFamily="18" charset="0"/>
                          <a:cs typeface="Simplified Arabic"/>
                        </a:rPr>
                        <a:t>m-Cancel-Get-Confirmed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0"/>
                        </a:spcBef>
                        <a:spcAft>
                          <a:spcPts val="0"/>
                        </a:spcAft>
                      </a:pPr>
                      <a:r>
                        <a:rPr lang="ar-SA" sz="2000">
                          <a:solidFill>
                            <a:srgbClr val="000000"/>
                          </a:solidFill>
                          <a:effectLst/>
                          <a:latin typeface="Times New Roman" panose="02020603050405020304" pitchFamily="18" charset="0"/>
                          <a:ea typeface="Times New Roman" panose="02020603050405020304" pitchFamily="18" charset="0"/>
                          <a:cs typeface="Simplified Arabic"/>
                        </a:rPr>
                        <a:t>إلغاء حصول   </a:t>
                      </a:r>
                      <a:r>
                        <a:rPr lang="en-US" sz="2000">
                          <a:solidFill>
                            <a:srgbClr val="000000"/>
                          </a:solidFill>
                          <a:effectLst/>
                          <a:latin typeface="Times New Roman" panose="02020603050405020304" pitchFamily="18" charset="0"/>
                          <a:ea typeface="Times New Roman" panose="02020603050405020304" pitchFamily="18" charset="0"/>
                          <a:cs typeface="Simplified Arabic"/>
                        </a:rPr>
                        <a:t>M-CANCEL-GET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55478329"/>
                  </a:ext>
                </a:extLst>
              </a:tr>
              <a:tr h="743582">
                <a:tc>
                  <a:txBody>
                    <a:bodyPr/>
                    <a:lstStyle/>
                    <a:p>
                      <a:pPr marL="0" marR="0" algn="ctr" rtl="1">
                        <a:spcBef>
                          <a:spcPts val="0"/>
                        </a:spcBef>
                        <a:spcAft>
                          <a:spcPts val="0"/>
                        </a:spcAft>
                      </a:pPr>
                      <a:r>
                        <a:rPr lang="ar-SA" sz="2000">
                          <a:solidFill>
                            <a:srgbClr val="000000"/>
                          </a:solidFill>
                          <a:effectLst/>
                          <a:latin typeface="Times New Roman" panose="02020603050405020304" pitchFamily="18" charset="0"/>
                          <a:ea typeface="Times New Roman" panose="02020603050405020304" pitchFamily="18" charset="0"/>
                          <a:cs typeface="Simplified Arabic"/>
                        </a:rPr>
                        <a:t>تأكيد الإعداد  </a:t>
                      </a:r>
                      <a:r>
                        <a:rPr lang="en-US" sz="2000">
                          <a:solidFill>
                            <a:srgbClr val="000000"/>
                          </a:solidFill>
                          <a:effectLst/>
                          <a:latin typeface="Times New Roman" panose="02020603050405020304" pitchFamily="18" charset="0"/>
                          <a:ea typeface="Times New Roman" panose="02020603050405020304" pitchFamily="18" charset="0"/>
                          <a:cs typeface="Simplified Arabic"/>
                        </a:rPr>
                        <a:t>m-Set-Confirmed</a:t>
                      </a:r>
                    </a:p>
                    <a:p>
                      <a:pPr marL="0" marR="0" algn="ctr" rtl="1">
                        <a:spcBef>
                          <a:spcPts val="0"/>
                        </a:spcBef>
                        <a:spcAft>
                          <a:spcPts val="0"/>
                        </a:spcAft>
                      </a:pPr>
                      <a:r>
                        <a:rPr lang="ar-SA" sz="2000">
                          <a:solidFill>
                            <a:srgbClr val="000000"/>
                          </a:solidFill>
                          <a:effectLst/>
                          <a:latin typeface="Times New Roman" panose="02020603050405020304" pitchFamily="18" charset="0"/>
                          <a:ea typeface="Times New Roman" panose="02020603050405020304" pitchFamily="18" charset="0"/>
                          <a:cs typeface="Simplified Arabic"/>
                        </a:rPr>
                        <a:t>استجابة ربط  </a:t>
                      </a:r>
                      <a:r>
                        <a:rPr lang="en-US" sz="2000">
                          <a:solidFill>
                            <a:srgbClr val="000000"/>
                          </a:solidFill>
                          <a:effectLst/>
                          <a:latin typeface="Times New Roman" panose="02020603050405020304" pitchFamily="18" charset="0"/>
                          <a:ea typeface="Times New Roman" panose="02020603050405020304" pitchFamily="18" charset="0"/>
                          <a:cs typeface="Simplified Arabic"/>
                        </a:rPr>
                        <a:t>m-Linked-Reply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0"/>
                        </a:spcBef>
                        <a:spcAft>
                          <a:spcPts val="0"/>
                        </a:spcAft>
                      </a:pPr>
                      <a:r>
                        <a:rPr lang="ar-SA" sz="2000">
                          <a:solidFill>
                            <a:srgbClr val="000000"/>
                          </a:solidFill>
                          <a:effectLst/>
                          <a:latin typeface="Times New Roman" panose="02020603050405020304" pitchFamily="18" charset="0"/>
                          <a:ea typeface="Times New Roman" panose="02020603050405020304" pitchFamily="18" charset="0"/>
                          <a:cs typeface="Simplified Arabic"/>
                        </a:rPr>
                        <a:t>إعداد </a:t>
                      </a:r>
                      <a:r>
                        <a:rPr lang="en-US" sz="2000">
                          <a:solidFill>
                            <a:srgbClr val="000000"/>
                          </a:solidFill>
                          <a:effectLst/>
                          <a:latin typeface="Times New Roman" panose="02020603050405020304" pitchFamily="18" charset="0"/>
                          <a:ea typeface="Times New Roman" panose="02020603050405020304" pitchFamily="18" charset="0"/>
                          <a:cs typeface="Simplified Arabic"/>
                        </a:rPr>
                        <a:t>M-SET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5794578"/>
                  </a:ext>
                </a:extLst>
              </a:tr>
              <a:tr h="1133001">
                <a:tc>
                  <a:txBody>
                    <a:bodyPr/>
                    <a:lstStyle/>
                    <a:p>
                      <a:pPr marL="0" marR="0" algn="ctr" rtl="1">
                        <a:spcBef>
                          <a:spcPts val="0"/>
                        </a:spcBef>
                        <a:spcAft>
                          <a:spcPts val="0"/>
                        </a:spcAft>
                      </a:pPr>
                      <a:r>
                        <a:rPr lang="ar-SA" sz="2000" dirty="0">
                          <a:solidFill>
                            <a:srgbClr val="000000"/>
                          </a:solidFill>
                          <a:effectLst/>
                          <a:latin typeface="Times New Roman" panose="02020603050405020304" pitchFamily="18" charset="0"/>
                          <a:ea typeface="Times New Roman" panose="02020603050405020304" pitchFamily="18" charset="0"/>
                          <a:cs typeface="Simplified Arabic"/>
                        </a:rPr>
                        <a:t>أداء  </a:t>
                      </a:r>
                      <a:r>
                        <a:rPr lang="en-US" sz="2000" dirty="0">
                          <a:solidFill>
                            <a:srgbClr val="000000"/>
                          </a:solidFill>
                          <a:effectLst/>
                          <a:latin typeface="Times New Roman" panose="02020603050405020304" pitchFamily="18" charset="0"/>
                          <a:ea typeface="Times New Roman" panose="02020603050405020304" pitchFamily="18" charset="0"/>
                          <a:cs typeface="Simplified Arabic"/>
                        </a:rPr>
                        <a:t>m-Action</a:t>
                      </a:r>
                    </a:p>
                    <a:p>
                      <a:pPr marL="0" marR="0" algn="ctr" rtl="1">
                        <a:spcBef>
                          <a:spcPts val="0"/>
                        </a:spcBef>
                        <a:spcAft>
                          <a:spcPts val="0"/>
                        </a:spcAft>
                      </a:pPr>
                      <a:r>
                        <a:rPr lang="ar-SA" sz="2000" dirty="0">
                          <a:solidFill>
                            <a:srgbClr val="000000"/>
                          </a:solidFill>
                          <a:effectLst/>
                          <a:latin typeface="Times New Roman" panose="02020603050405020304" pitchFamily="18" charset="0"/>
                          <a:ea typeface="Times New Roman" panose="02020603050405020304" pitchFamily="18" charset="0"/>
                          <a:cs typeface="Simplified Arabic"/>
                        </a:rPr>
                        <a:t>تأكيد الأداء </a:t>
                      </a:r>
                      <a:r>
                        <a:rPr lang="en-US" sz="2000" dirty="0">
                          <a:solidFill>
                            <a:srgbClr val="000000"/>
                          </a:solidFill>
                          <a:effectLst/>
                          <a:latin typeface="Times New Roman" panose="02020603050405020304" pitchFamily="18" charset="0"/>
                          <a:ea typeface="Times New Roman" panose="02020603050405020304" pitchFamily="18" charset="0"/>
                          <a:cs typeface="Simplified Arabic"/>
                        </a:rPr>
                        <a:t>m-Action- Confirmed</a:t>
                      </a:r>
                    </a:p>
                    <a:p>
                      <a:pPr marL="0" marR="0" algn="ctr" rtl="1">
                        <a:spcBef>
                          <a:spcPts val="0"/>
                        </a:spcBef>
                        <a:spcAft>
                          <a:spcPts val="0"/>
                        </a:spcAft>
                      </a:pPr>
                      <a:r>
                        <a:rPr lang="ar-SA" sz="2000" dirty="0">
                          <a:solidFill>
                            <a:srgbClr val="000000"/>
                          </a:solidFill>
                          <a:effectLst/>
                          <a:latin typeface="Times New Roman" panose="02020603050405020304" pitchFamily="18" charset="0"/>
                          <a:ea typeface="Times New Roman" panose="02020603050405020304" pitchFamily="18" charset="0"/>
                          <a:cs typeface="Simplified Arabic"/>
                        </a:rPr>
                        <a:t>استجابة ربط  </a:t>
                      </a:r>
                      <a:r>
                        <a:rPr lang="en-US" sz="2000" dirty="0">
                          <a:solidFill>
                            <a:srgbClr val="000000"/>
                          </a:solidFill>
                          <a:effectLst/>
                          <a:latin typeface="Times New Roman" panose="02020603050405020304" pitchFamily="18" charset="0"/>
                          <a:ea typeface="Times New Roman" panose="02020603050405020304" pitchFamily="18" charset="0"/>
                          <a:cs typeface="Simplified Arabic"/>
                        </a:rPr>
                        <a:t>m-Linked-Reply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0"/>
                        </a:spcBef>
                        <a:spcAft>
                          <a:spcPts val="0"/>
                        </a:spcAft>
                      </a:pPr>
                      <a:r>
                        <a:rPr lang="ar-SA" sz="2000">
                          <a:solidFill>
                            <a:srgbClr val="000000"/>
                          </a:solidFill>
                          <a:effectLst/>
                          <a:latin typeface="Times New Roman" panose="02020603050405020304" pitchFamily="18" charset="0"/>
                          <a:ea typeface="Times New Roman" panose="02020603050405020304" pitchFamily="18" charset="0"/>
                          <a:cs typeface="Simplified Arabic"/>
                        </a:rPr>
                        <a:t>أداء  </a:t>
                      </a:r>
                      <a:r>
                        <a:rPr lang="en-US" sz="2000">
                          <a:solidFill>
                            <a:srgbClr val="000000"/>
                          </a:solidFill>
                          <a:effectLst/>
                          <a:latin typeface="Times New Roman" panose="02020603050405020304" pitchFamily="18" charset="0"/>
                          <a:ea typeface="Times New Roman" panose="02020603050405020304" pitchFamily="18" charset="0"/>
                          <a:cs typeface="Simplified Arabic"/>
                        </a:rPr>
                        <a:t>M-ACTION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7981802"/>
                  </a:ext>
                </a:extLst>
              </a:tr>
              <a:tr h="365381">
                <a:tc>
                  <a:txBody>
                    <a:bodyPr/>
                    <a:lstStyle/>
                    <a:p>
                      <a:pPr marL="0" marR="0" algn="ctr" rtl="1">
                        <a:spcBef>
                          <a:spcPts val="0"/>
                        </a:spcBef>
                        <a:spcAft>
                          <a:spcPts val="0"/>
                        </a:spcAft>
                      </a:pPr>
                      <a:r>
                        <a:rPr lang="ar-SA" sz="2000">
                          <a:solidFill>
                            <a:srgbClr val="000000"/>
                          </a:solidFill>
                          <a:effectLst/>
                          <a:latin typeface="Times New Roman" panose="02020603050405020304" pitchFamily="18" charset="0"/>
                          <a:ea typeface="Times New Roman" panose="02020603050405020304" pitchFamily="18" charset="0"/>
                          <a:cs typeface="Simplified Arabic"/>
                        </a:rPr>
                        <a:t>إنشاء    </a:t>
                      </a:r>
                      <a:r>
                        <a:rPr lang="en-US" sz="2000">
                          <a:solidFill>
                            <a:srgbClr val="000000"/>
                          </a:solidFill>
                          <a:effectLst/>
                          <a:latin typeface="Times New Roman" panose="02020603050405020304" pitchFamily="18" charset="0"/>
                          <a:ea typeface="Times New Roman" panose="02020603050405020304" pitchFamily="18" charset="0"/>
                          <a:cs typeface="Simplified Arabic"/>
                        </a:rPr>
                        <a:t>m-Create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0"/>
                        </a:spcBef>
                        <a:spcAft>
                          <a:spcPts val="0"/>
                        </a:spcAft>
                      </a:pPr>
                      <a:r>
                        <a:rPr lang="ar-SA" sz="2000">
                          <a:solidFill>
                            <a:srgbClr val="000000"/>
                          </a:solidFill>
                          <a:effectLst/>
                          <a:latin typeface="Times New Roman" panose="02020603050405020304" pitchFamily="18" charset="0"/>
                          <a:ea typeface="Times New Roman" panose="02020603050405020304" pitchFamily="18" charset="0"/>
                          <a:cs typeface="Simplified Arabic"/>
                        </a:rPr>
                        <a:t>إنشاء  </a:t>
                      </a:r>
                      <a:r>
                        <a:rPr lang="en-US" sz="2000">
                          <a:solidFill>
                            <a:srgbClr val="000000"/>
                          </a:solidFill>
                          <a:effectLst/>
                          <a:latin typeface="Times New Roman" panose="02020603050405020304" pitchFamily="18" charset="0"/>
                          <a:ea typeface="Times New Roman" panose="02020603050405020304" pitchFamily="18" charset="0"/>
                          <a:cs typeface="Simplified Arabic"/>
                        </a:rPr>
                        <a:t>M-CREATE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2899737"/>
                  </a:ext>
                </a:extLst>
              </a:tr>
              <a:tr h="390221">
                <a:tc>
                  <a:txBody>
                    <a:bodyPr/>
                    <a:lstStyle/>
                    <a:p>
                      <a:pPr marL="0" marR="0" algn="ctr" rtl="1">
                        <a:spcBef>
                          <a:spcPts val="0"/>
                        </a:spcBef>
                        <a:spcAft>
                          <a:spcPts val="0"/>
                        </a:spcAft>
                      </a:pPr>
                      <a:r>
                        <a:rPr lang="ar-SA" sz="2000">
                          <a:solidFill>
                            <a:srgbClr val="000000"/>
                          </a:solidFill>
                          <a:effectLst/>
                          <a:latin typeface="Times New Roman" panose="02020603050405020304" pitchFamily="18" charset="0"/>
                          <a:ea typeface="Times New Roman" panose="02020603050405020304" pitchFamily="18" charset="0"/>
                          <a:cs typeface="Simplified Arabic"/>
                        </a:rPr>
                        <a:t>حذف      </a:t>
                      </a:r>
                      <a:r>
                        <a:rPr lang="en-US" sz="2000">
                          <a:solidFill>
                            <a:srgbClr val="000000"/>
                          </a:solidFill>
                          <a:effectLst/>
                          <a:latin typeface="Times New Roman" panose="02020603050405020304" pitchFamily="18" charset="0"/>
                          <a:ea typeface="Times New Roman" panose="02020603050405020304" pitchFamily="18" charset="0"/>
                          <a:cs typeface="Simplified Arabic"/>
                        </a:rPr>
                        <a:t>m-Delete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0"/>
                        </a:spcBef>
                        <a:spcAft>
                          <a:spcPts val="0"/>
                        </a:spcAft>
                      </a:pPr>
                      <a:r>
                        <a:rPr lang="ar-SA" sz="2000" dirty="0">
                          <a:solidFill>
                            <a:srgbClr val="000000"/>
                          </a:solidFill>
                          <a:effectLst/>
                          <a:latin typeface="Times New Roman" panose="02020603050405020304" pitchFamily="18" charset="0"/>
                          <a:ea typeface="Times New Roman" panose="02020603050405020304" pitchFamily="18" charset="0"/>
                          <a:cs typeface="Simplified Arabic"/>
                        </a:rPr>
                        <a:t>حذف  </a:t>
                      </a:r>
                      <a:r>
                        <a:rPr lang="en-US" sz="2000" dirty="0">
                          <a:solidFill>
                            <a:srgbClr val="000000"/>
                          </a:solidFill>
                          <a:effectLst/>
                          <a:latin typeface="Times New Roman" panose="02020603050405020304" pitchFamily="18" charset="0"/>
                          <a:ea typeface="Times New Roman" panose="02020603050405020304" pitchFamily="18" charset="0"/>
                          <a:cs typeface="Simplified Arabic"/>
                        </a:rPr>
                        <a:t>M-DELETE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5388081"/>
                  </a:ext>
                </a:extLst>
              </a:tr>
            </a:tbl>
          </a:graphicData>
        </a:graphic>
      </p:graphicFrame>
    </p:spTree>
    <p:extLst>
      <p:ext uri="{BB962C8B-B14F-4D97-AF65-F5344CB8AC3E}">
        <p14:creationId xmlns:p14="http://schemas.microsoft.com/office/powerpoint/2010/main" val="3532574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ar-SA" b="1" dirty="0"/>
              <a:t> مشاكل بروتوكول </a:t>
            </a:r>
            <a:r>
              <a:rPr lang="en-US" dirty="0"/>
              <a:t>CMIS/CMIP</a:t>
            </a:r>
          </a:p>
        </p:txBody>
      </p:sp>
      <p:sp>
        <p:nvSpPr>
          <p:cNvPr id="3" name="Content Placeholder 2"/>
          <p:cNvSpPr>
            <a:spLocks noGrp="1"/>
          </p:cNvSpPr>
          <p:nvPr>
            <p:ph idx="1"/>
          </p:nvPr>
        </p:nvSpPr>
        <p:spPr/>
        <p:txBody>
          <a:bodyPr>
            <a:normAutofit fontScale="92500" lnSpcReduction="10000"/>
          </a:bodyPr>
          <a:lstStyle/>
          <a:p>
            <a:pPr algn="r" rtl="1"/>
            <a:r>
              <a:rPr lang="ar-SA" b="1" u="sng" dirty="0" smtClean="0"/>
              <a:t>توجد </a:t>
            </a:r>
            <a:r>
              <a:rPr lang="ar-SA" b="1" u="sng" dirty="0"/>
              <a:t>مشكلتان هما:</a:t>
            </a:r>
            <a:endParaRPr lang="en-US" dirty="0"/>
          </a:p>
          <a:p>
            <a:pPr algn="r" rtl="1"/>
            <a:r>
              <a:rPr lang="ar-SA" dirty="0"/>
              <a:t>أ - يحتاج بروتوكول </a:t>
            </a:r>
            <a:r>
              <a:rPr lang="en-US" dirty="0"/>
              <a:t>CMIS/CMIP</a:t>
            </a:r>
            <a:r>
              <a:rPr lang="ar-SA" dirty="0"/>
              <a:t> كمية ضخمة من عبء الاتصال </a:t>
            </a:r>
            <a:r>
              <a:rPr lang="en-US" dirty="0"/>
              <a:t>Overhead</a:t>
            </a:r>
            <a:r>
              <a:rPr lang="ar-SA" dirty="0"/>
              <a:t>.</a:t>
            </a:r>
            <a:endParaRPr lang="en-US" dirty="0"/>
          </a:p>
          <a:p>
            <a:pPr algn="r" rtl="1"/>
            <a:r>
              <a:rPr lang="ar-SA" dirty="0"/>
              <a:t>ب- صعب تنفيذه.</a:t>
            </a:r>
            <a:endParaRPr lang="en-US" dirty="0"/>
          </a:p>
          <a:p>
            <a:pPr algn="r" rtl="1"/>
            <a:r>
              <a:rPr lang="ar-SA" dirty="0"/>
              <a:t>تنتج هذه المشاكل من حقيقة أن بروتوكول </a:t>
            </a:r>
            <a:r>
              <a:rPr lang="en-US" dirty="0"/>
              <a:t>CMIS/CMIP</a:t>
            </a:r>
            <a:r>
              <a:rPr lang="ar-SA" dirty="0"/>
              <a:t> تم تصميمه ليعمل </a:t>
            </a:r>
            <a:r>
              <a:rPr lang="ar-SA" dirty="0" smtClean="0"/>
              <a:t>مع مكدس </a:t>
            </a:r>
            <a:r>
              <a:rPr lang="en-US" dirty="0"/>
              <a:t>Stack</a:t>
            </a:r>
            <a:r>
              <a:rPr lang="ar-SA" dirty="0"/>
              <a:t> بروتوكول </a:t>
            </a:r>
            <a:r>
              <a:rPr lang="en-US" dirty="0"/>
              <a:t>OSI</a:t>
            </a:r>
            <a:r>
              <a:rPr lang="ar-SA" dirty="0"/>
              <a:t> الرسمي، كما هو موضح في الشكل3.8. وبسبب الخواص الطبيعية الرسمية للبروتوكولات </a:t>
            </a:r>
            <a:r>
              <a:rPr lang="en-US" dirty="0"/>
              <a:t>OSI</a:t>
            </a:r>
            <a:r>
              <a:rPr lang="ar-SA" dirty="0"/>
              <a:t> . فهي تتيح أداءً مرناً وتتطلب كمية ضخمة من العبء. ربما لا تمتلك بعض أجهزة الشبكة الذاكرة الكافية، أو قدرة المعالجة اللازمة لتدعيم </a:t>
            </a:r>
            <a:r>
              <a:rPr lang="ar-SA" dirty="0" smtClean="0"/>
              <a:t>مكدس بروتوكول </a:t>
            </a:r>
            <a:r>
              <a:rPr lang="en-US" dirty="0"/>
              <a:t>OSI</a:t>
            </a:r>
            <a:r>
              <a:rPr lang="ar-SA" dirty="0"/>
              <a:t> الرسمي. لهذه الأسباب فإن بعض الموردين لأجهزة الشبكات يجدون صعوبة في تنفيذ </a:t>
            </a:r>
            <a:r>
              <a:rPr lang="ar-SA" dirty="0" smtClean="0"/>
              <a:t>مكدس </a:t>
            </a:r>
            <a:r>
              <a:rPr lang="ar-SA" dirty="0"/>
              <a:t>بروتوكول </a:t>
            </a:r>
            <a:r>
              <a:rPr lang="en-US" dirty="0"/>
              <a:t>OSI</a:t>
            </a:r>
            <a:r>
              <a:rPr lang="ar-SA" dirty="0"/>
              <a:t> بسبب قيود العتاد والبرمجة. ويوجد العديد من أدوات تنفيذ  </a:t>
            </a:r>
            <a:r>
              <a:rPr lang="ar-SA" dirty="0" smtClean="0"/>
              <a:t>مكدس </a:t>
            </a:r>
            <a:r>
              <a:rPr lang="ar-SA" dirty="0"/>
              <a:t>بروتوكول </a:t>
            </a:r>
            <a:r>
              <a:rPr lang="en-US" dirty="0"/>
              <a:t>OSI</a:t>
            </a:r>
            <a:r>
              <a:rPr lang="ar-SA" dirty="0"/>
              <a:t>، لكنها ليست واسعة الانتشار.</a:t>
            </a:r>
            <a:endParaRPr lang="en-US" dirty="0"/>
          </a:p>
          <a:p>
            <a:pPr algn="r"/>
            <a:endParaRPr lang="en-US" dirty="0"/>
          </a:p>
        </p:txBody>
      </p:sp>
    </p:spTree>
    <p:extLst>
      <p:ext uri="{BB962C8B-B14F-4D97-AF65-F5344CB8AC3E}">
        <p14:creationId xmlns:p14="http://schemas.microsoft.com/office/powerpoint/2010/main" val="3313414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914400" y="1847088"/>
            <a:ext cx="6988894" cy="3944112"/>
          </a:xfrm>
          <a:prstGeom prst="rect">
            <a:avLst/>
          </a:prstGeom>
        </p:spPr>
      </p:pic>
      <p:sp>
        <p:nvSpPr>
          <p:cNvPr id="5" name="Rectangle 4"/>
          <p:cNvSpPr/>
          <p:nvPr/>
        </p:nvSpPr>
        <p:spPr>
          <a:xfrm>
            <a:off x="1981200" y="6019800"/>
            <a:ext cx="4572000" cy="646331"/>
          </a:xfrm>
          <a:prstGeom prst="rect">
            <a:avLst/>
          </a:prstGeom>
        </p:spPr>
        <p:txBody>
          <a:bodyPr>
            <a:spAutoFit/>
          </a:bodyPr>
          <a:lstStyle/>
          <a:p>
            <a:pPr algn="ctr" rtl="1"/>
            <a:r>
              <a:rPr lang="ar-SA" b="1" dirty="0">
                <a:solidFill>
                  <a:srgbClr val="000000"/>
                </a:solidFill>
                <a:latin typeface="Times New Roman" panose="02020603050405020304" pitchFamily="18" charset="0"/>
                <a:ea typeface="Times New Roman" panose="02020603050405020304" pitchFamily="18" charset="0"/>
                <a:cs typeface="Simplified Arabic"/>
              </a:rPr>
              <a:t>الشكل3.8 </a:t>
            </a:r>
            <a:r>
              <a:rPr lang="ar-SA" b="1" dirty="0" smtClean="0">
                <a:solidFill>
                  <a:srgbClr val="000000"/>
                </a:solidFill>
                <a:latin typeface="Times New Roman" panose="02020603050405020304" pitchFamily="18" charset="0"/>
                <a:ea typeface="Times New Roman" panose="02020603050405020304" pitchFamily="18" charset="0"/>
                <a:cs typeface="Simplified Arabic"/>
              </a:rPr>
              <a:t>المكدس  </a:t>
            </a:r>
            <a:r>
              <a:rPr lang="ar-SA" b="1" dirty="0">
                <a:solidFill>
                  <a:srgbClr val="000000"/>
                </a:solidFill>
                <a:latin typeface="Times New Roman" panose="02020603050405020304" pitchFamily="18" charset="0"/>
                <a:ea typeface="Times New Roman" panose="02020603050405020304" pitchFamily="18" charset="0"/>
                <a:cs typeface="Simplified Arabic"/>
              </a:rPr>
              <a:t>البروتوكولي </a:t>
            </a:r>
            <a:r>
              <a:rPr lang="en-US" b="1" dirty="0">
                <a:solidFill>
                  <a:srgbClr val="000000"/>
                </a:solidFill>
                <a:latin typeface="Times New Roman" panose="02020603050405020304" pitchFamily="18" charset="0"/>
                <a:ea typeface="Times New Roman" panose="02020603050405020304" pitchFamily="18" charset="0"/>
                <a:cs typeface="Simplified Arabic"/>
              </a:rPr>
              <a:t>OSI</a:t>
            </a:r>
            <a:r>
              <a:rPr lang="ar-SA" b="1" dirty="0">
                <a:solidFill>
                  <a:srgbClr val="000000"/>
                </a:solidFill>
                <a:latin typeface="Times New Roman" panose="02020603050405020304" pitchFamily="18" charset="0"/>
                <a:ea typeface="Times New Roman" panose="02020603050405020304" pitchFamily="18" charset="0"/>
                <a:cs typeface="Simplified Arabic"/>
              </a:rPr>
              <a:t> اللازم لتشغيل بروتوكول </a:t>
            </a:r>
            <a:r>
              <a:rPr lang="en-US" b="1" dirty="0">
                <a:solidFill>
                  <a:srgbClr val="000000"/>
                </a:solidFill>
                <a:latin typeface="Times New Roman" panose="02020603050405020304" pitchFamily="18" charset="0"/>
                <a:ea typeface="Times New Roman" panose="02020603050405020304" pitchFamily="18" charset="0"/>
                <a:cs typeface="Simplified Arabic"/>
              </a:rPr>
              <a:t>CMIS/CMIP</a:t>
            </a:r>
            <a:r>
              <a:rPr lang="ar-SA" b="1" dirty="0">
                <a:solidFill>
                  <a:srgbClr val="000000"/>
                </a:solidFill>
                <a:latin typeface="Times New Roman" panose="02020603050405020304" pitchFamily="18" charset="0"/>
                <a:ea typeface="Times New Roman" panose="02020603050405020304" pitchFamily="18" charset="0"/>
                <a:cs typeface="Simplified Arabic"/>
              </a:rPr>
              <a:t>.</a:t>
            </a:r>
            <a:endParaRPr lang="en-US" dirty="0">
              <a:solidFill>
                <a:srgbClr val="000000"/>
              </a:solidFill>
              <a:latin typeface="Times New Roman" panose="02020603050405020304" pitchFamily="18" charset="0"/>
              <a:ea typeface="Times New Roman" panose="02020603050405020304" pitchFamily="18" charset="0"/>
              <a:cs typeface="Simplified Arabic"/>
            </a:endParaRPr>
          </a:p>
        </p:txBody>
      </p:sp>
    </p:spTree>
    <p:extLst>
      <p:ext uri="{BB962C8B-B14F-4D97-AF65-F5344CB8AC3E}">
        <p14:creationId xmlns:p14="http://schemas.microsoft.com/office/powerpoint/2010/main" val="3586040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بروتوكول </a:t>
            </a:r>
            <a:r>
              <a:rPr lang="ar-SA" dirty="0"/>
              <a:t>"</a:t>
            </a:r>
            <a:r>
              <a:rPr lang="en-US" dirty="0"/>
              <a:t>CMOT</a:t>
            </a:r>
            <a:r>
              <a:rPr lang="ar-SA" dirty="0"/>
              <a:t>"</a:t>
            </a:r>
            <a:r>
              <a:rPr lang="ar-SA" b="1" dirty="0"/>
              <a:t>  و بروتوكول </a:t>
            </a:r>
            <a:r>
              <a:rPr lang="ar-SA" dirty="0"/>
              <a:t>"</a:t>
            </a:r>
            <a:r>
              <a:rPr lang="en-US" dirty="0"/>
              <a:t>LMMP</a:t>
            </a:r>
            <a:r>
              <a:rPr lang="ar-SA" dirty="0"/>
              <a:t>"</a:t>
            </a:r>
            <a:endParaRPr lang="en-US" dirty="0"/>
          </a:p>
        </p:txBody>
      </p:sp>
      <p:sp>
        <p:nvSpPr>
          <p:cNvPr id="3" name="Content Placeholder 2"/>
          <p:cNvSpPr>
            <a:spLocks noGrp="1"/>
          </p:cNvSpPr>
          <p:nvPr>
            <p:ph idx="1"/>
          </p:nvPr>
        </p:nvSpPr>
        <p:spPr/>
        <p:txBody>
          <a:bodyPr/>
          <a:lstStyle/>
          <a:p>
            <a:pPr marL="0" lvl="0" indent="0" algn="r" rtl="1" eaLnBrk="0" fontAlgn="base" hangingPunct="0">
              <a:spcBef>
                <a:spcPct val="0"/>
              </a:spcBef>
              <a:spcAft>
                <a:spcPct val="0"/>
              </a:spcAft>
              <a:buClrTx/>
              <a:buSzTx/>
              <a:buNone/>
            </a:pPr>
            <a:r>
              <a:rPr lang="ar-SA" altLang="en-US" sz="2800" b="1" dirty="0" smtClean="0">
                <a:solidFill>
                  <a:srgbClr val="000000"/>
                </a:solidFill>
                <a:latin typeface="Traditional Arabic"/>
                <a:ea typeface="Times New Roman" panose="02020603050405020304" pitchFamily="18" charset="0"/>
                <a:cs typeface="Arial" panose="020B0604020202020204" pitchFamily="34" charset="0"/>
              </a:rPr>
              <a:t> </a:t>
            </a:r>
            <a:r>
              <a:rPr lang="ar-SA" altLang="en-US" sz="2800" b="1" dirty="0">
                <a:solidFill>
                  <a:srgbClr val="000000"/>
                </a:solidFill>
                <a:latin typeface="Traditional Arabic"/>
                <a:ea typeface="Times New Roman" panose="02020603050405020304" pitchFamily="18" charset="0"/>
                <a:cs typeface="Arial" panose="020B0604020202020204" pitchFamily="34" charset="0"/>
              </a:rPr>
              <a:t>بروتوكول </a:t>
            </a:r>
            <a:r>
              <a:rPr lang="en-US" altLang="en-US" sz="2800" dirty="0" smtClean="0">
                <a:solidFill>
                  <a:srgbClr val="000000"/>
                </a:solidFill>
                <a:ea typeface="Times New Roman" panose="02020603050405020304" pitchFamily="18" charset="0"/>
                <a:cs typeface="Traditional Arabic"/>
              </a:rPr>
              <a:t>CMOT</a:t>
            </a:r>
            <a:endParaRPr lang="ar-SA" altLang="en-US" sz="2800" dirty="0" smtClean="0">
              <a:solidFill>
                <a:srgbClr val="000000"/>
              </a:solidFill>
              <a:latin typeface="Simplified Arabic"/>
              <a:ea typeface="Times New Roman" panose="02020603050405020304" pitchFamily="18" charset="0"/>
              <a:cs typeface="Arial" panose="020B0604020202020204" pitchFamily="34" charset="0"/>
            </a:endParaRPr>
          </a:p>
          <a:p>
            <a:pPr marL="0" lvl="0" indent="0" algn="r" rtl="1" eaLnBrk="0" fontAlgn="base" hangingPunct="0">
              <a:spcBef>
                <a:spcPct val="0"/>
              </a:spcBef>
              <a:spcAft>
                <a:spcPct val="0"/>
              </a:spcAft>
              <a:buClrTx/>
              <a:buSzTx/>
              <a:buNone/>
            </a:pPr>
            <a:r>
              <a:rPr lang="ar-SA" altLang="en-US" sz="2800" dirty="0" smtClean="0">
                <a:solidFill>
                  <a:srgbClr val="000000"/>
                </a:solidFill>
                <a:latin typeface="Simplified Arabic"/>
                <a:ea typeface="Times New Roman" panose="02020603050405020304" pitchFamily="18" charset="0"/>
                <a:cs typeface="Arial" panose="020B0604020202020204" pitchFamily="34" charset="0"/>
              </a:rPr>
              <a:t>هو </a:t>
            </a:r>
            <a:r>
              <a:rPr lang="ar-SA" altLang="en-US" sz="2800" dirty="0">
                <a:solidFill>
                  <a:srgbClr val="000000"/>
                </a:solidFill>
                <a:latin typeface="Simplified Arabic"/>
                <a:ea typeface="Times New Roman" panose="02020603050405020304" pitchFamily="18" charset="0"/>
                <a:cs typeface="Arial" panose="020B0604020202020204" pitchFamily="34" charset="0"/>
              </a:rPr>
              <a:t>مقترح عبارة تحميل خدمات المعلومات الإدارية الشائعة </a:t>
            </a:r>
            <a:r>
              <a:rPr lang="en-US" altLang="en-US" sz="2800" dirty="0">
                <a:solidFill>
                  <a:srgbClr val="000000"/>
                </a:solidFill>
                <a:ea typeface="Times New Roman" panose="02020603050405020304" pitchFamily="18" charset="0"/>
                <a:cs typeface="Simplified Arabic"/>
              </a:rPr>
              <a:t>CMIS</a:t>
            </a:r>
            <a:r>
              <a:rPr lang="ar-SA" altLang="en-US" sz="2800" dirty="0">
                <a:solidFill>
                  <a:srgbClr val="000000"/>
                </a:solidFill>
                <a:latin typeface="Simplified Arabic"/>
                <a:ea typeface="Times New Roman" panose="02020603050405020304" pitchFamily="18" charset="0"/>
                <a:cs typeface="Arial" panose="020B0604020202020204" pitchFamily="34" charset="0"/>
              </a:rPr>
              <a:t> فوق قمة طبقة بروتوكول النقل </a:t>
            </a:r>
            <a:r>
              <a:rPr lang="en-US" altLang="en-US" sz="2800" dirty="0">
                <a:solidFill>
                  <a:srgbClr val="000000"/>
                </a:solidFill>
                <a:ea typeface="Times New Roman" panose="02020603050405020304" pitchFamily="18" charset="0"/>
                <a:cs typeface="Simplified Arabic"/>
              </a:rPr>
              <a:t>TCP/IP</a:t>
            </a:r>
            <a:r>
              <a:rPr lang="ar-SA" altLang="en-US" sz="2800" dirty="0">
                <a:solidFill>
                  <a:srgbClr val="000000"/>
                </a:solidFill>
                <a:latin typeface="Simplified Arabic"/>
                <a:ea typeface="Times New Roman" panose="02020603050405020304" pitchFamily="18" charset="0"/>
                <a:cs typeface="Arial" panose="020B0604020202020204" pitchFamily="34" charset="0"/>
              </a:rPr>
              <a:t> ، وذلك لبناء خدمات </a:t>
            </a:r>
            <a:r>
              <a:rPr lang="en-US" altLang="en-US" sz="2800" dirty="0">
                <a:solidFill>
                  <a:srgbClr val="000000"/>
                </a:solidFill>
                <a:ea typeface="Times New Roman" panose="02020603050405020304" pitchFamily="18" charset="0"/>
                <a:cs typeface="Simplified Arabic"/>
              </a:rPr>
              <a:t>CMIS</a:t>
            </a:r>
            <a:r>
              <a:rPr lang="ar-SA" altLang="en-US" sz="2800" dirty="0">
                <a:solidFill>
                  <a:srgbClr val="000000"/>
                </a:solidFill>
                <a:latin typeface="Simplified Arabic"/>
                <a:ea typeface="Times New Roman" panose="02020603050405020304" pitchFamily="18" charset="0"/>
                <a:cs typeface="Arial" panose="020B0604020202020204" pitchFamily="34" charset="0"/>
              </a:rPr>
              <a:t> كحل مرحلي </a:t>
            </a:r>
            <a:r>
              <a:rPr lang="en-US" altLang="en-US" sz="2800" dirty="0">
                <a:solidFill>
                  <a:srgbClr val="000000"/>
                </a:solidFill>
                <a:ea typeface="Times New Roman" panose="02020603050405020304" pitchFamily="18" charset="0"/>
                <a:cs typeface="Simplified Arabic"/>
              </a:rPr>
              <a:t>Interim</a:t>
            </a:r>
            <a:r>
              <a:rPr lang="ar-SA" altLang="en-US" sz="2800" dirty="0">
                <a:solidFill>
                  <a:srgbClr val="000000"/>
                </a:solidFill>
                <a:latin typeface="Simplified Arabic"/>
                <a:ea typeface="Times New Roman" panose="02020603050405020304" pitchFamily="18" charset="0"/>
                <a:cs typeface="Arial" panose="020B0604020202020204" pitchFamily="34" charset="0"/>
              </a:rPr>
              <a:t> مؤقت. ويوضح الشكل3.9 بروتوكول </a:t>
            </a:r>
            <a:r>
              <a:rPr lang="en-US" altLang="en-US" sz="2800" dirty="0">
                <a:solidFill>
                  <a:srgbClr val="000000"/>
                </a:solidFill>
                <a:ea typeface="Times New Roman" panose="02020603050405020304" pitchFamily="18" charset="0"/>
                <a:cs typeface="Simplified Arabic"/>
              </a:rPr>
              <a:t>CMOT</a:t>
            </a:r>
            <a:r>
              <a:rPr lang="ar-SA" altLang="en-US" sz="2800" dirty="0">
                <a:solidFill>
                  <a:srgbClr val="000000"/>
                </a:solidFill>
                <a:latin typeface="Simplified Arabic"/>
                <a:ea typeface="Times New Roman" panose="02020603050405020304" pitchFamily="18" charset="0"/>
                <a:cs typeface="Arial" panose="020B0604020202020204" pitchFamily="34" charset="0"/>
              </a:rPr>
              <a:t> في النموذج المرجعي </a:t>
            </a:r>
            <a:r>
              <a:rPr lang="en-US" altLang="en-US" sz="2800" dirty="0">
                <a:solidFill>
                  <a:srgbClr val="000000"/>
                </a:solidFill>
                <a:ea typeface="Times New Roman" panose="02020603050405020304" pitchFamily="18" charset="0"/>
                <a:cs typeface="Simplified Arabic"/>
              </a:rPr>
              <a:t>OSI</a:t>
            </a:r>
            <a:r>
              <a:rPr lang="ar-SA" altLang="en-US" sz="2800" dirty="0">
                <a:solidFill>
                  <a:srgbClr val="000000"/>
                </a:solidFill>
                <a:latin typeface="Simplified Arabic"/>
                <a:ea typeface="Times New Roman" panose="02020603050405020304" pitchFamily="18" charset="0"/>
                <a:cs typeface="Arial" panose="020B0604020202020204" pitchFamily="34" charset="0"/>
              </a:rPr>
              <a:t> ذي المستويات السبع. وأن بروتوكولات التطبيق المستخدمة بواسطة </a:t>
            </a:r>
            <a:r>
              <a:rPr lang="en-US" altLang="en-US" sz="2800" dirty="0">
                <a:solidFill>
                  <a:srgbClr val="000000"/>
                </a:solidFill>
                <a:ea typeface="Times New Roman" panose="02020603050405020304" pitchFamily="18" charset="0"/>
                <a:cs typeface="Simplified Arabic"/>
              </a:rPr>
              <a:t>CMIS</a:t>
            </a:r>
            <a:r>
              <a:rPr lang="ar-SA" altLang="en-US" sz="2800" dirty="0">
                <a:solidFill>
                  <a:srgbClr val="000000"/>
                </a:solidFill>
                <a:latin typeface="Simplified Arabic"/>
                <a:ea typeface="Times New Roman" panose="02020603050405020304" pitchFamily="18" charset="0"/>
                <a:cs typeface="Arial" panose="020B0604020202020204" pitchFamily="34" charset="0"/>
              </a:rPr>
              <a:t>، لا تتغير مع تنفيذ أداء  </a:t>
            </a:r>
            <a:r>
              <a:rPr lang="en-US" altLang="en-US" sz="2800" dirty="0">
                <a:solidFill>
                  <a:srgbClr val="000000"/>
                </a:solidFill>
                <a:ea typeface="Times New Roman" panose="02020603050405020304" pitchFamily="18" charset="0"/>
                <a:cs typeface="Simplified Arabic"/>
              </a:rPr>
              <a:t>CMOT</a:t>
            </a:r>
            <a:r>
              <a:rPr lang="ar-SA" altLang="en-US" sz="2800" dirty="0">
                <a:solidFill>
                  <a:srgbClr val="000000"/>
                </a:solidFill>
                <a:latin typeface="Simplified Arabic"/>
                <a:ea typeface="Times New Roman" panose="02020603050405020304" pitchFamily="18" charset="0"/>
                <a:cs typeface="Arial" panose="020B0604020202020204" pitchFamily="34" charset="0"/>
              </a:rPr>
              <a:t>. </a:t>
            </a:r>
            <a:endParaRPr lang="en-US" altLang="en-US" sz="1200" dirty="0"/>
          </a:p>
          <a:p>
            <a:pPr marL="0" lvl="0" indent="0" algn="r" rtl="1" eaLnBrk="0" fontAlgn="base" hangingPunct="0">
              <a:spcBef>
                <a:spcPct val="0"/>
              </a:spcBef>
              <a:spcAft>
                <a:spcPct val="0"/>
              </a:spcAft>
              <a:buClrTx/>
              <a:buSzTx/>
              <a:buNone/>
            </a:pPr>
            <a:endParaRPr lang="en-US" alt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8433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1" descr="5235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r="38203"/>
          <a:stretch>
            <a:fillRect/>
          </a:stretch>
        </p:blipFill>
        <p:spPr bwMode="auto">
          <a:xfrm>
            <a:off x="3166311" y="1935163"/>
            <a:ext cx="2811377" cy="4389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6742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lgn="r" rtl="1"/>
            <a:r>
              <a:rPr lang="ar-SA" dirty="0"/>
              <a:t>حيث يعتمد بروتوكول </a:t>
            </a:r>
            <a:r>
              <a:rPr lang="en-US" dirty="0"/>
              <a:t>CMOT</a:t>
            </a:r>
            <a:r>
              <a:rPr lang="ar-SA" dirty="0"/>
              <a:t> على البروتوكولات (</a:t>
            </a:r>
            <a:r>
              <a:rPr lang="en-US" dirty="0"/>
              <a:t>CMISE, ACSE, ROSE</a:t>
            </a:r>
            <a:r>
              <a:rPr lang="ar-SA" dirty="0"/>
              <a:t>). على الرغم من ذلك، بدلا من الانتظار لبناء طبقة بروتوكول العرض </a:t>
            </a:r>
            <a:r>
              <a:rPr lang="en-US" dirty="0"/>
              <a:t>Presentation OSI-</a:t>
            </a:r>
            <a:r>
              <a:rPr lang="ar-SA" dirty="0"/>
              <a:t>، فإن بروتوكول </a:t>
            </a:r>
            <a:r>
              <a:rPr lang="en-US" dirty="0"/>
              <a:t>CMOT</a:t>
            </a:r>
            <a:r>
              <a:rPr lang="ar-SA" dirty="0"/>
              <a:t> يحتاج استخدام بروتوكول آخر على نفس الطبقة للنموذج المرجعي </a:t>
            </a:r>
            <a:r>
              <a:rPr lang="en-US" dirty="0"/>
              <a:t>OSI</a:t>
            </a:r>
            <a:r>
              <a:rPr lang="ar-SA" dirty="0"/>
              <a:t>. ويسمى هذا البروتوكول "بروتوكول العرض الخفيف "</a:t>
            </a:r>
            <a:r>
              <a:rPr lang="en-US" dirty="0"/>
              <a:t>Lightweight Presentation Protocol (LPP)</a:t>
            </a:r>
            <a:r>
              <a:rPr lang="ar-SA" dirty="0"/>
              <a:t>. وهذا البروتوكول </a:t>
            </a:r>
            <a:r>
              <a:rPr lang="en-US" dirty="0"/>
              <a:t>LPP</a:t>
            </a:r>
            <a:r>
              <a:rPr lang="ar-SA" dirty="0"/>
              <a:t> يعمل كوحدة بينية لكل من بروتوكولات طبقة النقل الشائعة وهما </a:t>
            </a:r>
            <a:r>
              <a:rPr lang="en-US" dirty="0"/>
              <a:t>TCP, UDP</a:t>
            </a:r>
            <a:r>
              <a:rPr lang="ar-SA" dirty="0"/>
              <a:t> الذان يستخدمان بروتوكول الشبكة </a:t>
            </a:r>
            <a:r>
              <a:rPr lang="en-US" dirty="0"/>
              <a:t>IP</a:t>
            </a:r>
            <a:r>
              <a:rPr lang="ar-SA" dirty="0"/>
              <a:t> في عملية الإرسال.</a:t>
            </a:r>
            <a:endParaRPr lang="en-US" dirty="0"/>
          </a:p>
          <a:p>
            <a:pPr algn="r" rtl="1"/>
            <a:r>
              <a:rPr lang="ar-SA" dirty="0"/>
              <a:t>إن النظام الذي يلتزم بمواصفات البروتوكول </a:t>
            </a:r>
            <a:r>
              <a:rPr lang="en-US" dirty="0"/>
              <a:t>CMOT</a:t>
            </a:r>
            <a:r>
              <a:rPr lang="ar-SA" dirty="0"/>
              <a:t> ينبغي أن يحقق الأداء الذي يميز المرافقات </a:t>
            </a:r>
            <a:r>
              <a:rPr lang="en-US" dirty="0"/>
              <a:t>)  Associations </a:t>
            </a:r>
            <a:r>
              <a:rPr lang="ar-SA" dirty="0"/>
              <a:t>التي تم شرحها سابقاً في بروتوكول </a:t>
            </a:r>
            <a:r>
              <a:rPr lang="en-US" dirty="0"/>
              <a:t>CMIP</a:t>
            </a:r>
            <a:r>
              <a:rPr lang="ar-SA" dirty="0"/>
              <a:t>) وذلك مع النظم المفتوحة. وينبغي على هذا النظام أيضا أن يدعم فقط نوع المرافق المناسب للنظام.</a:t>
            </a:r>
            <a:endParaRPr lang="en-US" dirty="0"/>
          </a:p>
          <a:p>
            <a:pPr algn="r"/>
            <a:endParaRPr lang="en-US" dirty="0"/>
          </a:p>
        </p:txBody>
      </p:sp>
    </p:spTree>
    <p:extLst>
      <p:ext uri="{BB962C8B-B14F-4D97-AF65-F5344CB8AC3E}">
        <p14:creationId xmlns:p14="http://schemas.microsoft.com/office/powerpoint/2010/main" val="3877037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en-US" b="1" dirty="0"/>
              <a:t> </a:t>
            </a:r>
            <a:r>
              <a:rPr lang="ar-SA" b="1" u="sng" dirty="0"/>
              <a:t>وتشمل هذه المرافقات ما يلي:</a:t>
            </a:r>
            <a:endParaRPr lang="en-US" dirty="0"/>
          </a:p>
          <a:p>
            <a:pPr lvl="0" algn="r" rtl="1"/>
            <a:r>
              <a:rPr lang="ar-SA" dirty="0"/>
              <a:t>الحدث  </a:t>
            </a:r>
            <a:r>
              <a:rPr lang="en-US" dirty="0"/>
              <a:t>event</a:t>
            </a:r>
            <a:r>
              <a:rPr lang="ar-SA" dirty="0"/>
              <a:t> .</a:t>
            </a:r>
            <a:endParaRPr lang="en-US" dirty="0"/>
          </a:p>
          <a:p>
            <a:pPr lvl="0" algn="r" rtl="1"/>
            <a:r>
              <a:rPr lang="ar-SA" dirty="0"/>
              <a:t>مراقب/الحدث </a:t>
            </a:r>
            <a:r>
              <a:rPr lang="en-US" dirty="0"/>
              <a:t>event/monitor</a:t>
            </a:r>
            <a:r>
              <a:rPr lang="ar-SA" dirty="0"/>
              <a:t> .</a:t>
            </a:r>
            <a:endParaRPr lang="en-US" dirty="0"/>
          </a:p>
          <a:p>
            <a:pPr lvl="0" algn="r" rtl="1"/>
            <a:r>
              <a:rPr lang="ar-SA" dirty="0"/>
              <a:t>تحكم/المراقب </a:t>
            </a:r>
            <a:r>
              <a:rPr lang="en-US" dirty="0"/>
              <a:t>monitor/control</a:t>
            </a:r>
            <a:r>
              <a:rPr lang="ar-SA" dirty="0"/>
              <a:t> .</a:t>
            </a:r>
            <a:endParaRPr lang="en-US" dirty="0"/>
          </a:p>
          <a:p>
            <a:pPr lvl="0" algn="r" rtl="1"/>
            <a:r>
              <a:rPr lang="ar-SA" dirty="0"/>
              <a:t>الوكيل/المدير الكامل  </a:t>
            </a:r>
            <a:r>
              <a:rPr lang="en-US" dirty="0"/>
              <a:t>full manager/agent</a:t>
            </a:r>
            <a:r>
              <a:rPr lang="ar-SA" dirty="0"/>
              <a:t> .</a:t>
            </a:r>
            <a:endParaRPr lang="en-US" dirty="0"/>
          </a:p>
          <a:p>
            <a:pPr algn="r" rtl="1"/>
            <a:r>
              <a:rPr lang="ar-SA" dirty="0"/>
              <a:t>إن أحد المشاكل المجهدة لاستخدام بروتوكول </a:t>
            </a:r>
            <a:r>
              <a:rPr lang="en-US" dirty="0"/>
              <a:t>CMOT</a:t>
            </a:r>
            <a:r>
              <a:rPr lang="ar-SA" dirty="0"/>
              <a:t>، هو أن العديد من موردي أجهزة إدارة الشبكات، لا يرغبون في بذل الوقت والجهد لبناء حل مؤقت آخر. و بدلا من ذلك، فإن العديد من موردي أجهزة إدارة الشبكات، قاموا بجهود لدعم بروتوكول </a:t>
            </a:r>
            <a:r>
              <a:rPr lang="ar-SA" dirty="0" smtClean="0"/>
              <a:t>“</a:t>
            </a:r>
            <a:r>
              <a:rPr lang="en-US" dirty="0" err="1" smtClean="0"/>
              <a:t>snmp</a:t>
            </a:r>
            <a:r>
              <a:rPr lang="ar-SA" dirty="0" smtClean="0"/>
              <a:t>" </a:t>
            </a:r>
            <a:r>
              <a:rPr lang="ar-SA" dirty="0"/>
              <a:t>. </a:t>
            </a:r>
            <a:endParaRPr lang="en-US" dirty="0"/>
          </a:p>
        </p:txBody>
      </p:sp>
    </p:spTree>
    <p:extLst>
      <p:ext uri="{BB962C8B-B14F-4D97-AF65-F5344CB8AC3E}">
        <p14:creationId xmlns:p14="http://schemas.microsoft.com/office/powerpoint/2010/main" val="1229220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smtClean="0"/>
              <a:t> </a:t>
            </a:r>
            <a:r>
              <a:rPr lang="ar-SA" b="1" dirty="0"/>
              <a:t>بروتوكول </a:t>
            </a:r>
            <a:r>
              <a:rPr lang="en-US" dirty="0"/>
              <a:t>LMMP</a:t>
            </a:r>
            <a:br>
              <a:rPr lang="en-US" dirty="0"/>
            </a:br>
            <a:endParaRPr lang="en-US" dirty="0"/>
          </a:p>
        </p:txBody>
      </p:sp>
      <p:sp>
        <p:nvSpPr>
          <p:cNvPr id="3" name="Content Placeholder 2"/>
          <p:cNvSpPr>
            <a:spLocks noGrp="1"/>
          </p:cNvSpPr>
          <p:nvPr>
            <p:ph idx="1"/>
          </p:nvPr>
        </p:nvSpPr>
        <p:spPr/>
        <p:txBody>
          <a:bodyPr>
            <a:normAutofit/>
          </a:bodyPr>
          <a:lstStyle/>
          <a:p>
            <a:pPr algn="r" rtl="1"/>
            <a:r>
              <a:rPr lang="ar-SA" dirty="0" smtClean="0"/>
              <a:t>هو </a:t>
            </a:r>
            <a:r>
              <a:rPr lang="ar-SA" dirty="0"/>
              <a:t>بروتوكول لإدارة شبكات </a:t>
            </a:r>
            <a:r>
              <a:rPr lang="en-US" dirty="0"/>
              <a:t>LAN MAN</a:t>
            </a:r>
            <a:r>
              <a:rPr lang="ar-SA" dirty="0"/>
              <a:t> ، كمحاولة لتوفير حلاً لإدارة الشبكات في الوسط المحيط للشبكات المحلية </a:t>
            </a:r>
            <a:r>
              <a:rPr lang="en-US" dirty="0"/>
              <a:t>LAN</a:t>
            </a:r>
            <a:r>
              <a:rPr lang="ar-SA" dirty="0"/>
              <a:t>. ويعرف بروتوكول </a:t>
            </a:r>
            <a:r>
              <a:rPr lang="en-US" dirty="0"/>
              <a:t>LMMP</a:t>
            </a:r>
            <a:r>
              <a:rPr lang="ar-SA" dirty="0"/>
              <a:t> رسميا بأنه اتحاد بين خدمات المعلومات الإدارية الشائعة </a:t>
            </a:r>
            <a:r>
              <a:rPr lang="en-US" dirty="0"/>
              <a:t>CMIS</a:t>
            </a:r>
            <a:r>
              <a:rPr lang="ar-SA" dirty="0"/>
              <a:t>،  مع بروتوكول تحكم الربط المنطقي </a:t>
            </a:r>
            <a:r>
              <a:rPr lang="en-US" dirty="0"/>
              <a:t>IEEE 802</a:t>
            </a:r>
            <a:r>
              <a:rPr lang="ar-SA" dirty="0"/>
              <a:t> وهو </a:t>
            </a:r>
            <a:r>
              <a:rPr lang="en-US" dirty="0"/>
              <a:t>CMOL</a:t>
            </a:r>
            <a:r>
              <a:rPr lang="ar-SA" dirty="0" smtClean="0"/>
              <a:t>.</a:t>
            </a:r>
            <a:endParaRPr lang="en-US" dirty="0"/>
          </a:p>
        </p:txBody>
      </p:sp>
    </p:spTree>
    <p:extLst>
      <p:ext uri="{BB962C8B-B14F-4D97-AF65-F5344CB8AC3E}">
        <p14:creationId xmlns:p14="http://schemas.microsoft.com/office/powerpoint/2010/main" val="2750155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r" rtl="1"/>
            <a:r>
              <a:rPr lang="ar-SA" dirty="0"/>
              <a:t>من أمثلة أجهزة الشبكة في الوسط المحيط للشبكات المحلية </a:t>
            </a:r>
            <a:r>
              <a:rPr lang="en-US" dirty="0"/>
              <a:t>LAN</a:t>
            </a:r>
            <a:r>
              <a:rPr lang="ar-SA" dirty="0"/>
              <a:t> هي: </a:t>
            </a:r>
            <a:r>
              <a:rPr lang="en-US" dirty="0" smtClean="0"/>
              <a:t>Source </a:t>
            </a:r>
            <a:r>
              <a:rPr lang="en-US" dirty="0"/>
              <a:t>Route Bridges</a:t>
            </a:r>
            <a:r>
              <a:rPr lang="ar-SA" dirty="0"/>
              <a:t>، </a:t>
            </a:r>
            <a:r>
              <a:rPr lang="ar-SA" dirty="0" smtClean="0"/>
              <a:t>و</a:t>
            </a:r>
            <a:r>
              <a:rPr lang="en-US" dirty="0" smtClean="0"/>
              <a:t>Wiring </a:t>
            </a:r>
            <a:r>
              <a:rPr lang="en-US" dirty="0"/>
              <a:t>Hub</a:t>
            </a:r>
            <a:r>
              <a:rPr lang="ar-SA" dirty="0"/>
              <a:t>، </a:t>
            </a:r>
            <a:r>
              <a:rPr lang="ar-SA" dirty="0" smtClean="0"/>
              <a:t>و</a:t>
            </a:r>
            <a:r>
              <a:rPr lang="en-US" dirty="0" smtClean="0"/>
              <a:t>Repeater</a:t>
            </a:r>
            <a:r>
              <a:rPr lang="ar-SA" dirty="0"/>
              <a:t>. </a:t>
            </a:r>
            <a:endParaRPr lang="en-US" dirty="0"/>
          </a:p>
          <a:p>
            <a:pPr algn="r" rtl="1"/>
            <a:r>
              <a:rPr lang="ar-SA" dirty="0"/>
              <a:t>لقد تم تطوير البروتوكول </a:t>
            </a:r>
            <a:r>
              <a:rPr lang="en-US" dirty="0"/>
              <a:t>LMMP</a:t>
            </a:r>
            <a:r>
              <a:rPr lang="ar-SA" dirty="0"/>
              <a:t> من قبل شركة </a:t>
            </a:r>
            <a:r>
              <a:rPr lang="en-US" dirty="0"/>
              <a:t>3Com Corp</a:t>
            </a:r>
            <a:r>
              <a:rPr lang="ar-SA" dirty="0"/>
              <a:t> ، وشركة </a:t>
            </a:r>
            <a:r>
              <a:rPr lang="en-US" dirty="0"/>
              <a:t>IBM </a:t>
            </a:r>
            <a:r>
              <a:rPr lang="ar-SA" dirty="0"/>
              <a:t>،وتم الاستغناء عن الاحتياج لبروتوكول </a:t>
            </a:r>
            <a:r>
              <a:rPr lang="en-US" dirty="0"/>
              <a:t>OSI</a:t>
            </a:r>
            <a:r>
              <a:rPr lang="ar-SA" dirty="0"/>
              <a:t> في تنفيذ خدمات</a:t>
            </a:r>
            <a:r>
              <a:rPr lang="en-US" dirty="0"/>
              <a:t>CMIS </a:t>
            </a:r>
            <a:r>
              <a:rPr lang="ar-SA" dirty="0"/>
              <a:t>. لأن بروتوكول </a:t>
            </a:r>
            <a:r>
              <a:rPr lang="en-US" dirty="0"/>
              <a:t>LMMP</a:t>
            </a:r>
            <a:r>
              <a:rPr lang="ar-SA" dirty="0"/>
              <a:t> يركب مباشرة فوق قمة طبقة الربط المنطقي </a:t>
            </a:r>
            <a:r>
              <a:rPr lang="en-US" dirty="0"/>
              <a:t>IEEE 802 </a:t>
            </a:r>
            <a:r>
              <a:rPr lang="ar-SA" dirty="0"/>
              <a:t>، التي لا تعتمد  على بروتوكول شبكة محدد، مثل </a:t>
            </a:r>
            <a:r>
              <a:rPr lang="en-US" dirty="0"/>
              <a:t>IP</a:t>
            </a:r>
            <a:r>
              <a:rPr lang="ar-SA" dirty="0"/>
              <a:t> لإجراء عملية الإرسال. </a:t>
            </a:r>
            <a:endParaRPr lang="en-US" dirty="0"/>
          </a:p>
          <a:p>
            <a:endParaRPr lang="en-US" dirty="0"/>
          </a:p>
        </p:txBody>
      </p:sp>
    </p:spTree>
    <p:extLst>
      <p:ext uri="{BB962C8B-B14F-4D97-AF65-F5344CB8AC3E}">
        <p14:creationId xmlns:p14="http://schemas.microsoft.com/office/powerpoint/2010/main" val="1255285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dirty="0"/>
              <a:t>بسبب أن بروتوكول </a:t>
            </a:r>
            <a:r>
              <a:rPr lang="en-US" dirty="0"/>
              <a:t>LMMP</a:t>
            </a:r>
            <a:r>
              <a:rPr lang="ar-SA" dirty="0"/>
              <a:t> لا يحتاج لأي بروتوكول مستوى شبكي، فإنه أسهل في تنفيذه من بروتوكول </a:t>
            </a:r>
            <a:r>
              <a:rPr lang="en-US" dirty="0"/>
              <a:t>CMOT</a:t>
            </a:r>
            <a:r>
              <a:rPr lang="ar-SA" dirty="0"/>
              <a:t>، وبروتوكول</a:t>
            </a:r>
            <a:r>
              <a:rPr lang="en-US" dirty="0"/>
              <a:t>CMIS/CMIP</a:t>
            </a:r>
            <a:r>
              <a:rPr lang="ar-SA" dirty="0"/>
              <a:t>. لكن بدون بروتوكول المستوى الشبكي </a:t>
            </a:r>
            <a:r>
              <a:rPr lang="en-US" dirty="0"/>
              <a:t>Network Layer</a:t>
            </a:r>
            <a:r>
              <a:rPr lang="ar-SA" dirty="0"/>
              <a:t>، الذي هو ضروري لتوفير معلومات تحديد المسارات </a:t>
            </a:r>
            <a:r>
              <a:rPr lang="en-US" dirty="0"/>
              <a:t>Routing</a:t>
            </a:r>
            <a:r>
              <a:rPr lang="ar-SA" dirty="0"/>
              <a:t> في الشبكة؛ فإن رسائل بروتوكول </a:t>
            </a:r>
            <a:r>
              <a:rPr lang="en-US" dirty="0"/>
              <a:t>LMMP</a:t>
            </a:r>
            <a:r>
              <a:rPr lang="ar-SA" dirty="0"/>
              <a:t> لا تستطيع أن تجتاز عائق الموجهات </a:t>
            </a:r>
            <a:r>
              <a:rPr lang="en-US" dirty="0"/>
              <a:t>Routers</a:t>
            </a:r>
            <a:r>
              <a:rPr lang="ar-SA" dirty="0"/>
              <a:t>. على الرغم من ذلك، فإن بناء الوكلاء المعاونين </a:t>
            </a:r>
            <a:r>
              <a:rPr lang="en-US" dirty="0"/>
              <a:t>Proxy Agents</a:t>
            </a:r>
            <a:r>
              <a:rPr lang="ar-SA" dirty="0"/>
              <a:t>، يقوم بنقل معلومات بروتوكول </a:t>
            </a:r>
            <a:r>
              <a:rPr lang="en-US" dirty="0"/>
              <a:t>LMMP</a:t>
            </a:r>
            <a:r>
              <a:rPr lang="ar-SA" dirty="0"/>
              <a:t> خارج حدود الشبكات المحلية متغلبة بذلك على هذه المشكلة</a:t>
            </a:r>
            <a:endParaRPr lang="en-US" dirty="0"/>
          </a:p>
          <a:p>
            <a:pPr algn="r" rtl="1"/>
            <a:endParaRPr lang="en-US" dirty="0"/>
          </a:p>
        </p:txBody>
      </p:sp>
    </p:spTree>
    <p:extLst>
      <p:ext uri="{BB962C8B-B14F-4D97-AF65-F5344CB8AC3E}">
        <p14:creationId xmlns:p14="http://schemas.microsoft.com/office/powerpoint/2010/main" val="4159028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 بعض مشاكل البروتوكول </a:t>
            </a:r>
            <a:r>
              <a:rPr lang="ar-SA" b="1" dirty="0" smtClean="0"/>
              <a:t>“</a:t>
            </a:r>
            <a:r>
              <a:rPr lang="en-US" b="1" dirty="0" smtClean="0"/>
              <a:t>SNMPv1</a:t>
            </a:r>
            <a:r>
              <a:rPr lang="ar-SA" b="1" dirty="0" smtClean="0"/>
              <a:t>" </a:t>
            </a:r>
            <a:endParaRPr lang="en-US" dirty="0"/>
          </a:p>
        </p:txBody>
      </p:sp>
      <p:sp>
        <p:nvSpPr>
          <p:cNvPr id="3" name="Content Placeholder 2"/>
          <p:cNvSpPr>
            <a:spLocks noGrp="1"/>
          </p:cNvSpPr>
          <p:nvPr>
            <p:ph idx="1"/>
          </p:nvPr>
        </p:nvSpPr>
        <p:spPr/>
        <p:txBody>
          <a:bodyPr/>
          <a:lstStyle/>
          <a:p>
            <a:pPr marL="0" indent="0" algn="r" rtl="1">
              <a:buNone/>
            </a:pPr>
            <a:endParaRPr lang="en-US" dirty="0"/>
          </a:p>
          <a:p>
            <a:pPr algn="r" rtl="1"/>
            <a:r>
              <a:rPr lang="ar-SA" dirty="0"/>
              <a:t>على الرغم من كفاءة البروتوكول </a:t>
            </a:r>
            <a:r>
              <a:rPr lang="ar-SA" dirty="0" smtClean="0"/>
              <a:t>"</a:t>
            </a:r>
            <a:r>
              <a:rPr lang="en-US" b="1" dirty="0"/>
              <a:t> SNMPv1 </a:t>
            </a:r>
            <a:r>
              <a:rPr lang="ar-SA" dirty="0" smtClean="0"/>
              <a:t>" </a:t>
            </a:r>
            <a:r>
              <a:rPr lang="ar-SA" dirty="0"/>
              <a:t>في إدارة الشبكة، لكن يوجد به ثلاث مشاكل هي:</a:t>
            </a:r>
            <a:endParaRPr lang="en-US" dirty="0"/>
          </a:p>
          <a:p>
            <a:pPr algn="r" rtl="1"/>
            <a:r>
              <a:rPr lang="ar-SA" dirty="0"/>
              <a:t>-  بروتوكول قياسي للاستخدام، فقط لشبكات </a:t>
            </a:r>
            <a:r>
              <a:rPr lang="en-US" dirty="0"/>
              <a:t>IP</a:t>
            </a:r>
            <a:r>
              <a:rPr lang="ar-SA" dirty="0"/>
              <a:t>. </a:t>
            </a:r>
            <a:endParaRPr lang="en-US" dirty="0"/>
          </a:p>
          <a:p>
            <a:pPr algn="r" rtl="1"/>
            <a:r>
              <a:rPr lang="ar-SA" dirty="0"/>
              <a:t>-  غير كفء في حالة استرجاع المعلومات من الجداول الكبيرة.</a:t>
            </a:r>
            <a:endParaRPr lang="en-US" dirty="0"/>
          </a:p>
          <a:p>
            <a:pPr algn="r" rtl="1"/>
            <a:r>
              <a:rPr lang="ar-SA" dirty="0"/>
              <a:t>-  يستخدم كلمات نصية واضحة للأمن، مما يجعلها نسبيا غير آمنة.</a:t>
            </a:r>
            <a:endParaRPr lang="en-US" dirty="0"/>
          </a:p>
          <a:p>
            <a:pPr algn="r"/>
            <a:endParaRPr lang="en-US" dirty="0"/>
          </a:p>
        </p:txBody>
      </p:sp>
      <p:pic>
        <p:nvPicPr>
          <p:cNvPr id="4" name="Picture 4" descr="C:\Users\mawada\Downloads\2.png"/>
          <p:cNvPicPr>
            <a:picLocks noChangeAspect="1" noChangeArrowheads="1"/>
          </p:cNvPicPr>
          <p:nvPr/>
        </p:nvPicPr>
        <p:blipFill>
          <a:blip r:embed="rId2"/>
          <a:srcRect/>
          <a:stretch>
            <a:fillRect/>
          </a:stretch>
        </p:blipFill>
        <p:spPr bwMode="auto">
          <a:xfrm>
            <a:off x="0" y="0"/>
            <a:ext cx="9144000" cy="6324600"/>
          </a:xfrm>
          <a:prstGeom prst="rect">
            <a:avLst/>
          </a:prstGeom>
          <a:noFill/>
        </p:spPr>
      </p:pic>
    </p:spTree>
    <p:extLst>
      <p:ext uri="{BB962C8B-B14F-4D97-AF65-F5344CB8AC3E}">
        <p14:creationId xmlns:p14="http://schemas.microsoft.com/office/powerpoint/2010/main" val="292082253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ustom 1">
      <a:majorFont>
        <a:latin typeface="Times New Roman"/>
        <a:ea typeface=""/>
        <a:cs typeface=""/>
      </a:majorFont>
      <a:minorFont>
        <a:latin typeface="Times New Roman"/>
        <a:ea typeface=""/>
        <a:cs typeface=""/>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4434</TotalTime>
  <Words>1378</Words>
  <Application>Microsoft Office PowerPoint</Application>
  <PresentationFormat>On-screen Show (4:3)</PresentationFormat>
  <Paragraphs>97</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Simplified Arabic</vt:lpstr>
      <vt:lpstr>Times New Roman</vt:lpstr>
      <vt:lpstr>Traditional Arabic</vt:lpstr>
      <vt:lpstr>Wingdings 2</vt:lpstr>
      <vt:lpstr>Flow</vt:lpstr>
      <vt:lpstr>إدارة وإستخدام الشبكات </vt:lpstr>
      <vt:lpstr>أهداف الوحدة :-</vt:lpstr>
      <vt:lpstr>المرافقات الإدارية Management Associations </vt:lpstr>
      <vt:lpstr>PowerPoint Presentation</vt:lpstr>
      <vt:lpstr>PowerPoint Presentation</vt:lpstr>
      <vt:lpstr>PowerPoint Presentation</vt:lpstr>
      <vt:lpstr>PowerPoint Presentation</vt:lpstr>
      <vt:lpstr>قوائم الدخول Access Lists </vt:lpstr>
      <vt:lpstr>بروتوكول CMIP</vt:lpstr>
      <vt:lpstr>PowerPoint Presentation</vt:lpstr>
      <vt:lpstr>PowerPoint Presentation</vt:lpstr>
      <vt:lpstr>الجدول3.2 قوائم الخدمات CMIS وما يقابلها من وحدات بيانات CMIP</vt:lpstr>
      <vt:lpstr> مشاكل بروتوكول CMIS/CMIP</vt:lpstr>
      <vt:lpstr>PowerPoint Presentation</vt:lpstr>
      <vt:lpstr>بروتوكول "CMOT"  و بروتوكول "LMMP"</vt:lpstr>
      <vt:lpstr>PowerPoint Presentation</vt:lpstr>
      <vt:lpstr>PowerPoint Presentation</vt:lpstr>
      <vt:lpstr>PowerPoint Presentation</vt:lpstr>
      <vt:lpstr> بروتوكول LMMP </vt:lpstr>
      <vt:lpstr>PowerPoint Presentation</vt:lpstr>
      <vt:lpstr>PowerPoint Presentation</vt:lpstr>
      <vt:lpstr> بعض مشاكل البروتوكول “SNMPv1"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mawadaadam@gmail.com</dc:creator>
  <cp:lastModifiedBy>hp</cp:lastModifiedBy>
  <cp:revision>53</cp:revision>
  <dcterms:created xsi:type="dcterms:W3CDTF">2022-06-25T16:03:02Z</dcterms:created>
  <dcterms:modified xsi:type="dcterms:W3CDTF">2024-05-14T07:09:51Z</dcterms:modified>
</cp:coreProperties>
</file>