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sldIdLst>
    <p:sldId id="258" r:id="rId4"/>
    <p:sldId id="260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78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2F6E-351C-45E0-B8B5-7B8E6F0348A8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8BE-251D-474E-8D62-C5E15FDD263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2F6E-351C-45E0-B8B5-7B8E6F0348A8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8BE-251D-474E-8D62-C5E15FDD26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2F6E-351C-45E0-B8B5-7B8E6F0348A8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8BE-251D-474E-8D62-C5E15FDD263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2F6E-351C-45E0-B8B5-7B8E6F0348A8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8BE-251D-474E-8D62-C5E15FDD26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2F6E-351C-45E0-B8B5-7B8E6F0348A8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8BE-251D-474E-8D62-C5E15FDD26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2F6E-351C-45E0-B8B5-7B8E6F0348A8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8BE-251D-474E-8D62-C5E15FDD26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2F6E-351C-45E0-B8B5-7B8E6F0348A8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8BE-251D-474E-8D62-C5E15FDD26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2F6E-351C-45E0-B8B5-7B8E6F0348A8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8BE-251D-474E-8D62-C5E15FDD26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2F6E-351C-45E0-B8B5-7B8E6F0348A8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4F788BE-251D-474E-8D62-C5E15FDD263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2F6E-351C-45E0-B8B5-7B8E6F0348A8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8BE-251D-474E-8D62-C5E15FDD26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62F6E-351C-45E0-B8B5-7B8E6F0348A8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788BE-251D-474E-8D62-C5E15FDD26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C5D1D7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C5D1D7">
                  <a:shade val="90000"/>
                </a:srgb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C5D1D7">
                  <a:shade val="9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C5D1D7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C5D1D7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396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92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C5D1D7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C5D1D7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C5D1D7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C5D1D7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C5D1D7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152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87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033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8125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7528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119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24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915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081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C5D1D7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C5D1D7">
                  <a:shade val="90000"/>
                </a:srgb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C5D1D7">
                  <a:shade val="9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C5D1D7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C5D1D7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997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0253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C5D1D7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C5D1D7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C5D1D7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C5D1D7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C5D1D7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199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9802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6558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7120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0672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8391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283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6487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41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5B62F6E-351C-45E0-B8B5-7B8E6F0348A8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4F788BE-251D-474E-8D62-C5E15FDD2638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355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3598E33-A2AB-4C76-A064-386F6B304DF9}" type="datetimeFigureOut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7/3/2022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B053F1B-4C28-4940-9DBE-82A684CF08F7}" type="slidenum">
              <a:rPr lang="en-US" smtClean="0">
                <a:solidFill>
                  <a:srgbClr val="646B86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646B86">
                  <a:shade val="90000"/>
                </a:srgb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067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dirty="0" smtClean="0"/>
              <a:t>إدارة وإستخدام الشبكات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733800"/>
            <a:ext cx="7854696" cy="2590800"/>
          </a:xfrm>
        </p:spPr>
        <p:txBody>
          <a:bodyPr>
            <a:normAutofit/>
          </a:bodyPr>
          <a:lstStyle/>
          <a:p>
            <a:pPr algn="ctr" rtl="1"/>
            <a:r>
              <a:rPr lang="ar-SA" dirty="0" smtClean="0"/>
              <a:t> بروتوكول ادارة الشبكات البسيط (</a:t>
            </a:r>
            <a:r>
              <a:rPr lang="ar-SA" dirty="0" smtClean="0"/>
              <a:t>الاصدارالثاني</a:t>
            </a:r>
            <a:r>
              <a:rPr lang="ar-SA" dirty="0" smtClean="0"/>
              <a:t>)</a:t>
            </a:r>
          </a:p>
          <a:p>
            <a:pPr algn="ctr" rtl="1"/>
            <a:r>
              <a:rPr lang="ar-SA" dirty="0" smtClean="0"/>
              <a:t>محاضرة رقم </a:t>
            </a:r>
            <a:r>
              <a:rPr lang="ar-SA" dirty="0" smtClean="0"/>
              <a:t>(</a:t>
            </a:r>
            <a:r>
              <a:rPr lang="en-US" dirty="0" smtClean="0"/>
              <a:t>2</a:t>
            </a:r>
            <a:r>
              <a:rPr lang="ar-SA" dirty="0" smtClean="0"/>
              <a:t>)</a:t>
            </a:r>
            <a:endParaRPr lang="ar-SA" dirty="0" smtClean="0"/>
          </a:p>
          <a:p>
            <a:pPr algn="ctr" rtl="1"/>
            <a:endParaRPr lang="ar-SA" dirty="0" smtClean="0"/>
          </a:p>
          <a:p>
            <a:pPr algn="ctr" rtl="1"/>
            <a:r>
              <a:rPr lang="ar-SA" dirty="0" smtClean="0"/>
              <a:t>					اعداد :</a:t>
            </a:r>
          </a:p>
          <a:p>
            <a:pPr algn="l" rtl="1"/>
            <a:r>
              <a:rPr lang="ar-SA" dirty="0" smtClean="0"/>
              <a:t>أ . مودة ادم محمد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82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ar-SA" dirty="0" smtClean="0"/>
              <a:t>المحتويات: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11480" lvl="1" indent="0" algn="r" rtl="1">
              <a:buNone/>
            </a:pPr>
            <a:r>
              <a:rPr lang="ar-SA" b="1" dirty="0"/>
              <a:t>. الإصدار الثاني للبروتوكول " </a:t>
            </a:r>
            <a:r>
              <a:rPr lang="en-US" dirty="0"/>
              <a:t>SNMPv2</a:t>
            </a:r>
            <a:r>
              <a:rPr lang="en-US" b="1" dirty="0"/>
              <a:t> </a:t>
            </a:r>
            <a:endParaRPr lang="ar-SA" b="1" dirty="0"/>
          </a:p>
          <a:p>
            <a:pPr marL="411480" lvl="1" indent="0" algn="r" rtl="1">
              <a:buNone/>
            </a:pPr>
            <a:r>
              <a:rPr lang="ar-SA" dirty="0" smtClean="0"/>
              <a:t>  تحسين </a:t>
            </a:r>
            <a:r>
              <a:rPr lang="ar-SA" dirty="0"/>
              <a:t>هيكل المعلومات الإدارية "</a:t>
            </a:r>
            <a:r>
              <a:rPr lang="en-US" dirty="0"/>
              <a:t>SMI</a:t>
            </a:r>
            <a:r>
              <a:rPr lang="ar-SA" dirty="0"/>
              <a:t>" </a:t>
            </a:r>
          </a:p>
          <a:p>
            <a:pPr marL="411480" lvl="1" indent="0" algn="r" rtl="1">
              <a:buNone/>
            </a:pPr>
            <a:r>
              <a:rPr lang="ar-SA" dirty="0" smtClean="0"/>
              <a:t>  أنواع </a:t>
            </a:r>
            <a:r>
              <a:rPr lang="ar-SA" dirty="0"/>
              <a:t>الرسائل و ضبط المعلومات والحصول عليها </a:t>
            </a:r>
          </a:p>
          <a:p>
            <a:pPr marL="411480" lvl="1" indent="0" algn="r" rtl="1">
              <a:buNone/>
            </a:pPr>
            <a:r>
              <a:rPr lang="ar-SA" dirty="0" smtClean="0"/>
              <a:t>  تدعيم </a:t>
            </a:r>
            <a:r>
              <a:rPr lang="ar-SA" dirty="0"/>
              <a:t>البروتوكولات المتعددة </a:t>
            </a:r>
            <a:r>
              <a:rPr lang="en-US" dirty="0"/>
              <a:t>Multiprotocol </a:t>
            </a:r>
            <a:r>
              <a:rPr lang="ar-SA" dirty="0" smtClean="0"/>
              <a:t>     </a:t>
            </a:r>
          </a:p>
          <a:p>
            <a:pPr marL="411480" lvl="1" indent="0" algn="r" rtl="1">
              <a:buNone/>
            </a:pPr>
            <a:r>
              <a:rPr lang="ar-SA" dirty="0" smtClean="0"/>
              <a:t>  </a:t>
            </a:r>
            <a:r>
              <a:rPr lang="ar-SA" dirty="0"/>
              <a:t>وسائل الأمن في البروتوكول </a:t>
            </a:r>
            <a:r>
              <a:rPr lang="en-US" dirty="0"/>
              <a:t>SNMPv2</a:t>
            </a:r>
            <a:r>
              <a:rPr lang="ar-SA" dirty="0"/>
              <a:t> </a:t>
            </a:r>
          </a:p>
          <a:p>
            <a:pPr marL="411480" lvl="1" indent="0" algn="r" rtl="1">
              <a:buNone/>
            </a:pPr>
            <a:r>
              <a:rPr lang="ar-SA" dirty="0" smtClean="0"/>
              <a:t> مرئية </a:t>
            </a:r>
            <a:r>
              <a:rPr lang="ar-SA" dirty="0"/>
              <a:t>قاعدة المعلومات الإدارية </a:t>
            </a:r>
            <a:r>
              <a:rPr lang="en-US" b="1" dirty="0"/>
              <a:t>MIB View</a:t>
            </a:r>
            <a:endParaRPr lang="ar-SA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4820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r" rtl="1">
              <a:spcBef>
                <a:spcPct val="0"/>
              </a:spcBef>
            </a:pPr>
            <a:r>
              <a:rPr lang="ar-SA" sz="5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الإصدار الثاني للبروتوكول " </a:t>
            </a:r>
            <a:r>
              <a:rPr lang="en-US" sz="5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SNMPv2 </a:t>
            </a:r>
            <a:r>
              <a:rPr lang="ar-SA" sz="3200" b="1" dirty="0" smtClean="0"/>
              <a:t/>
            </a:r>
            <a:br>
              <a:rPr lang="ar-SA" sz="3200" b="1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en-US" dirty="0" smtClean="0"/>
          </a:p>
          <a:p>
            <a:pPr algn="r" rtl="1"/>
            <a:r>
              <a:rPr lang="ar-SA" dirty="0" smtClean="0"/>
              <a:t>يؤدي </a:t>
            </a:r>
            <a:r>
              <a:rPr lang="ar-SA" dirty="0"/>
              <a:t>الإصدار الثاني </a:t>
            </a:r>
            <a:r>
              <a:rPr lang="ar-SA" dirty="0" smtClean="0"/>
              <a:t>للبروتوكول</a:t>
            </a:r>
            <a:r>
              <a:rPr lang="en-US" dirty="0" smtClean="0"/>
              <a:t>  </a:t>
            </a:r>
            <a:r>
              <a:rPr lang="ar-SA" dirty="0" smtClean="0"/>
              <a:t>(</a:t>
            </a:r>
            <a:r>
              <a:rPr lang="en-US" dirty="0" smtClean="0"/>
              <a:t>SNMPv2</a:t>
            </a:r>
            <a:r>
              <a:rPr lang="ar-SA" dirty="0" smtClean="0"/>
              <a:t>)، </a:t>
            </a:r>
            <a:r>
              <a:rPr lang="ar-SA" dirty="0"/>
              <a:t>نفس الوظائف الأساسية التي يؤديها الإصدار الأول للبروتوكول </a:t>
            </a:r>
            <a:r>
              <a:rPr lang="ar-SA" dirty="0" smtClean="0"/>
              <a:t>التي </a:t>
            </a:r>
            <a:r>
              <a:rPr lang="ar-SA" dirty="0"/>
              <a:t>تم شرحها سابقا، والخاصة بالاستفسار وتغيير البيانات في قاعدة المعلومات الإدارية عن أجهزة الشبكة. وقد تم تطوير هذا الإصدار كي يتغلب على المشاكل التي يعاني منها الإصدار الأول للبروتوكول </a:t>
            </a:r>
            <a:r>
              <a:rPr lang="ar-SA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4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 smtClean="0"/>
              <a:t>خصائص الاصدار الثاني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62200"/>
            <a:ext cx="8124168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523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rtl="1"/>
            <a:r>
              <a:rPr lang="ar-SA" b="1" dirty="0"/>
              <a:t>تحسين هيكل المعلومات الإدارية "</a:t>
            </a:r>
            <a:r>
              <a:rPr lang="en-US" dirty="0"/>
              <a:t>SMI</a:t>
            </a:r>
            <a:r>
              <a:rPr lang="ar-SA" b="1" dirty="0"/>
              <a:t>"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r" rtl="1"/>
            <a:r>
              <a:rPr lang="ar-SA" dirty="0" smtClean="0"/>
              <a:t>إن </a:t>
            </a:r>
            <a:r>
              <a:rPr lang="ar-SA" dirty="0"/>
              <a:t>هيكل المعلومات الإدارية "</a:t>
            </a:r>
            <a:r>
              <a:rPr lang="en-US" dirty="0"/>
              <a:t>SMI</a:t>
            </a:r>
            <a:r>
              <a:rPr lang="ar-SA" dirty="0"/>
              <a:t>" القياسية المستخدم في الإصدار الأول للبروتوكول </a:t>
            </a:r>
            <a:r>
              <a:rPr lang="ar-SA" dirty="0" smtClean="0"/>
              <a:t>يوجد </a:t>
            </a:r>
            <a:r>
              <a:rPr lang="ar-SA" dirty="0"/>
              <a:t>به بعض العيوب </a:t>
            </a:r>
            <a:r>
              <a:rPr lang="ar-SA" dirty="0" smtClean="0"/>
              <a:t>. </a:t>
            </a:r>
            <a:r>
              <a:rPr lang="ar-SA" dirty="0"/>
              <a:t>من ضمن هذه العيوب أنه يتم تمثيل الرمز بعدد طوله 32 معلومة </a:t>
            </a:r>
            <a:r>
              <a:rPr lang="en-US" dirty="0"/>
              <a:t>bit</a:t>
            </a:r>
            <a:r>
              <a:rPr lang="ar-SA" dirty="0"/>
              <a:t> ، ولهذا فإن هذا البروتوكول يحتوي على أقصى قيمة عدد صحيح "غير رمزي </a:t>
            </a:r>
            <a:r>
              <a:rPr lang="en-US" dirty="0"/>
              <a:t>unsigned</a:t>
            </a:r>
            <a:r>
              <a:rPr lang="ar-SA" dirty="0"/>
              <a:t>" تكون قيمته تساوي </a:t>
            </a:r>
            <a:r>
              <a:rPr lang="ar-SA" dirty="0" smtClean="0"/>
              <a:t>(       )، </a:t>
            </a:r>
            <a:r>
              <a:rPr lang="ar-SA" dirty="0"/>
              <a:t>ولا يميز بين الأعداد الصحيحة "الرمزية </a:t>
            </a:r>
            <a:r>
              <a:rPr lang="en-US" dirty="0"/>
              <a:t>signed</a:t>
            </a:r>
            <a:r>
              <a:rPr lang="ar-SA" dirty="0"/>
              <a:t>" وغير رمزية "</a:t>
            </a:r>
            <a:r>
              <a:rPr lang="en-US" dirty="0"/>
              <a:t>unsigned</a:t>
            </a:r>
            <a:r>
              <a:rPr lang="ar-SA" dirty="0"/>
              <a:t>"، وهو يستخدم فقط للتعبير عن عنوان الشبكات التي تستخدم بروتوكول </a:t>
            </a:r>
            <a:r>
              <a:rPr lang="en-US" dirty="0"/>
              <a:t>IP</a:t>
            </a:r>
            <a:r>
              <a:rPr lang="ar-SA" dirty="0"/>
              <a:t>. </a:t>
            </a:r>
            <a:endParaRPr lang="ar-SA" dirty="0" smtClean="0"/>
          </a:p>
          <a:p>
            <a:pPr algn="r" rtl="1"/>
            <a:r>
              <a:rPr lang="ar-SA" dirty="0" smtClean="0"/>
              <a:t>بينما </a:t>
            </a:r>
            <a:r>
              <a:rPr lang="ar-SA" dirty="0"/>
              <a:t>الإصدار الثاني </a:t>
            </a:r>
            <a:r>
              <a:rPr lang="ar-SA" dirty="0" smtClean="0"/>
              <a:t>للبروتوكول يسمح </a:t>
            </a:r>
            <a:r>
              <a:rPr lang="ar-SA" dirty="0"/>
              <a:t>لأعداد صحيحة طولها 64 معلومة </a:t>
            </a:r>
            <a:r>
              <a:rPr lang="en-US" dirty="0"/>
              <a:t>bits</a:t>
            </a:r>
            <a:r>
              <a:rPr lang="ar-SA" dirty="0"/>
              <a:t>، وبذلك تزداد  القيمة العظمى للأعداد الصحيحة غير رمزية "</a:t>
            </a:r>
            <a:r>
              <a:rPr lang="en-US" dirty="0"/>
              <a:t>unsigned</a:t>
            </a:r>
            <a:r>
              <a:rPr lang="ar-SA" dirty="0"/>
              <a:t> لتصبح </a:t>
            </a:r>
            <a:r>
              <a:rPr lang="ar-SA" dirty="0" smtClean="0"/>
              <a:t>قيمتها(         )، </a:t>
            </a:r>
            <a:r>
              <a:rPr lang="ar-SA" dirty="0"/>
              <a:t>ويطلق عليها اسم </a:t>
            </a:r>
            <a:r>
              <a:rPr lang="en-US" dirty="0"/>
              <a:t>counter 64</a:t>
            </a:r>
            <a:r>
              <a:rPr lang="ar-SA" dirty="0"/>
              <a:t> . وتكون هذه القيمة كبيرة وكافية للتعامل مع معلومات العد </a:t>
            </a:r>
            <a:r>
              <a:rPr lang="en-US" dirty="0"/>
              <a:t>count information</a:t>
            </a:r>
            <a:r>
              <a:rPr lang="ar-SA" dirty="0"/>
              <a:t> والتي تسبب مشاكل في الإصدار الأول للبروتوكول </a:t>
            </a:r>
            <a:r>
              <a:rPr lang="ar-SA" dirty="0" smtClean="0"/>
              <a:t>(</a:t>
            </a:r>
            <a:r>
              <a:rPr lang="ar-SA" dirty="0"/>
              <a:t>حيث إنه يخصص 32 </a:t>
            </a:r>
            <a:r>
              <a:rPr lang="en-US" dirty="0"/>
              <a:t>bits</a:t>
            </a:r>
            <a:r>
              <a:rPr lang="ar-SA" dirty="0"/>
              <a:t> لتمثيل طول الرمز).</a:t>
            </a:r>
            <a:endParaRPr lang="en-US" dirty="0"/>
          </a:p>
          <a:p>
            <a:pPr algn="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078906"/>
            <a:ext cx="457200" cy="389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3" y="5009776"/>
            <a:ext cx="542925" cy="363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9705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3600" dirty="0" smtClean="0"/>
              <a:t> </a:t>
            </a:r>
            <a:r>
              <a:rPr lang="ar-SA" sz="3600" dirty="0"/>
              <a:t>أنواع الرسائل و ضبط المعلومات والحصول عليها 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 smtClean="0"/>
              <a:t>تستخدم أنواع متعددة </a:t>
            </a:r>
            <a:r>
              <a:rPr lang="ar-SA" dirty="0"/>
              <a:t>للرسائل الموجودة في الإصدار الأول للبروتوكول </a:t>
            </a:r>
            <a:r>
              <a:rPr lang="ar-SA" dirty="0" smtClean="0"/>
              <a:t> </a:t>
            </a:r>
            <a:r>
              <a:rPr lang="ar-SA" dirty="0"/>
              <a:t>مع الإصدار الثاني. </a:t>
            </a:r>
            <a:endParaRPr lang="en-US" dirty="0" smtClean="0"/>
          </a:p>
          <a:p>
            <a:pPr algn="r" rtl="1"/>
            <a:r>
              <a:rPr lang="ar-SA" dirty="0" smtClean="0"/>
              <a:t>أحد </a:t>
            </a:r>
            <a:r>
              <a:rPr lang="ar-SA" dirty="0"/>
              <a:t>الاختلافات الأساسية بين هذين البروتوكولين  هو أن  الإصدار الأول يستخدم شكل رسالة واحداً لكل الرسائل ماعدا الرسائل </a:t>
            </a:r>
            <a:r>
              <a:rPr lang="en-US" dirty="0"/>
              <a:t>Traps</a:t>
            </a:r>
            <a:r>
              <a:rPr lang="ar-SA" dirty="0"/>
              <a:t>، </a:t>
            </a:r>
            <a:r>
              <a:rPr lang="en-US" dirty="0"/>
              <a:t>Get-Response</a:t>
            </a:r>
            <a:r>
              <a:rPr lang="ar-SA" dirty="0"/>
              <a:t>، بينما  الإصدار الثاني يستخدم شكل رسالة مميزاً لكل الرسائل ماعدا الرسائل </a:t>
            </a:r>
            <a:r>
              <a:rPr lang="en-US" dirty="0"/>
              <a:t>Get Response, Get Bulk Request</a:t>
            </a:r>
            <a:r>
              <a:rPr lang="ar-SA" dirty="0"/>
              <a:t>. الفرق الآخر بين الإصداران هو في كيفية تعامل كل إصدار في إنشاء جداول البيانات ورسائل الخطأ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867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rtl="1"/>
            <a:r>
              <a:rPr lang="ar-SA" b="1" dirty="0"/>
              <a:t>أنواع الرسائل في البروتوكول </a:t>
            </a:r>
            <a:r>
              <a:rPr lang="en-US" dirty="0"/>
              <a:t>SNMPv2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 smtClean="0"/>
              <a:t>يوجد </a:t>
            </a:r>
            <a:r>
              <a:rPr lang="ar-SA" dirty="0"/>
              <a:t>نوعان جديدان من الرسائل التي يستخدمها الإصدار الثاني </a:t>
            </a:r>
            <a:r>
              <a:rPr lang="ar-SA" dirty="0" smtClean="0"/>
              <a:t>للبروتوكول، </a:t>
            </a:r>
            <a:r>
              <a:rPr lang="ar-SA" dirty="0"/>
              <a:t>هما: </a:t>
            </a:r>
            <a:r>
              <a:rPr lang="en-US" dirty="0" err="1"/>
              <a:t>InformRequest</a:t>
            </a:r>
            <a:r>
              <a:rPr lang="en-US" dirty="0"/>
              <a:t>, </a:t>
            </a:r>
            <a:r>
              <a:rPr lang="en-US" dirty="0" err="1"/>
              <a:t>GetBulkRequest</a:t>
            </a:r>
            <a:r>
              <a:rPr lang="en-US" dirty="0"/>
              <a:t> </a:t>
            </a:r>
            <a:r>
              <a:rPr lang="ar-SA" dirty="0"/>
              <a:t> . </a:t>
            </a:r>
            <a:r>
              <a:rPr lang="ar-SA" dirty="0" smtClean="0"/>
              <a:t>كلاهما </a:t>
            </a:r>
            <a:r>
              <a:rPr lang="ar-SA" dirty="0"/>
              <a:t>يؤدي وظائف قيمة للوكيل والمدير. </a:t>
            </a:r>
            <a:endParaRPr lang="en-US" dirty="0" smtClean="0"/>
          </a:p>
          <a:p>
            <a:pPr algn="r" rtl="1"/>
            <a:r>
              <a:rPr lang="ar-SA" dirty="0" smtClean="0"/>
              <a:t>إن </a:t>
            </a:r>
            <a:r>
              <a:rPr lang="ar-SA" dirty="0"/>
              <a:t>أسماء أنواع الرسائل في الإصدار الأول للبروتوكول </a:t>
            </a:r>
            <a:r>
              <a:rPr lang="ar-SA" dirty="0" smtClean="0"/>
              <a:t> </a:t>
            </a:r>
            <a:r>
              <a:rPr lang="ar-SA" dirty="0"/>
              <a:t>يتم توصيلها بواسطة شرطة </a:t>
            </a:r>
            <a:r>
              <a:rPr lang="en-US" dirty="0"/>
              <a:t>Hyphenated</a:t>
            </a:r>
            <a:r>
              <a:rPr lang="ar-SA" dirty="0"/>
              <a:t> بين الكلمات. بينما في  الإصدار الثاني فإن أسماء الرسائل تكتب بدون وصلات بين الكلمات. يوضح الشكل 1.11 شكل هذه الرسائل، ونشرح فيما يلي وظائفها بالتفصيل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816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93" y="1524000"/>
            <a:ext cx="7101007" cy="4838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8649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en-US" dirty="0"/>
              <a:t> </a:t>
            </a:r>
            <a:r>
              <a:rPr lang="ar-SA" dirty="0"/>
              <a:t>(أ) رسالة </a:t>
            </a:r>
            <a:r>
              <a:rPr lang="en-US" b="1" dirty="0" err="1"/>
              <a:t>InformRequest</a:t>
            </a:r>
            <a:r>
              <a:rPr lang="ar-SA" dirty="0"/>
              <a:t>:</a:t>
            </a:r>
            <a:endParaRPr lang="en-US" dirty="0"/>
          </a:p>
          <a:p>
            <a:pPr algn="r" rtl="1"/>
            <a:r>
              <a:rPr lang="ar-SA" dirty="0"/>
              <a:t>يتم إرسال رسالة </a:t>
            </a:r>
            <a:r>
              <a:rPr lang="en-US" dirty="0" err="1"/>
              <a:t>InformRequest</a:t>
            </a:r>
            <a:r>
              <a:rPr lang="ar-SA" dirty="0"/>
              <a:t> من مدير لمدير آخر. ويسمح ذلك لأحد التطبيقات الإدارية بأن ترسل معلومات إلى مدير آخر، وذلك بهدف تحقيق اتصال بين مديرين في الشبكة. </a:t>
            </a:r>
            <a:endParaRPr lang="en-US" dirty="0" smtClean="0"/>
          </a:p>
          <a:p>
            <a:pPr algn="r" rtl="1"/>
            <a:r>
              <a:rPr lang="ar-SA" dirty="0" smtClean="0"/>
              <a:t>وتتيح </a:t>
            </a:r>
            <a:r>
              <a:rPr lang="ar-SA" dirty="0"/>
              <a:t>رسالة </a:t>
            </a:r>
            <a:r>
              <a:rPr lang="en-US" dirty="0" err="1"/>
              <a:t>InformRequest</a:t>
            </a:r>
            <a:r>
              <a:rPr lang="ar-SA" dirty="0"/>
              <a:t> طريقة قياسية لإجراء عمليات الاتصال للنظم الإدارية في الشبكات الهرمية أو الموزعة. حيث يمكن للمؤسسة أن تختار نظام الإدارة الهرمي أو نظام الإدارة الموزع، لتوزيع إنذارات </a:t>
            </a:r>
            <a:r>
              <a:rPr lang="en-US" dirty="0"/>
              <a:t>alarms</a:t>
            </a:r>
            <a:r>
              <a:rPr lang="ar-SA" dirty="0"/>
              <a:t> الشبكة، وإجراء عمليات التصويت </a:t>
            </a:r>
            <a:r>
              <a:rPr lang="en-US" dirty="0"/>
              <a:t>Polling</a:t>
            </a:r>
            <a:r>
              <a:rPr lang="ar-SA" dirty="0"/>
              <a:t>، وتقسيم إدارة الأجهزة المختلفة بين النظم</a:t>
            </a:r>
            <a:r>
              <a:rPr lang="ar-SA" dirty="0" smtClean="0"/>
              <a:t>.</a:t>
            </a:r>
            <a:endParaRPr lang="en-US" dirty="0" smtClean="0"/>
          </a:p>
          <a:p>
            <a:pPr algn="r" rtl="1"/>
            <a:r>
              <a:rPr lang="ar-SA" dirty="0" smtClean="0"/>
              <a:t> </a:t>
            </a:r>
            <a:r>
              <a:rPr lang="ar-SA" dirty="0"/>
              <a:t>كما يمكن أن تسمح لمديرين متعددين لإجراء عملية التهيئة، أو تغيير خريطة الشبكة في نفس </a:t>
            </a:r>
            <a:r>
              <a:rPr lang="ar-SA" dirty="0" smtClean="0"/>
              <a:t>التوقيت.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522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A" dirty="0"/>
              <a:t>(ب) رسالة </a:t>
            </a:r>
            <a:r>
              <a:rPr lang="en-US" b="1" dirty="0"/>
              <a:t> </a:t>
            </a:r>
            <a:r>
              <a:rPr lang="en-US" b="1" dirty="0" err="1"/>
              <a:t>GetBulkRequest</a:t>
            </a:r>
            <a:r>
              <a:rPr lang="en-US" dirty="0"/>
              <a:t> </a:t>
            </a:r>
            <a:r>
              <a:rPr lang="ar-SA" dirty="0"/>
              <a:t>:</a:t>
            </a:r>
            <a:endParaRPr lang="en-US" dirty="0"/>
          </a:p>
          <a:p>
            <a:pPr algn="r" rtl="1"/>
            <a:r>
              <a:rPr lang="ar-SA" dirty="0"/>
              <a:t>تستخدم رسالة </a:t>
            </a:r>
            <a:r>
              <a:rPr lang="en-US" dirty="0" err="1"/>
              <a:t>GetBulkRequest</a:t>
            </a:r>
            <a:r>
              <a:rPr lang="ar-SA" dirty="0"/>
              <a:t> للمساعدة في تحسين عملية استرجاع كمية كبيرة من المعلومات الإدارية </a:t>
            </a:r>
            <a:r>
              <a:rPr lang="en-US" dirty="0"/>
              <a:t>MIB</a:t>
            </a:r>
            <a:r>
              <a:rPr lang="ar-SA" dirty="0"/>
              <a:t>، وهى بذلك تحل أحدي المشاكل المتعلقة بالإصدار الأول للبروتوكول </a:t>
            </a:r>
            <a:r>
              <a:rPr lang="ar-SA" dirty="0" smtClean="0"/>
              <a:t>الذي </a:t>
            </a:r>
            <a:r>
              <a:rPr lang="ar-SA" dirty="0"/>
              <a:t>يتطلب استرجاع كمية كبيرة من المعلومات الإدارية</a:t>
            </a:r>
            <a:r>
              <a:rPr lang="ar-SA" dirty="0" smtClean="0"/>
              <a:t>،</a:t>
            </a:r>
            <a:r>
              <a:rPr lang="en-US" dirty="0" smtClean="0"/>
              <a:t> </a:t>
            </a:r>
            <a:r>
              <a:rPr lang="ar-SA" dirty="0" smtClean="0"/>
              <a:t>(</a:t>
            </a:r>
            <a:r>
              <a:rPr lang="en-US" dirty="0"/>
              <a:t>Get-Next-Request</a:t>
            </a:r>
            <a:r>
              <a:rPr lang="ar-SA" dirty="0" smtClean="0"/>
              <a:t>).</a:t>
            </a:r>
          </a:p>
          <a:p>
            <a:pPr algn="r" rtl="1"/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154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A" dirty="0"/>
              <a:t> ويعمل الأمر </a:t>
            </a:r>
            <a:r>
              <a:rPr lang="en-US" dirty="0" err="1"/>
              <a:t>GetBulkRequest</a:t>
            </a:r>
            <a:r>
              <a:rPr lang="ar-SA" dirty="0"/>
              <a:t> بنفس الطريقة التي يعمل بها الأمر </a:t>
            </a:r>
            <a:r>
              <a:rPr lang="en-US" dirty="0"/>
              <a:t>Get-Next-Request</a:t>
            </a:r>
            <a:r>
              <a:rPr lang="ar-SA" dirty="0"/>
              <a:t> لاسترجاع القيمة التالية من قاعدة المعلومات الإدارية </a:t>
            </a:r>
            <a:r>
              <a:rPr lang="en-US" dirty="0"/>
              <a:t>MIB</a:t>
            </a:r>
            <a:r>
              <a:rPr lang="ar-SA" dirty="0"/>
              <a:t> ، وذلك عندما يستعرض قاعدة المعلومات الإدارية بطريقة منتظمة. لكن باستخدام الأمر </a:t>
            </a:r>
            <a:r>
              <a:rPr lang="en-US" dirty="0" err="1"/>
              <a:t>GetBulkRequest</a:t>
            </a:r>
            <a:r>
              <a:rPr lang="ar-SA" dirty="0"/>
              <a:t>، يستطيع البروتوكول طلب استرجاعات متعددة للعنصر، وذلك بإرسال رسالة واحدة فقط. وأن كل استرجاع يمثل القيمة التالية للعنصر، كلما تم استعراض شجرة قاعدة المعلومات الإدارية. </a:t>
            </a:r>
          </a:p>
        </p:txBody>
      </p:sp>
    </p:spTree>
    <p:extLst>
      <p:ext uri="{BB962C8B-B14F-4D97-AF65-F5344CB8AC3E}">
        <p14:creationId xmlns:p14="http://schemas.microsoft.com/office/powerpoint/2010/main" val="1591389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/>
              <a:t>فبدلا من السؤال عن قيمة العنصر التالي في الجدول، يمكن للبروتوكول أن يسأل عن مجموعة قيم "س" في الجدول ، حيث "س" هي أي قيمة عددية صحيحة. تقوم الرسالة </a:t>
            </a:r>
            <a:r>
              <a:rPr lang="en-US" dirty="0" err="1"/>
              <a:t>GetBulkRequest</a:t>
            </a:r>
            <a:r>
              <a:rPr lang="ar-SA" dirty="0"/>
              <a:t> باسترجاع أكبر قدر ممكن من المعلومات من قاعدة المعلومات الإدارية بواسطة طلب معين. بالإضافة إلى ذلك يمكن للبروتوكول  أن يطلب قيمة واحدة لمجموعة عناصر، يتم طلبها بواسطة الرسالة </a:t>
            </a:r>
            <a:r>
              <a:rPr lang="en-US" dirty="0" err="1"/>
              <a:t>GetBulkRequest</a:t>
            </a:r>
            <a:endParaRPr lang="en-US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821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A" sz="4000" b="1" dirty="0"/>
              <a:t>تدعيم البروتوكولات المتعددة</a:t>
            </a:r>
            <a:r>
              <a:rPr lang="ar-SA" sz="4000" dirty="0"/>
              <a:t> </a:t>
            </a:r>
            <a:r>
              <a:rPr lang="en-US" sz="4000" b="1" dirty="0"/>
              <a:t>Multiprotocol</a:t>
            </a:r>
            <a:r>
              <a:rPr lang="en-US" sz="40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 smtClean="0"/>
              <a:t>شرحنا </a:t>
            </a:r>
            <a:r>
              <a:rPr lang="ar-SA" dirty="0"/>
              <a:t>سابقا أن الإصدار الأول للبروتوكول </a:t>
            </a:r>
            <a:r>
              <a:rPr lang="ar-SA" dirty="0" smtClean="0"/>
              <a:t>يعمل </a:t>
            </a:r>
            <a:r>
              <a:rPr lang="ar-SA" dirty="0"/>
              <a:t>مع الشبكات التي تستخدم فقط بروتوكول </a:t>
            </a:r>
            <a:r>
              <a:rPr lang="en-US" dirty="0"/>
              <a:t>IP</a:t>
            </a:r>
            <a:r>
              <a:rPr lang="ar-SA" dirty="0"/>
              <a:t>، مثل شبكات شركة أبل، ونوفيل. وأن هذه الشبكات يجب أن يتم تهيئتها بواسطة استخدام برامج خاصة كي تستخدم البروتوكول </a:t>
            </a:r>
            <a:r>
              <a:rPr lang="en-US" dirty="0"/>
              <a:t>IP</a:t>
            </a:r>
            <a:r>
              <a:rPr lang="ar-SA" dirty="0"/>
              <a:t> كي تتمكن من استخدام البروتوكول </a:t>
            </a:r>
            <a:r>
              <a:rPr lang="ar-SA" dirty="0" smtClean="0"/>
              <a:t>“</a:t>
            </a:r>
            <a:r>
              <a:rPr lang="en-US" dirty="0" smtClean="0"/>
              <a:t>SNMPv1</a:t>
            </a:r>
            <a:r>
              <a:rPr lang="ar-SA" dirty="0" smtClean="0"/>
              <a:t>".</a:t>
            </a:r>
            <a:endParaRPr lang="en-US" dirty="0"/>
          </a:p>
          <a:p>
            <a:pPr algn="r" rtl="1"/>
            <a:r>
              <a:rPr lang="ar-SA" dirty="0"/>
              <a:t>أما الإصدار الثاني للبروتوكول </a:t>
            </a:r>
            <a:r>
              <a:rPr lang="ar-SA" dirty="0" smtClean="0"/>
              <a:t>فقد </a:t>
            </a:r>
            <a:r>
              <a:rPr lang="ar-SA" dirty="0"/>
              <a:t>تم تصميمه ليعمل مع أربعة أنواع من البروتوكولات هي: </a:t>
            </a:r>
            <a:endParaRPr lang="en-US" dirty="0"/>
          </a:p>
          <a:p>
            <a:pPr algn="r"/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419599"/>
            <a:ext cx="5334000" cy="2329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5295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/>
              <a:t>ولهذا فإن رسالة الإصدار الثاني للبروتوكول "سنمب-ف2"، ينبغي أن تكون قادرة على العمل مع الشبكات التي تستخدم هذه الأنواع الأربعة ( </a:t>
            </a:r>
            <a:r>
              <a:rPr lang="en-US" dirty="0"/>
              <a:t>IP, AppleTalk, IPX, OSI CLNS</a:t>
            </a:r>
            <a:r>
              <a:rPr lang="ar-SA" dirty="0"/>
              <a:t>). يتم تسكين    </a:t>
            </a:r>
            <a:r>
              <a:rPr lang="en-US" dirty="0"/>
              <a:t>reside</a:t>
            </a:r>
            <a:r>
              <a:rPr lang="ar-SA" dirty="0"/>
              <a:t>  هذه البروتوكولات عند المستوى الشبكي </a:t>
            </a:r>
            <a:r>
              <a:rPr lang="en-US" dirty="0"/>
              <a:t>Network Layer</a:t>
            </a:r>
            <a:r>
              <a:rPr lang="ar-SA" dirty="0"/>
              <a:t>. في النموذج المرجعي </a:t>
            </a:r>
            <a:r>
              <a:rPr lang="en-US" dirty="0"/>
              <a:t>OSI </a:t>
            </a:r>
            <a:r>
              <a:rPr lang="ar-SA" dirty="0"/>
              <a:t> بينما البروتوكول </a:t>
            </a:r>
            <a:r>
              <a:rPr lang="ar-SA" dirty="0" smtClean="0"/>
              <a:t>“</a:t>
            </a:r>
            <a:r>
              <a:rPr lang="en-US" dirty="0" smtClean="0"/>
              <a:t>SNMPv2</a:t>
            </a:r>
            <a:r>
              <a:rPr lang="ar-SA" dirty="0" smtClean="0"/>
              <a:t>" </a:t>
            </a:r>
            <a:r>
              <a:rPr lang="ar-SA" dirty="0"/>
              <a:t>يكون موجودا في المستوى التطبيقي </a:t>
            </a:r>
            <a:r>
              <a:rPr lang="en-US" dirty="0"/>
              <a:t>Application Layer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173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H.W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b="1" dirty="0"/>
              <a:t>وسائل الأمن في البروتوكول</a:t>
            </a:r>
            <a:r>
              <a:rPr lang="ar-SA" dirty="0"/>
              <a:t> </a:t>
            </a:r>
            <a:r>
              <a:rPr lang="en-US" b="1" dirty="0" smtClean="0"/>
              <a:t>SNMPv2</a:t>
            </a:r>
            <a:r>
              <a:rPr lang="en-US" dirty="0" smtClean="0"/>
              <a:t> </a:t>
            </a:r>
            <a:r>
              <a:rPr lang="ar-SA" dirty="0" smtClean="0"/>
              <a:t> ؟ ومقارنتها مع الاصدار الاول 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892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A" sz="4000" b="1" dirty="0" smtClean="0"/>
              <a:t>مرئية </a:t>
            </a:r>
            <a:r>
              <a:rPr lang="ar-SA" sz="4000" b="1" dirty="0"/>
              <a:t>قاعدة المعلومات الإدارية</a:t>
            </a:r>
            <a:r>
              <a:rPr lang="ar-SA" sz="4000" dirty="0"/>
              <a:t> </a:t>
            </a:r>
            <a:r>
              <a:rPr lang="en-US" sz="4000" b="1" dirty="0"/>
              <a:t>MIB View</a:t>
            </a:r>
            <a:r>
              <a:rPr lang="en-US" sz="40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 smtClean="0"/>
              <a:t>تعرف </a:t>
            </a:r>
            <a:r>
              <a:rPr lang="ar-SA" dirty="0"/>
              <a:t>مرئية قاعدة المعلومات الإدارية </a:t>
            </a:r>
            <a:r>
              <a:rPr lang="en-US" dirty="0"/>
              <a:t>MIB View</a:t>
            </a:r>
            <a:r>
              <a:rPr lang="ar-SA" dirty="0"/>
              <a:t> بأنها جزء قاعدة المعلومات الإدارية الذي يمكن الوصول إليه </a:t>
            </a:r>
            <a:r>
              <a:rPr lang="en-US" dirty="0"/>
              <a:t>accessible</a:t>
            </a:r>
            <a:r>
              <a:rPr lang="ar-SA" dirty="0"/>
              <a:t> بواسطة المدير </a:t>
            </a:r>
            <a:r>
              <a:rPr lang="en-US" dirty="0"/>
              <a:t>Manager</a:t>
            </a:r>
            <a:r>
              <a:rPr lang="ar-SA" dirty="0"/>
              <a:t>. كما يستطيع طرف اتصال </a:t>
            </a:r>
            <a:r>
              <a:rPr lang="en-US" dirty="0"/>
              <a:t>Party</a:t>
            </a:r>
            <a:r>
              <a:rPr lang="ar-SA" dirty="0"/>
              <a:t> أن يتحكم في إذن الدخول </a:t>
            </a:r>
            <a:r>
              <a:rPr lang="en-US" dirty="0"/>
              <a:t>access</a:t>
            </a:r>
            <a:r>
              <a:rPr lang="ar-SA" dirty="0"/>
              <a:t> لجزء من قاعدة المعلومات الإدارية في جهاز الوكيل </a:t>
            </a:r>
            <a:r>
              <a:rPr lang="en-US" dirty="0"/>
              <a:t>Agent</a:t>
            </a:r>
            <a:r>
              <a:rPr lang="ar-SA" dirty="0"/>
              <a:t>. حيث يمكن للوكيل أن يسمح بإذن الدخول لمجموعة معينة فقط من المديرين لتصفح أجزاء محددة فقط من قاعدة المعلومات المحلية الخاصة بإدارة المعلومات.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90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b="1" dirty="0"/>
              <a:t> </a:t>
            </a:r>
            <a:r>
              <a:rPr lang="ar-SA" b="1" dirty="0"/>
              <a:t>السياق </a:t>
            </a:r>
            <a:r>
              <a:rPr lang="en-US" dirty="0"/>
              <a:t>contexts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389120"/>
          </a:xfrm>
        </p:spPr>
        <p:txBody>
          <a:bodyPr/>
          <a:lstStyle/>
          <a:p>
            <a:pPr algn="r" rtl="1"/>
            <a:r>
              <a:rPr lang="ar-SA" dirty="0" smtClean="0"/>
              <a:t>يعرف </a:t>
            </a:r>
            <a:r>
              <a:rPr lang="ar-SA" dirty="0"/>
              <a:t>السياق </a:t>
            </a:r>
            <a:r>
              <a:rPr lang="en-US" dirty="0"/>
              <a:t>context</a:t>
            </a:r>
            <a:r>
              <a:rPr lang="ar-SA" dirty="0"/>
              <a:t> في الإصدار الثاني للبروتوكول </a:t>
            </a:r>
            <a:r>
              <a:rPr lang="ar-SA" dirty="0" smtClean="0"/>
              <a:t> </a:t>
            </a:r>
            <a:r>
              <a:rPr lang="ar-SA" dirty="0"/>
              <a:t>بأنه مجموعة العناصر الإدارية  </a:t>
            </a:r>
            <a:r>
              <a:rPr lang="en-US" dirty="0"/>
              <a:t>managed objects</a:t>
            </a:r>
            <a:r>
              <a:rPr lang="ar-SA" dirty="0"/>
              <a:t> التي يمكن للمدير أو الوكيل أن يصل إليها. على سبيل المثال، يمكن أن نعتبر عملية تصفح مرئية قاعدة المعلومات الإدارية هي سياق لكيان </a:t>
            </a:r>
            <a:r>
              <a:rPr lang="en-US" dirty="0"/>
              <a:t>entity </a:t>
            </a:r>
            <a:r>
              <a:rPr lang="ar-SA" dirty="0"/>
              <a:t>محلي معطى للبروتوكول </a:t>
            </a:r>
            <a:r>
              <a:rPr lang="ar-SA" dirty="0" smtClean="0"/>
              <a:t>“</a:t>
            </a:r>
            <a:r>
              <a:rPr lang="en-US" dirty="0" smtClean="0"/>
              <a:t>SNMPv2</a:t>
            </a:r>
            <a:r>
              <a:rPr lang="ar-SA" dirty="0" smtClean="0"/>
              <a:t>".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774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/>
              <a:t>يمكن إجراء الاتصال عن بعد بين سياق للبروتوكول </a:t>
            </a:r>
            <a:r>
              <a:rPr lang="ar-SA" dirty="0" smtClean="0"/>
              <a:t>"</a:t>
            </a:r>
            <a:r>
              <a:rPr lang="ar-SA" dirty="0"/>
              <a:t> “</a:t>
            </a:r>
            <a:r>
              <a:rPr lang="en-US" dirty="0"/>
              <a:t>SNMPv2 </a:t>
            </a:r>
            <a:r>
              <a:rPr lang="ar-SA" dirty="0" smtClean="0"/>
              <a:t>" </a:t>
            </a:r>
            <a:r>
              <a:rPr lang="ar-SA" dirty="0"/>
              <a:t>للمدير والوكيل من خلال وكيل مساعد "</a:t>
            </a:r>
            <a:r>
              <a:rPr lang="en-US" dirty="0"/>
              <a:t>proxy agent</a:t>
            </a:r>
            <a:r>
              <a:rPr lang="ar-SA" dirty="0"/>
              <a:t>"، كما هو موضح في الشكل1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581400"/>
            <a:ext cx="6763732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1571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/>
              <a:t>يحتاج الوكيل المساعد  "</a:t>
            </a:r>
            <a:r>
              <a:rPr lang="en-US" dirty="0"/>
              <a:t>proxy agent</a:t>
            </a:r>
            <a:r>
              <a:rPr lang="ar-SA" dirty="0"/>
              <a:t>" أن يفهم العناصر الإدارية للعمليات التي يطلبها المدير ويرغب  في تصفحها. بهذه الطريقة فإن السياق </a:t>
            </a:r>
            <a:r>
              <a:rPr lang="en-US" dirty="0"/>
              <a:t>context</a:t>
            </a:r>
            <a:r>
              <a:rPr lang="ar-SA" dirty="0"/>
              <a:t> يعتبر عملية مجردة </a:t>
            </a:r>
            <a:r>
              <a:rPr lang="en-US" dirty="0"/>
              <a:t>abstraction</a:t>
            </a:r>
            <a:r>
              <a:rPr lang="ar-SA" dirty="0"/>
              <a:t> يكون لها علاقة بالتحكم في الوصول إلى المعلومات وإلى تصفح مرئية قاعدة المعلومات الإدارية، التي من خلالها يتم الاستفسار عن المعلومات. يحتاج كل طرف اتصال </a:t>
            </a:r>
            <a:r>
              <a:rPr lang="en-US" dirty="0"/>
              <a:t>party </a:t>
            </a:r>
            <a:r>
              <a:rPr lang="ar-SA" dirty="0"/>
              <a:t> إلى سياق، لتمكين المدير والوكيل من تحديد العمليات المسموحة لمجموعة محددة من العناصر الإدارية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66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rtl="1"/>
            <a:r>
              <a:rPr lang="ar-SA" b="1" dirty="0"/>
              <a:t> بعض مشاكل البروتوكول </a:t>
            </a:r>
            <a:r>
              <a:rPr lang="ar-SA" b="1" dirty="0" smtClean="0"/>
              <a:t>“</a:t>
            </a:r>
            <a:r>
              <a:rPr lang="en-US" b="1" dirty="0" smtClean="0"/>
              <a:t>SNMPv1</a:t>
            </a:r>
            <a:r>
              <a:rPr lang="ar-SA" b="1" dirty="0" smtClean="0"/>
              <a:t>"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endParaRPr lang="en-US" dirty="0"/>
          </a:p>
          <a:p>
            <a:pPr algn="r" rtl="1"/>
            <a:r>
              <a:rPr lang="ar-SA" dirty="0"/>
              <a:t>على الرغم من كفاءة البروتوكول </a:t>
            </a:r>
            <a:r>
              <a:rPr lang="ar-SA" dirty="0" smtClean="0"/>
              <a:t>"</a:t>
            </a:r>
            <a:r>
              <a:rPr lang="en-US" b="1" dirty="0"/>
              <a:t> SNMPv1 </a:t>
            </a:r>
            <a:r>
              <a:rPr lang="ar-SA" dirty="0" smtClean="0"/>
              <a:t>" </a:t>
            </a:r>
            <a:r>
              <a:rPr lang="ar-SA" dirty="0"/>
              <a:t>في إدارة الشبكة، لكن يوجد به ثلاث مشاكل هي:</a:t>
            </a:r>
            <a:endParaRPr lang="en-US" dirty="0"/>
          </a:p>
          <a:p>
            <a:pPr algn="r" rtl="1"/>
            <a:r>
              <a:rPr lang="ar-SA" dirty="0"/>
              <a:t>-  بروتوكول قياسي للاستخدام، فقط لشبكات </a:t>
            </a:r>
            <a:r>
              <a:rPr lang="en-US" dirty="0"/>
              <a:t>IP</a:t>
            </a:r>
            <a:r>
              <a:rPr lang="ar-SA" dirty="0"/>
              <a:t>. </a:t>
            </a:r>
            <a:endParaRPr lang="en-US" dirty="0"/>
          </a:p>
          <a:p>
            <a:pPr algn="r" rtl="1"/>
            <a:r>
              <a:rPr lang="ar-SA" dirty="0"/>
              <a:t>-  غير كفء في حالة استرجاع المعلومات من الجداول الكبيرة.</a:t>
            </a:r>
            <a:endParaRPr lang="en-US" dirty="0"/>
          </a:p>
          <a:p>
            <a:pPr algn="r" rtl="1"/>
            <a:r>
              <a:rPr lang="ar-SA" dirty="0"/>
              <a:t>-  يستخدم كلمات نصية واضحة للأمن، مما يجعلها نسبيا غير آمنة.</a:t>
            </a:r>
            <a:endParaRPr lang="en-US" dirty="0"/>
          </a:p>
          <a:p>
            <a:pPr algn="r"/>
            <a:endParaRPr lang="en-US" dirty="0"/>
          </a:p>
        </p:txBody>
      </p:sp>
      <p:pic>
        <p:nvPicPr>
          <p:cNvPr id="4" name="Picture 4" descr="C:\Users\mawada\Downloads\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324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987673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low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Flow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78</TotalTime>
  <Words>1093</Words>
  <Application>Microsoft Office PowerPoint</Application>
  <PresentationFormat>On-screen Show (4:3)</PresentationFormat>
  <Paragraphs>53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Flow</vt:lpstr>
      <vt:lpstr>1_Flow</vt:lpstr>
      <vt:lpstr>2_Flow</vt:lpstr>
      <vt:lpstr>إدارة وإستخدام الشبكات </vt:lpstr>
      <vt:lpstr>المحتويات:</vt:lpstr>
      <vt:lpstr>الإصدار الثاني للبروتوكول " SNMPv2  </vt:lpstr>
      <vt:lpstr>خصائص الاصدار الثاني </vt:lpstr>
      <vt:lpstr>تحسين هيكل المعلومات الإدارية "SMI" </vt:lpstr>
      <vt:lpstr> أنواع الرسائل و ضبط المعلومات والحصول عليها  </vt:lpstr>
      <vt:lpstr>أنواع الرسائل في البروتوكول SNMPv2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تدعيم البروتوكولات المتعددة Multiprotocol </vt:lpstr>
      <vt:lpstr>PowerPoint Presentation</vt:lpstr>
      <vt:lpstr>H.W</vt:lpstr>
      <vt:lpstr>مرئية قاعدة المعلومات الإدارية MIB View </vt:lpstr>
      <vt:lpstr> السياق contexts </vt:lpstr>
      <vt:lpstr>PowerPoint Presentation</vt:lpstr>
      <vt:lpstr>PowerPoint Presentation</vt:lpstr>
      <vt:lpstr> بعض مشاكل البروتوكول “SNMPv1"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إدارة وإستخدام الشبكات</dc:title>
  <dc:creator>mawadaadam@gmail.com</dc:creator>
  <cp:lastModifiedBy>mawadaadam@gmail.com</cp:lastModifiedBy>
  <cp:revision>10</cp:revision>
  <dcterms:created xsi:type="dcterms:W3CDTF">2022-07-04T03:47:22Z</dcterms:created>
  <dcterms:modified xsi:type="dcterms:W3CDTF">2022-07-04T05:05:25Z</dcterms:modified>
</cp:coreProperties>
</file>