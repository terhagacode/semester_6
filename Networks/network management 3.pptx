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Lst>
  <p:sldIdLst>
    <p:sldId id="256" r:id="rId2"/>
    <p:sldId id="266" r:id="rId3"/>
    <p:sldId id="280" r:id="rId4"/>
    <p:sldId id="268" r:id="rId5"/>
    <p:sldId id="269" r:id="rId6"/>
    <p:sldId id="270" r:id="rId7"/>
    <p:sldId id="271" r:id="rId8"/>
    <p:sldId id="272" r:id="rId9"/>
    <p:sldId id="273" r:id="rId10"/>
    <p:sldId id="289" r:id="rId11"/>
    <p:sldId id="290" r:id="rId12"/>
    <p:sldId id="274" r:id="rId13"/>
    <p:sldId id="275" r:id="rId14"/>
    <p:sldId id="276" r:id="rId15"/>
    <p:sldId id="277" r:id="rId16"/>
    <p:sldId id="278" r:id="rId17"/>
    <p:sldId id="279" r:id="rId18"/>
    <p:sldId id="281" r:id="rId19"/>
    <p:sldId id="282" r:id="rId20"/>
    <p:sldId id="283" r:id="rId21"/>
    <p:sldId id="284" r:id="rId22"/>
    <p:sldId id="285" r:id="rId23"/>
    <p:sldId id="286" r:id="rId24"/>
    <p:sldId id="287" r:id="rId25"/>
    <p:sldId id="29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5" d="100"/>
          <a:sy n="65" d="100"/>
        </p:scale>
        <p:origin x="-58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7/18/2022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7/18/2022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7/18/2022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7/18/2022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7/18/2022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a:bodyPr>
          <a:lstStyle/>
          <a:p>
            <a:pPr algn="ctr" rtl="1"/>
            <a:r>
              <a:rPr lang="ar-SA" dirty="0" smtClean="0"/>
              <a:t> بروتوكول ادارة الشبكات البسيط (الاصدار الثالث)</a:t>
            </a:r>
          </a:p>
          <a:p>
            <a:pPr algn="ctr" rtl="1"/>
            <a:r>
              <a:rPr lang="ar-SA" dirty="0" smtClean="0"/>
              <a:t>محاضرة رقم (3)</a:t>
            </a:r>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rmAutofit/>
          </a:bodyPr>
          <a:lstStyle/>
          <a:p>
            <a:pPr algn="r" rtl="1"/>
            <a:r>
              <a:rPr lang="ar-SA" dirty="0" smtClean="0"/>
              <a:t>أهداف الوحدة </a:t>
            </a:r>
            <a:endParaRPr lang="en-US" dirty="0"/>
          </a:p>
        </p:txBody>
      </p:sp>
      <p:sp>
        <p:nvSpPr>
          <p:cNvPr id="3" name="Content Placeholder 2"/>
          <p:cNvSpPr>
            <a:spLocks noGrp="1"/>
          </p:cNvSpPr>
          <p:nvPr>
            <p:ph idx="1"/>
          </p:nvPr>
        </p:nvSpPr>
        <p:spPr>
          <a:xfrm>
            <a:off x="381000" y="1752600"/>
            <a:ext cx="8229600" cy="4953000"/>
          </a:xfrm>
        </p:spPr>
        <p:txBody>
          <a:bodyPr>
            <a:normAutofit fontScale="70000" lnSpcReduction="20000"/>
          </a:bodyPr>
          <a:lstStyle/>
          <a:p>
            <a:pPr algn="r" rtl="1" fontAlgn="t"/>
            <a:r>
              <a:rPr lang="ar-SA" sz="2900" b="1" dirty="0">
                <a:solidFill>
                  <a:srgbClr val="000000"/>
                </a:solidFill>
                <a:ea typeface="Times New Roman"/>
                <a:cs typeface="Kabir06 Normal"/>
              </a:rPr>
              <a:t>1. خصائص بروتوكول "سنمب--ف3"</a:t>
            </a:r>
          </a:p>
          <a:p>
            <a:pPr algn="r" rtl="1"/>
            <a:r>
              <a:rPr lang="ar-SA" sz="2800" b="1" dirty="0">
                <a:solidFill>
                  <a:srgbClr val="000000"/>
                </a:solidFill>
                <a:ea typeface="Times New Roman"/>
                <a:cs typeface="Kabir06 Normal"/>
              </a:rPr>
              <a:t>2</a:t>
            </a:r>
            <a:r>
              <a:rPr lang="ar-SA" sz="2800" b="1" dirty="0" smtClean="0">
                <a:solidFill>
                  <a:srgbClr val="000000"/>
                </a:solidFill>
                <a:ea typeface="Times New Roman"/>
                <a:cs typeface="Kabir06 Normal"/>
              </a:rPr>
              <a:t>.  </a:t>
            </a:r>
            <a:r>
              <a:rPr lang="ar-SA" sz="2800" b="1" dirty="0">
                <a:solidFill>
                  <a:srgbClr val="000000"/>
                </a:solidFill>
                <a:ea typeface="Times New Roman"/>
                <a:cs typeface="Kabir06 Normal"/>
              </a:rPr>
              <a:t>البناء الهيكلي لبروتوكول "سنمب--</a:t>
            </a:r>
            <a:r>
              <a:rPr lang="ar-SA" sz="2800" b="1" dirty="0" smtClean="0">
                <a:solidFill>
                  <a:srgbClr val="000000"/>
                </a:solidFill>
                <a:ea typeface="Times New Roman"/>
                <a:cs typeface="Kabir06 Normal"/>
              </a:rPr>
              <a:t>ف3«</a:t>
            </a:r>
          </a:p>
          <a:p>
            <a:pPr algn="r" rtl="1"/>
            <a:r>
              <a:rPr lang="ar-SA" sz="2800" dirty="0">
                <a:solidFill>
                  <a:srgbClr val="000000"/>
                </a:solidFill>
                <a:ea typeface="Times New Roman"/>
                <a:cs typeface="Simplified Arabic"/>
              </a:rPr>
              <a:t>1.2  آلة "سنمب--ف3" </a:t>
            </a:r>
            <a:r>
              <a:rPr lang="en-US" sz="2800" dirty="0">
                <a:solidFill>
                  <a:srgbClr val="000000"/>
                </a:solidFill>
                <a:ea typeface="Times New Roman"/>
                <a:cs typeface="Simplified Arabic"/>
              </a:rPr>
              <a:t>SNMPv3 Engine</a:t>
            </a:r>
          </a:p>
          <a:p>
            <a:pPr algn="r" rtl="1"/>
            <a:r>
              <a:rPr lang="ar-SA" sz="2800" dirty="0">
                <a:solidFill>
                  <a:srgbClr val="000000"/>
                </a:solidFill>
                <a:ea typeface="Times New Roman"/>
                <a:cs typeface="Simplified Arabic"/>
              </a:rPr>
              <a:t>2.2  مجموعة التطبيقات </a:t>
            </a:r>
            <a:r>
              <a:rPr lang="en-US" sz="2800" dirty="0">
                <a:solidFill>
                  <a:srgbClr val="000000"/>
                </a:solidFill>
                <a:ea typeface="Times New Roman"/>
                <a:cs typeface="Simplified Arabic"/>
              </a:rPr>
              <a:t>SNMP Applications</a:t>
            </a:r>
          </a:p>
          <a:p>
            <a:pPr algn="r" rtl="1"/>
            <a:r>
              <a:rPr lang="ar-SA" sz="2800" dirty="0">
                <a:solidFill>
                  <a:srgbClr val="000000"/>
                </a:solidFill>
                <a:ea typeface="Times New Roman"/>
                <a:cs typeface="Simplified Arabic"/>
              </a:rPr>
              <a:t>3.2  العمليات التفاعلية بين آلة "سنمب--ف3" ومجموعة   التطبيقات</a:t>
            </a:r>
            <a:endParaRPr lang="en-US" sz="2800" dirty="0">
              <a:solidFill>
                <a:srgbClr val="000000"/>
              </a:solidFill>
              <a:ea typeface="Times New Roman"/>
              <a:cs typeface="Simplified Arabic"/>
            </a:endParaRPr>
          </a:p>
          <a:p>
            <a:pPr algn="r" rtl="1"/>
            <a:r>
              <a:rPr lang="ar-SA" sz="2800" b="1" dirty="0">
                <a:solidFill>
                  <a:srgbClr val="000000"/>
                </a:solidFill>
                <a:ea typeface="Times New Roman"/>
                <a:cs typeface="Kabir06 Normal"/>
              </a:rPr>
              <a:t>3.  نموذج أمن المستخدم </a:t>
            </a:r>
            <a:r>
              <a:rPr lang="en-US" sz="2800" b="1" dirty="0">
                <a:solidFill>
                  <a:srgbClr val="000000"/>
                </a:solidFill>
                <a:ea typeface="Times New Roman"/>
                <a:cs typeface="Kabir06 Normal"/>
              </a:rPr>
              <a:t>USM</a:t>
            </a:r>
            <a:endParaRPr lang="en-US" sz="2800" dirty="0">
              <a:solidFill>
                <a:srgbClr val="000000"/>
              </a:solidFill>
              <a:ea typeface="Times New Roman"/>
              <a:cs typeface="Simplified Arabic"/>
            </a:endParaRPr>
          </a:p>
          <a:p>
            <a:pPr marL="0" marR="0" algn="just" rtl="1">
              <a:spcBef>
                <a:spcPts val="0"/>
              </a:spcBef>
              <a:spcAft>
                <a:spcPts val="0"/>
              </a:spcAft>
            </a:pPr>
            <a:r>
              <a:rPr lang="ar-SA" sz="2800" dirty="0">
                <a:solidFill>
                  <a:srgbClr val="000000"/>
                </a:solidFill>
                <a:ea typeface="Times New Roman"/>
                <a:cs typeface="Simplified Arabic"/>
              </a:rPr>
              <a:t>1.3   تحقيق التوثيق وصحة الرسائل  </a:t>
            </a:r>
            <a:r>
              <a:rPr lang="en-US" sz="2800" dirty="0">
                <a:solidFill>
                  <a:srgbClr val="000000"/>
                </a:solidFill>
                <a:ea typeface="Times New Roman"/>
                <a:cs typeface="Simplified Arabic"/>
              </a:rPr>
              <a:t>Authentication </a:t>
            </a:r>
          </a:p>
          <a:p>
            <a:pPr marL="0" marR="0" algn="just" rtl="1">
              <a:spcBef>
                <a:spcPts val="0"/>
              </a:spcBef>
              <a:spcAft>
                <a:spcPts val="0"/>
              </a:spcAft>
            </a:pPr>
            <a:r>
              <a:rPr lang="ar-SA" sz="2800" dirty="0">
                <a:solidFill>
                  <a:srgbClr val="000000"/>
                </a:solidFill>
                <a:ea typeface="Times New Roman"/>
                <a:cs typeface="Simplified Arabic"/>
              </a:rPr>
              <a:t>   </a:t>
            </a:r>
            <a:r>
              <a:rPr lang="en-US" sz="2800" dirty="0">
                <a:solidFill>
                  <a:srgbClr val="000000"/>
                </a:solidFill>
                <a:ea typeface="Times New Roman"/>
                <a:cs typeface="Simplified Arabic"/>
              </a:rPr>
              <a:t>and Integrity</a:t>
            </a:r>
            <a:r>
              <a:rPr lang="ar-SA" sz="2800" dirty="0">
                <a:solidFill>
                  <a:srgbClr val="000000"/>
                </a:solidFill>
                <a:ea typeface="Times New Roman"/>
                <a:cs typeface="Simplified Arabic"/>
              </a:rPr>
              <a:t>   </a:t>
            </a:r>
            <a:endParaRPr lang="en-US" sz="2800" dirty="0">
              <a:solidFill>
                <a:srgbClr val="000000"/>
              </a:solidFill>
              <a:ea typeface="Times New Roman"/>
              <a:cs typeface="Simplified Arabic"/>
            </a:endParaRPr>
          </a:p>
          <a:p>
            <a:pPr marL="0" marR="0" algn="just" rtl="1">
              <a:spcBef>
                <a:spcPts val="0"/>
              </a:spcBef>
              <a:spcAft>
                <a:spcPts val="0"/>
              </a:spcAft>
            </a:pPr>
            <a:r>
              <a:rPr lang="ar-SA" sz="2800" dirty="0">
                <a:solidFill>
                  <a:srgbClr val="000000"/>
                </a:solidFill>
                <a:ea typeface="Times New Roman"/>
                <a:cs typeface="Simplified Arabic"/>
              </a:rPr>
              <a:t>2.3  تحقيق الخصوصية بواسطة التشفير </a:t>
            </a:r>
            <a:r>
              <a:rPr lang="en-US" sz="2800" dirty="0">
                <a:solidFill>
                  <a:srgbClr val="000000"/>
                </a:solidFill>
                <a:ea typeface="Times New Roman"/>
                <a:cs typeface="Simplified Arabic"/>
              </a:rPr>
              <a:t>Privacy </a:t>
            </a:r>
          </a:p>
          <a:p>
            <a:pPr marL="0" marR="0" algn="just" rtl="1">
              <a:spcBef>
                <a:spcPts val="0"/>
              </a:spcBef>
              <a:spcAft>
                <a:spcPts val="0"/>
              </a:spcAft>
            </a:pPr>
            <a:r>
              <a:rPr lang="ar-SA" sz="2800" dirty="0">
                <a:solidFill>
                  <a:srgbClr val="000000"/>
                </a:solidFill>
                <a:ea typeface="Times New Roman"/>
                <a:cs typeface="Simplified Arabic"/>
              </a:rPr>
              <a:t>   </a:t>
            </a:r>
            <a:r>
              <a:rPr lang="en-US" sz="2800" dirty="0">
                <a:solidFill>
                  <a:srgbClr val="000000"/>
                </a:solidFill>
                <a:ea typeface="Times New Roman"/>
                <a:cs typeface="Simplified Arabic"/>
              </a:rPr>
              <a:t>Through Encryption</a:t>
            </a:r>
          </a:p>
          <a:p>
            <a:pPr algn="r" rtl="1"/>
            <a:r>
              <a:rPr lang="ar-SA" sz="2800" dirty="0">
                <a:solidFill>
                  <a:srgbClr val="000000"/>
                </a:solidFill>
                <a:ea typeface="Times New Roman"/>
                <a:cs typeface="Simplified Arabic"/>
              </a:rPr>
              <a:t>3.3  معالجة الرسالة في نموذج </a:t>
            </a:r>
            <a:r>
              <a:rPr lang="en-US" sz="2800" dirty="0">
                <a:solidFill>
                  <a:srgbClr val="000000"/>
                </a:solidFill>
                <a:ea typeface="Times New Roman"/>
                <a:cs typeface="Simplified Arabic"/>
              </a:rPr>
              <a:t>USM</a:t>
            </a:r>
          </a:p>
          <a:p>
            <a:pPr algn="r" rtl="1"/>
            <a:r>
              <a:rPr lang="ar-SA" sz="2800" dirty="0">
                <a:solidFill>
                  <a:srgbClr val="000000"/>
                </a:solidFill>
                <a:ea typeface="Times New Roman"/>
                <a:cs typeface="Simplified Arabic"/>
              </a:rPr>
              <a:t>4.3  توليد المفاتيح السرية</a:t>
            </a:r>
            <a:endParaRPr lang="en-US" sz="2800" dirty="0">
              <a:solidFill>
                <a:srgbClr val="000000"/>
              </a:solidFill>
              <a:ea typeface="Times New Roman"/>
              <a:cs typeface="Simplified Arabic"/>
            </a:endParaRPr>
          </a:p>
          <a:p>
            <a:pPr marL="0" indent="0" algn="r" rtl="1">
              <a:buNone/>
            </a:pPr>
            <a:r>
              <a:rPr lang="ar-SA" sz="2800" dirty="0">
                <a:solidFill>
                  <a:srgbClr val="000000"/>
                </a:solidFill>
                <a:ea typeface="Times New Roman"/>
                <a:cs typeface="Simplified Arabic"/>
              </a:rPr>
              <a:t> </a:t>
            </a:r>
            <a:r>
              <a:rPr lang="ar-SA" sz="2800" dirty="0" smtClean="0">
                <a:solidFill>
                  <a:srgbClr val="000000"/>
                </a:solidFill>
                <a:ea typeface="Times New Roman"/>
                <a:cs typeface="Simplified Arabic"/>
              </a:rPr>
              <a:t>   6.3  </a:t>
            </a:r>
            <a:r>
              <a:rPr lang="ar-SA" sz="2800" dirty="0">
                <a:solidFill>
                  <a:srgbClr val="000000"/>
                </a:solidFill>
                <a:ea typeface="Times New Roman"/>
                <a:cs typeface="Simplified Arabic"/>
              </a:rPr>
              <a:t>إدارة المفاتيح السرية</a:t>
            </a:r>
            <a:endParaRPr lang="en-US" sz="2800" dirty="0">
              <a:solidFill>
                <a:srgbClr val="000000"/>
              </a:solidFill>
              <a:ea typeface="Times New Roman"/>
              <a:cs typeface="Simplified Arabic"/>
            </a:endParaRPr>
          </a:p>
          <a:p>
            <a:pPr marL="0" marR="0" algn="r" rtl="1">
              <a:spcBef>
                <a:spcPts val="0"/>
              </a:spcBef>
              <a:spcAft>
                <a:spcPts val="0"/>
              </a:spcAft>
            </a:pPr>
            <a:r>
              <a:rPr lang="ar-SA" sz="2800" dirty="0">
                <a:solidFill>
                  <a:srgbClr val="000000"/>
                </a:solidFill>
                <a:ea typeface="Times New Roman"/>
                <a:cs typeface="Simplified Arabic"/>
              </a:rPr>
              <a:t>7.3  التحقق من عدم تأخر الرسائل </a:t>
            </a:r>
            <a:r>
              <a:rPr lang="en-US" sz="2800" dirty="0">
                <a:solidFill>
                  <a:srgbClr val="000000"/>
                </a:solidFill>
                <a:ea typeface="Times New Roman"/>
                <a:cs typeface="Simplified Arabic"/>
              </a:rPr>
              <a:t>Message Timeliness </a:t>
            </a:r>
          </a:p>
          <a:p>
            <a:pPr marL="0" marR="0" algn="r" rtl="1">
              <a:spcBef>
                <a:spcPts val="0"/>
              </a:spcBef>
              <a:spcAft>
                <a:spcPts val="0"/>
              </a:spcAft>
            </a:pPr>
            <a:r>
              <a:rPr lang="ar-SA" sz="2800" dirty="0">
                <a:solidFill>
                  <a:srgbClr val="000000"/>
                </a:solidFill>
                <a:ea typeface="Times New Roman"/>
                <a:cs typeface="Simplified Arabic"/>
              </a:rPr>
              <a:t>   </a:t>
            </a:r>
            <a:r>
              <a:rPr lang="en-US" sz="2800" dirty="0">
                <a:solidFill>
                  <a:srgbClr val="000000"/>
                </a:solidFill>
                <a:ea typeface="Times New Roman"/>
                <a:cs typeface="Simplified Arabic"/>
              </a:rPr>
              <a:t>Verification</a:t>
            </a:r>
          </a:p>
          <a:p>
            <a:pPr algn="r" rtl="1"/>
            <a:r>
              <a:rPr lang="ar-SA" sz="2800" dirty="0">
                <a:solidFill>
                  <a:srgbClr val="000000"/>
                </a:solidFill>
                <a:ea typeface="Times New Roman"/>
                <a:cs typeface="Simplified Arabic"/>
              </a:rPr>
              <a:t> </a:t>
            </a:r>
            <a:r>
              <a:rPr lang="en-US" sz="2800" dirty="0" smtClean="0">
                <a:solidFill>
                  <a:srgbClr val="000000"/>
                </a:solidFill>
                <a:ea typeface="Times New Roman"/>
                <a:cs typeface="Simplified Arabic"/>
              </a:rPr>
              <a:t/>
            </a:r>
            <a:br>
              <a:rPr lang="en-US" sz="2800" dirty="0" smtClean="0">
                <a:solidFill>
                  <a:srgbClr val="000000"/>
                </a:solidFill>
                <a:ea typeface="Times New Roman"/>
                <a:cs typeface="Simplified Arabic"/>
              </a:rPr>
            </a:br>
            <a:endParaRPr lang="en-US" dirty="0"/>
          </a:p>
        </p:txBody>
      </p:sp>
    </p:spTree>
    <p:extLst>
      <p:ext uri="{BB962C8B-B14F-4D97-AF65-F5344CB8AC3E}">
        <p14:creationId xmlns:p14="http://schemas.microsoft.com/office/powerpoint/2010/main" val="39782814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ar-SA" dirty="0" smtClean="0"/>
              <a:t>مقدمة:</a:t>
            </a:r>
            <a:endParaRPr lang="en-US" dirty="0"/>
          </a:p>
        </p:txBody>
      </p:sp>
      <p:sp>
        <p:nvSpPr>
          <p:cNvPr id="3" name="Content Placeholder 2"/>
          <p:cNvSpPr>
            <a:spLocks noGrp="1"/>
          </p:cNvSpPr>
          <p:nvPr>
            <p:ph idx="1"/>
          </p:nvPr>
        </p:nvSpPr>
        <p:spPr/>
        <p:txBody>
          <a:bodyPr/>
          <a:lstStyle/>
          <a:p>
            <a:pPr algn="r" rtl="1">
              <a:lnSpc>
                <a:spcPct val="150000"/>
              </a:lnSpc>
              <a:spcBef>
                <a:spcPts val="0"/>
              </a:spcBef>
            </a:pPr>
            <a:r>
              <a:rPr lang="ar-SA" dirty="0"/>
              <a:t>لقد تم اشتقاق وتطوير الإصدار الثالث لبروتوكول إدارة الشبكات البسيط "سنمب-ف3" من كلا الإصدارين الأول والثاني. وتشترك هذه الإصدارات الثلاثة بأن لها نفس تركيب ومكونات البناء الهيكلي الأساسي. وأن التعديلات الأساسية التي حدثت في بروتوكول "سنمب-ف3"، شملت الأمن </a:t>
            </a:r>
            <a:r>
              <a:rPr lang="en-US" dirty="0"/>
              <a:t>Security</a:t>
            </a:r>
            <a:r>
              <a:rPr lang="ar-SA" dirty="0"/>
              <a:t>، وعمليات الإدارة </a:t>
            </a:r>
            <a:r>
              <a:rPr lang="en-US" dirty="0"/>
              <a:t>Administration</a:t>
            </a:r>
          </a:p>
        </p:txBody>
      </p:sp>
    </p:spTree>
    <p:extLst>
      <p:ext uri="{BB962C8B-B14F-4D97-AF65-F5344CB8AC3E}">
        <p14:creationId xmlns:p14="http://schemas.microsoft.com/office/powerpoint/2010/main" val="19387391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خصائص بروتوكول </a:t>
            </a:r>
            <a:r>
              <a:rPr lang="ar-SA" b="1" dirty="0" smtClean="0"/>
              <a:t>“</a:t>
            </a:r>
            <a:r>
              <a:rPr lang="en-US" b="1" dirty="0" smtClean="0"/>
              <a:t>SNMPv3</a:t>
            </a:r>
            <a:r>
              <a:rPr lang="ar-SA" b="1" dirty="0" smtClean="0"/>
              <a:t>"</a:t>
            </a:r>
            <a:r>
              <a:rPr lang="en-US" dirty="0"/>
              <a:t/>
            </a:r>
            <a:br>
              <a:rPr lang="en-US" dirty="0"/>
            </a:br>
            <a:endParaRPr lang="en-US" dirty="0"/>
          </a:p>
        </p:txBody>
      </p:sp>
      <p:sp>
        <p:nvSpPr>
          <p:cNvPr id="3" name="Content Placeholder 2"/>
          <p:cNvSpPr>
            <a:spLocks noGrp="1"/>
          </p:cNvSpPr>
          <p:nvPr>
            <p:ph idx="1"/>
          </p:nvPr>
        </p:nvSpPr>
        <p:spPr>
          <a:xfrm>
            <a:off x="457200" y="1676400"/>
            <a:ext cx="8229600" cy="4648200"/>
          </a:xfrm>
        </p:spPr>
        <p:txBody>
          <a:bodyPr>
            <a:normAutofit fontScale="92500" lnSpcReduction="10000"/>
          </a:bodyPr>
          <a:lstStyle/>
          <a:p>
            <a:pPr algn="r" rtl="1"/>
            <a:r>
              <a:rPr lang="ar-SA" dirty="0"/>
              <a:t>ولتحقيق </a:t>
            </a:r>
            <a:r>
              <a:rPr lang="ar-SA" dirty="0" smtClean="0"/>
              <a:t>اهداف الامن والادارة، </a:t>
            </a:r>
            <a:r>
              <a:rPr lang="ar-SA" dirty="0"/>
              <a:t>فإن </a:t>
            </a:r>
            <a:r>
              <a:rPr lang="ar-SA" dirty="0" smtClean="0"/>
              <a:t>"</a:t>
            </a:r>
            <a:r>
              <a:rPr lang="en-US" b="1" dirty="0"/>
              <a:t> SNMPv3 </a:t>
            </a:r>
            <a:r>
              <a:rPr lang="ar-SA" dirty="0" smtClean="0"/>
              <a:t>" </a:t>
            </a:r>
            <a:r>
              <a:rPr lang="ar-SA" dirty="0"/>
              <a:t>اشتمل على خصائص أمنية تسمح بإتمام تهيئتها باستقلالية </a:t>
            </a:r>
            <a:r>
              <a:rPr lang="en-US" dirty="0"/>
              <a:t>Independent </a:t>
            </a:r>
            <a:r>
              <a:rPr lang="ar-SA" dirty="0"/>
              <a:t>، وهي كما يلي: </a:t>
            </a:r>
            <a:endParaRPr lang="en-US" dirty="0"/>
          </a:p>
          <a:p>
            <a:pPr algn="r" rtl="1"/>
            <a:r>
              <a:rPr lang="ar-SA" dirty="0"/>
              <a:t>- يدعم </a:t>
            </a:r>
            <a:r>
              <a:rPr lang="ar-SA" dirty="0" smtClean="0"/>
              <a:t>عملية </a:t>
            </a:r>
            <a:r>
              <a:rPr lang="ar-SA" dirty="0"/>
              <a:t>توثيق الرسائل </a:t>
            </a:r>
            <a:r>
              <a:rPr lang="en-US" dirty="0"/>
              <a:t>Message Authentication</a:t>
            </a:r>
            <a:r>
              <a:rPr lang="ar-SA" dirty="0"/>
              <a:t> لضمان أن تكون التعليمات صادرة من مدير معتمد </a:t>
            </a:r>
            <a:r>
              <a:rPr lang="en-US" dirty="0"/>
              <a:t>Valid</a:t>
            </a:r>
            <a:r>
              <a:rPr lang="ar-SA" dirty="0"/>
              <a:t>. </a:t>
            </a:r>
            <a:endParaRPr lang="en-US" dirty="0"/>
          </a:p>
          <a:p>
            <a:pPr algn="r" rtl="1"/>
            <a:r>
              <a:rPr lang="ar-SA" dirty="0"/>
              <a:t>- تحقيق الخصوصية </a:t>
            </a:r>
            <a:r>
              <a:rPr lang="en-US" dirty="0"/>
              <a:t>Privacy</a:t>
            </a:r>
            <a:r>
              <a:rPr lang="ar-SA" dirty="0"/>
              <a:t>، لضمان عدم استطاعة أحد من قراءة الرسائل أثناء عبورها بين محطة المدير وأجهزة الإدارة.</a:t>
            </a:r>
            <a:endParaRPr lang="en-US" dirty="0"/>
          </a:p>
          <a:p>
            <a:pPr algn="r" rtl="1"/>
            <a:r>
              <a:rPr lang="ar-SA" dirty="0"/>
              <a:t>- تحقيق عملية التفويض </a:t>
            </a:r>
            <a:r>
              <a:rPr lang="en-US" dirty="0"/>
              <a:t>Authorization</a:t>
            </a:r>
            <a:r>
              <a:rPr lang="ar-SA" dirty="0"/>
              <a:t> ، والتحكم في الوصول لتصفح المعلومات </a:t>
            </a:r>
            <a:r>
              <a:rPr lang="en-US" dirty="0"/>
              <a:t>View Based Access Control</a:t>
            </a:r>
            <a:r>
              <a:rPr lang="ar-SA" dirty="0"/>
              <a:t> للسماح فقط للمديرين المفوضين بالدخول، وتصفح بنود محددة في قاعدة المعلومات  الإدارية</a:t>
            </a:r>
            <a:r>
              <a:rPr lang="ar-SA" dirty="0" smtClean="0"/>
              <a:t>.</a:t>
            </a:r>
          </a:p>
          <a:p>
            <a:pPr algn="r" rtl="1"/>
            <a:r>
              <a:rPr lang="ar-SA" dirty="0"/>
              <a:t>- يسمح </a:t>
            </a:r>
            <a:r>
              <a:rPr lang="ar-SA" dirty="0" smtClean="0"/>
              <a:t> بإجراء </a:t>
            </a:r>
            <a:r>
              <a:rPr lang="ar-SA" dirty="0"/>
              <a:t>عمليات التهيئة عن بعد </a:t>
            </a:r>
            <a:r>
              <a:rPr lang="en-US" dirty="0"/>
              <a:t>Remote Configuration</a:t>
            </a:r>
            <a:r>
              <a:rPr lang="ar-SA" dirty="0"/>
              <a:t> ، وهذا يمكن المدير المفوض من أن يقوم بتغيير تهيئة قائمة بنود الأمن </a:t>
            </a:r>
            <a:r>
              <a:rPr lang="ar-SA" dirty="0" smtClean="0"/>
              <a:t>عن بعد</a:t>
            </a:r>
            <a:endParaRPr lang="en-US" dirty="0"/>
          </a:p>
          <a:p>
            <a:pPr rtl="1"/>
            <a:r>
              <a:rPr lang="en-US" dirty="0"/>
              <a:t> </a:t>
            </a:r>
          </a:p>
          <a:p>
            <a:pPr algn="r" rtl="1"/>
            <a:endParaRPr lang="en-US" dirty="0"/>
          </a:p>
        </p:txBody>
      </p:sp>
    </p:spTree>
    <p:extLst>
      <p:ext uri="{BB962C8B-B14F-4D97-AF65-F5344CB8AC3E}">
        <p14:creationId xmlns:p14="http://schemas.microsoft.com/office/powerpoint/2010/main" val="3603006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البناء الهيكلي لبروتوكول </a:t>
            </a:r>
            <a:r>
              <a:rPr lang="ar-SA" b="1" dirty="0" smtClean="0"/>
              <a:t>"</a:t>
            </a:r>
            <a:r>
              <a:rPr lang="en-US" b="1" dirty="0"/>
              <a:t> SNMPv3 </a:t>
            </a:r>
            <a:r>
              <a:rPr lang="ar-SA" b="1" dirty="0" smtClean="0"/>
              <a:t>"</a:t>
            </a:r>
            <a:endParaRPr lang="en-US" dirty="0"/>
          </a:p>
        </p:txBody>
      </p:sp>
      <p:sp>
        <p:nvSpPr>
          <p:cNvPr id="3" name="Content Placeholder 2"/>
          <p:cNvSpPr>
            <a:spLocks noGrp="1"/>
          </p:cNvSpPr>
          <p:nvPr>
            <p:ph idx="1"/>
          </p:nvPr>
        </p:nvSpPr>
        <p:spPr/>
        <p:txBody>
          <a:bodyPr>
            <a:normAutofit/>
          </a:bodyPr>
          <a:lstStyle/>
          <a:p>
            <a:pPr algn="r" rtl="1"/>
            <a:r>
              <a:rPr lang="ar-SA" dirty="0"/>
              <a:t>يتكون البناء الهيكلي لبروتوكول </a:t>
            </a:r>
            <a:r>
              <a:rPr lang="ar-SA" dirty="0" smtClean="0"/>
              <a:t>"</a:t>
            </a:r>
            <a:r>
              <a:rPr lang="en-US" b="1" dirty="0"/>
              <a:t> SNMPv3 </a:t>
            </a:r>
            <a:r>
              <a:rPr lang="ar-SA" dirty="0" smtClean="0"/>
              <a:t>"، </a:t>
            </a:r>
            <a:r>
              <a:rPr lang="ar-SA" dirty="0"/>
              <a:t>كما هو موضح في </a:t>
            </a:r>
            <a:r>
              <a:rPr lang="ar-SA" dirty="0" smtClean="0"/>
              <a:t>الشكل، </a:t>
            </a:r>
            <a:r>
              <a:rPr lang="ar-SA" dirty="0"/>
              <a:t>من مكونين أساسيين هما: آلة </a:t>
            </a:r>
            <a:r>
              <a:rPr lang="en-US" b="1" dirty="0"/>
              <a:t>SNMPv3</a:t>
            </a:r>
            <a:r>
              <a:rPr lang="ar-SA" dirty="0" smtClean="0"/>
              <a:t> </a:t>
            </a:r>
            <a:r>
              <a:rPr lang="ar-SA" dirty="0"/>
              <a:t>، و مجموعة التطبيقات،  وسوف نطلق عليهما اسم محطة التشغيل، أو "كينونة </a:t>
            </a:r>
            <a:r>
              <a:rPr lang="ar-SA" dirty="0" smtClean="0"/>
              <a:t>3 </a:t>
            </a:r>
            <a:r>
              <a:rPr lang="en-US" dirty="0" smtClean="0"/>
              <a:t>SNMP </a:t>
            </a:r>
            <a:r>
              <a:rPr lang="en-US" dirty="0"/>
              <a:t>Entity</a:t>
            </a:r>
            <a:r>
              <a:rPr lang="ar-SA" dirty="0" smtClean="0"/>
              <a:t>".</a:t>
            </a:r>
          </a:p>
          <a:p>
            <a:pPr algn="r" rtl="1"/>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276600"/>
            <a:ext cx="6934200" cy="3623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5127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آلة "سنمب--ف3" </a:t>
            </a:r>
            <a:r>
              <a:rPr lang="en-US" b="1" dirty="0"/>
              <a:t>SNMPv3 Engine</a:t>
            </a:r>
            <a:endParaRPr lang="en-US" dirty="0"/>
          </a:p>
        </p:txBody>
      </p:sp>
      <p:sp>
        <p:nvSpPr>
          <p:cNvPr id="3" name="Content Placeholder 2"/>
          <p:cNvSpPr>
            <a:spLocks noGrp="1"/>
          </p:cNvSpPr>
          <p:nvPr>
            <p:ph idx="1"/>
          </p:nvPr>
        </p:nvSpPr>
        <p:spPr/>
        <p:txBody>
          <a:bodyPr/>
          <a:lstStyle/>
          <a:p>
            <a:pPr algn="r" rtl="1"/>
            <a:r>
              <a:rPr lang="ar-SA" dirty="0"/>
              <a:t>تتكون آلة "سنمب-ف3" من أربعة مكونات هم:</a:t>
            </a:r>
            <a:r>
              <a:rPr lang="en-US" dirty="0"/>
              <a:t>   </a:t>
            </a:r>
            <a:r>
              <a:rPr lang="ar-SA" dirty="0"/>
              <a:t>المنجز </a:t>
            </a:r>
            <a:r>
              <a:rPr lang="en-US" dirty="0"/>
              <a:t>Dispatcher</a:t>
            </a:r>
            <a:r>
              <a:rPr lang="ar-SA" dirty="0"/>
              <a:t> ، ونظام الرسائل، ونظام الأمن، ونظام تحكم الدخول.</a:t>
            </a:r>
            <a:endParaRPr lang="en-US" dirty="0"/>
          </a:p>
          <a:p>
            <a:pPr algn="r" rtl="1"/>
            <a:r>
              <a:rPr lang="ar-SA" b="1" dirty="0"/>
              <a:t>- المنجز</a:t>
            </a:r>
            <a:r>
              <a:rPr lang="ar-SA" dirty="0"/>
              <a:t> </a:t>
            </a:r>
            <a:r>
              <a:rPr lang="en-US" dirty="0"/>
              <a:t>Dispatcher</a:t>
            </a:r>
            <a:r>
              <a:rPr lang="ar-SA" dirty="0"/>
              <a:t> هو الذي يختص بعمليات إرسال واستقبال الرسائل. وتحديد نوع إصدار الرسالة التي يستقبلها سنمب-ف1، سنمب-ف2،سنمب-ف3. عندما تتم عملية تحديد الإصدار ومعالجته، يقوم المنجز بتسليم الرسالة إلى نظام معالجة الرسالة، وكذلك إلى الكيانات الأخرى (الوكلاء والمديرين في محطة التشغيل).</a:t>
            </a:r>
            <a:endParaRPr lang="en-US" dirty="0"/>
          </a:p>
          <a:p>
            <a:pPr algn="r" rtl="1"/>
            <a:r>
              <a:rPr lang="ar-SA" b="1" dirty="0"/>
              <a:t>- نظام الرسائل</a:t>
            </a:r>
            <a:r>
              <a:rPr lang="ar-SA" dirty="0"/>
              <a:t> </a:t>
            </a:r>
            <a:r>
              <a:rPr lang="en-US" dirty="0"/>
              <a:t>Message Subsystem</a:t>
            </a:r>
            <a:r>
              <a:rPr lang="ar-SA" dirty="0"/>
              <a:t> ويختص بمعالجة الرسائل الصادرة من الإصدارات الثلاثة لبروتوكول "سنمب-ف3"، وأي نماذج رسائل لبروتوكولات أخرى. </a:t>
            </a:r>
            <a:endParaRPr lang="en-US" dirty="0"/>
          </a:p>
          <a:p>
            <a:pPr algn="r"/>
            <a:endParaRPr lang="en-US" dirty="0"/>
          </a:p>
        </p:txBody>
      </p:sp>
    </p:spTree>
    <p:extLst>
      <p:ext uri="{BB962C8B-B14F-4D97-AF65-F5344CB8AC3E}">
        <p14:creationId xmlns:p14="http://schemas.microsoft.com/office/powerpoint/2010/main" val="1004487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endParaRPr lang="en-US" sz="3200" dirty="0"/>
          </a:p>
        </p:txBody>
      </p:sp>
      <p:sp>
        <p:nvSpPr>
          <p:cNvPr id="3" name="Content Placeholder 2"/>
          <p:cNvSpPr>
            <a:spLocks noGrp="1"/>
          </p:cNvSpPr>
          <p:nvPr>
            <p:ph idx="1"/>
          </p:nvPr>
        </p:nvSpPr>
        <p:spPr/>
        <p:txBody>
          <a:bodyPr>
            <a:normAutofit/>
          </a:bodyPr>
          <a:lstStyle/>
          <a:p>
            <a:pPr algn="r" rtl="1"/>
            <a:r>
              <a:rPr lang="ar-SA" sz="2400" b="1" dirty="0"/>
              <a:t>- نظام الأمن</a:t>
            </a:r>
            <a:r>
              <a:rPr lang="ar-SA" sz="2400" dirty="0"/>
              <a:t> </a:t>
            </a:r>
            <a:r>
              <a:rPr lang="en-US" sz="2400" dirty="0"/>
              <a:t>Security Subsystem</a:t>
            </a:r>
            <a:r>
              <a:rPr lang="ar-SA" sz="2400" dirty="0"/>
              <a:t> ، يختص بمعالجة الأمن مستخدما نموذج أمن المستخدم </a:t>
            </a:r>
            <a:r>
              <a:rPr lang="en-US" sz="2400" dirty="0"/>
              <a:t>User Based Security Mode (USM)</a:t>
            </a:r>
            <a:r>
              <a:rPr lang="ar-SA" sz="2400" dirty="0"/>
              <a:t>، الخاص بالبروتوكول "سنمب-ف3" . كما يستخدم نموذج أمن المشاركة </a:t>
            </a:r>
            <a:r>
              <a:rPr lang="en-US" sz="2400" dirty="0"/>
              <a:t>Community Based Security Model</a:t>
            </a:r>
            <a:r>
              <a:rPr lang="ar-SA" sz="2400" dirty="0"/>
              <a:t> ، الذي يتعامل مع الإصدارين الأول والثاني للبروتوكول "سنمب-ف3". وأي نماذج أمنية إضافية جديدة يتم تحديدها</a:t>
            </a:r>
            <a:r>
              <a:rPr lang="ar-SA" sz="2400" dirty="0" smtClean="0"/>
              <a:t>.</a:t>
            </a:r>
            <a:endParaRPr lang="en-US" sz="2400" dirty="0" smtClean="0"/>
          </a:p>
          <a:p>
            <a:pPr algn="r" rtl="1"/>
            <a:endParaRPr lang="en-US" sz="2400" dirty="0"/>
          </a:p>
          <a:p>
            <a:pPr algn="r" rtl="1"/>
            <a:r>
              <a:rPr lang="ar-SA" sz="2400" b="1" dirty="0"/>
              <a:t>- نظام تحكم الدخول</a:t>
            </a:r>
            <a:r>
              <a:rPr lang="ar-SA" sz="2400" dirty="0"/>
              <a:t> </a:t>
            </a:r>
            <a:r>
              <a:rPr lang="en-US" sz="2400" dirty="0"/>
              <a:t>Access Control System</a:t>
            </a:r>
            <a:r>
              <a:rPr lang="ar-SA" sz="2400" dirty="0"/>
              <a:t> وهو يختص بمنح أو منع عمليات الدخول إلى عناصر إدارية محددة في قاعدة المعلومات الإدارية </a:t>
            </a:r>
            <a:r>
              <a:rPr lang="en-US" sz="2400" dirty="0"/>
              <a:t>MIB</a:t>
            </a:r>
            <a:r>
              <a:rPr lang="ar-SA" sz="2400" dirty="0"/>
              <a:t>.  </a:t>
            </a:r>
            <a:endParaRPr lang="en-US" sz="2400" dirty="0"/>
          </a:p>
        </p:txBody>
      </p:sp>
    </p:spTree>
    <p:extLst>
      <p:ext uri="{BB962C8B-B14F-4D97-AF65-F5344CB8AC3E}">
        <p14:creationId xmlns:p14="http://schemas.microsoft.com/office/powerpoint/2010/main" val="28061458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r" rtl="1"/>
            <a:r>
              <a:rPr lang="ar-SA" b="1" dirty="0"/>
              <a:t>مجموعة التطبيقات </a:t>
            </a:r>
            <a:r>
              <a:rPr lang="en-US" b="1" dirty="0"/>
              <a:t>SNMP Applications</a:t>
            </a:r>
            <a:endParaRPr lang="en-US" dirty="0"/>
          </a:p>
          <a:p>
            <a:pPr algn="r" rtl="1"/>
            <a:r>
              <a:rPr lang="ar-SA" dirty="0"/>
              <a:t>يوجد خمسة أنواع من التطبيقات للبروتوكول "سنمب-ف3" ، كما هو موضح في الشكل2.1 ، والشكل 2.2  وهي</a:t>
            </a:r>
            <a:r>
              <a:rPr lang="ar-SA" dirty="0" smtClean="0"/>
              <a:t>:</a:t>
            </a:r>
            <a:endParaRPr lang="en-US" dirty="0" smtClean="0"/>
          </a:p>
          <a:p>
            <a:pPr algn="r" rtl="1"/>
            <a:r>
              <a:rPr lang="ar-SA" dirty="0"/>
              <a:t>أ</a:t>
            </a:r>
            <a:r>
              <a:rPr lang="ar-SA" b="1" dirty="0"/>
              <a:t>- مولد الأوامر</a:t>
            </a:r>
            <a:r>
              <a:rPr lang="ar-SA" dirty="0"/>
              <a:t> </a:t>
            </a:r>
            <a:r>
              <a:rPr lang="en-US" dirty="0"/>
              <a:t>Command Generator</a:t>
            </a:r>
            <a:r>
              <a:rPr lang="ar-SA" dirty="0"/>
              <a:t>، ووظيفته إنشاء الأنواع المختلفة لرسائل بروتوكول "سنمب-ف3".</a:t>
            </a:r>
            <a:endParaRPr lang="en-US" dirty="0"/>
          </a:p>
          <a:p>
            <a:pPr algn="r" rtl="1"/>
            <a:r>
              <a:rPr lang="ar-SA" dirty="0"/>
              <a:t>ب</a:t>
            </a:r>
            <a:r>
              <a:rPr lang="ar-SA" b="1" dirty="0"/>
              <a:t>- مستجيب الأوامر</a:t>
            </a:r>
            <a:r>
              <a:rPr lang="ar-SA" dirty="0"/>
              <a:t> </a:t>
            </a:r>
            <a:r>
              <a:rPr lang="en-US" dirty="0"/>
              <a:t>Command Responder </a:t>
            </a:r>
            <a:r>
              <a:rPr lang="ar-SA" dirty="0"/>
              <a:t>، ووظيفته الرد على رسائل بروتوكول "سنمب-ف3".</a:t>
            </a:r>
            <a:endParaRPr lang="en-US" dirty="0"/>
          </a:p>
          <a:p>
            <a:pPr algn="r" rtl="1"/>
            <a:r>
              <a:rPr lang="ar-SA" dirty="0"/>
              <a:t>ج</a:t>
            </a:r>
            <a:r>
              <a:rPr lang="ar-SA" b="1" dirty="0"/>
              <a:t>- منشئ الإشعار</a:t>
            </a:r>
            <a:r>
              <a:rPr lang="ar-SA" dirty="0"/>
              <a:t> </a:t>
            </a:r>
            <a:r>
              <a:rPr lang="en-US" dirty="0"/>
              <a:t>Notification Originator</a:t>
            </a:r>
            <a:r>
              <a:rPr lang="ar-SA" dirty="0"/>
              <a:t>، ووظيفته إرسال رسالة مصيدة </a:t>
            </a:r>
            <a:r>
              <a:rPr lang="en-US" dirty="0"/>
              <a:t>Trap </a:t>
            </a:r>
            <a:r>
              <a:rPr lang="ar-SA" dirty="0"/>
              <a:t>، أو إرسال رسالة  إشعار (إعلام) </a:t>
            </a:r>
            <a:r>
              <a:rPr lang="en-US" dirty="0"/>
              <a:t>Inform</a:t>
            </a:r>
            <a:r>
              <a:rPr lang="ar-SA" dirty="0"/>
              <a:t>.</a:t>
            </a:r>
            <a:endParaRPr lang="en-US" dirty="0"/>
          </a:p>
          <a:p>
            <a:pPr algn="r" rtl="1"/>
            <a:r>
              <a:rPr lang="ar-SA" dirty="0"/>
              <a:t>د</a:t>
            </a:r>
            <a:r>
              <a:rPr lang="ar-SA" b="1" dirty="0"/>
              <a:t>- مستقبل الإشعار</a:t>
            </a:r>
            <a:r>
              <a:rPr lang="ar-SA" dirty="0"/>
              <a:t> </a:t>
            </a:r>
            <a:r>
              <a:rPr lang="en-US" dirty="0"/>
              <a:t>Receiver</a:t>
            </a:r>
            <a:r>
              <a:rPr lang="ar-SA" dirty="0"/>
              <a:t>  </a:t>
            </a:r>
            <a:r>
              <a:rPr lang="en-US" dirty="0"/>
              <a:t>Notification</a:t>
            </a:r>
            <a:r>
              <a:rPr lang="ar-SA" dirty="0"/>
              <a:t>، ووظيفته استقبال ومعالجة رسائل المصيدة </a:t>
            </a:r>
            <a:r>
              <a:rPr lang="en-US" dirty="0"/>
              <a:t>Trap</a:t>
            </a:r>
            <a:r>
              <a:rPr lang="ar-SA" dirty="0"/>
              <a:t> ، أو الإشعار </a:t>
            </a:r>
            <a:r>
              <a:rPr lang="en-US" dirty="0"/>
              <a:t>Inform</a:t>
            </a:r>
            <a:r>
              <a:rPr lang="ar-SA" dirty="0"/>
              <a:t>.</a:t>
            </a:r>
            <a:endParaRPr lang="en-US" dirty="0"/>
          </a:p>
          <a:p>
            <a:pPr algn="r" rtl="1"/>
            <a:r>
              <a:rPr lang="ar-SA" dirty="0"/>
              <a:t>هـ</a:t>
            </a:r>
            <a:r>
              <a:rPr lang="ar-SA" b="1" dirty="0"/>
              <a:t>- الوكيل المعاون</a:t>
            </a:r>
            <a:r>
              <a:rPr lang="ar-SA" dirty="0"/>
              <a:t> </a:t>
            </a:r>
            <a:r>
              <a:rPr lang="en-US" dirty="0"/>
              <a:t>Proxy Forwarder</a:t>
            </a:r>
            <a:r>
              <a:rPr lang="ar-SA" dirty="0"/>
              <a:t>، ووظيفته توصيل الرسائل بين مكونات محطة "سنمب-ف3" (</a:t>
            </a:r>
            <a:r>
              <a:rPr lang="en-US" dirty="0"/>
              <a:t>Entity</a:t>
            </a:r>
            <a:r>
              <a:rPr lang="ar-SA" dirty="0"/>
              <a:t>).</a:t>
            </a:r>
            <a:endParaRPr lang="en-US" dirty="0"/>
          </a:p>
          <a:p>
            <a:pPr algn="r" rtl="1"/>
            <a:endParaRPr lang="en-US" dirty="0"/>
          </a:p>
          <a:p>
            <a:pPr algn="r" rtl="1"/>
            <a:endParaRPr lang="en-US" dirty="0"/>
          </a:p>
        </p:txBody>
      </p:sp>
    </p:spTree>
    <p:extLst>
      <p:ext uri="{BB962C8B-B14F-4D97-AF65-F5344CB8AC3E}">
        <p14:creationId xmlns:p14="http://schemas.microsoft.com/office/powerpoint/2010/main" val="25097607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5638800" cy="55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22556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r-SA" b="1" dirty="0"/>
              <a:t>العمليات التفاعلية بين آلة "سنمب--ف3" ومجموعة </a:t>
            </a:r>
            <a:r>
              <a:rPr lang="ar-SA" b="1" dirty="0" smtClean="0"/>
              <a:t>التطبيقات</a:t>
            </a:r>
            <a:endParaRPr lang="en-US" dirty="0"/>
          </a:p>
        </p:txBody>
      </p:sp>
      <p:sp>
        <p:nvSpPr>
          <p:cNvPr id="3" name="Content Placeholder 2"/>
          <p:cNvSpPr>
            <a:spLocks noGrp="1"/>
          </p:cNvSpPr>
          <p:nvPr>
            <p:ph idx="1"/>
          </p:nvPr>
        </p:nvSpPr>
        <p:spPr/>
        <p:txBody>
          <a:bodyPr>
            <a:normAutofit lnSpcReduction="10000"/>
          </a:bodyPr>
          <a:lstStyle/>
          <a:p>
            <a:pPr algn="r" rtl="1"/>
            <a:r>
              <a:rPr lang="ar-SA" dirty="0" smtClean="0"/>
              <a:t>يتم </a:t>
            </a:r>
            <a:r>
              <a:rPr lang="ar-SA" dirty="0"/>
              <a:t>إجراء الخدمات </a:t>
            </a:r>
            <a:r>
              <a:rPr lang="en-US" dirty="0"/>
              <a:t>Services</a:t>
            </a:r>
            <a:r>
              <a:rPr lang="ar-SA" dirty="0"/>
              <a:t> بين وحدات برامج التشغيل </a:t>
            </a:r>
            <a:r>
              <a:rPr lang="en-US" dirty="0"/>
              <a:t>Modules</a:t>
            </a:r>
            <a:r>
              <a:rPr lang="ar-SA" dirty="0"/>
              <a:t> في محطة التشغيل </a:t>
            </a:r>
            <a:r>
              <a:rPr lang="en-US" dirty="0"/>
              <a:t>Entity</a:t>
            </a:r>
            <a:r>
              <a:rPr lang="ar-SA" dirty="0"/>
              <a:t> في بروتوكول "سنمب-ف3" بواسطة معاملات </a:t>
            </a:r>
            <a:r>
              <a:rPr lang="en-US" dirty="0"/>
              <a:t>Parameters</a:t>
            </a:r>
            <a:r>
              <a:rPr lang="ar-SA" dirty="0"/>
              <a:t>، ودوال أولية . تستخدم المعاملات لتمرير بيانات ومعلومات التحكم، بينما تستخدم الدوال لتحديد الوظائف المطلوب تحقيقها. يوضح الشكل2.3 (أ) مخطط تتابع الأحداث التي يقوم فيها تطبيق مولد الأمر (أو منشئ الإشعار) برجاء إرسال وحدة بيانات بروتوكول        </a:t>
            </a:r>
            <a:r>
              <a:rPr lang="en-US" dirty="0"/>
              <a:t>PDU</a:t>
            </a:r>
            <a:r>
              <a:rPr lang="ar-SA" dirty="0"/>
              <a:t>، وطريقة استرجاع الرد الموافق لهذا التطبيق، وهذه الأعمال تحدث عند وحدة المدير </a:t>
            </a:r>
            <a:r>
              <a:rPr lang="en-US" dirty="0"/>
              <a:t>Manager</a:t>
            </a:r>
            <a:r>
              <a:rPr lang="ar-SA" dirty="0"/>
              <a:t>. يوضح الشكل2.3 (ب) الأحداث </a:t>
            </a:r>
            <a:r>
              <a:rPr lang="en-US" dirty="0"/>
              <a:t>Events </a:t>
            </a:r>
            <a:r>
              <a:rPr lang="ar-SA" dirty="0"/>
              <a:t> المقابلة التي تتم عند وحدة الوكيل </a:t>
            </a:r>
            <a:r>
              <a:rPr lang="en-US" dirty="0"/>
              <a:t>Agent</a:t>
            </a:r>
            <a:r>
              <a:rPr lang="ar-SA" dirty="0"/>
              <a:t>. عندما يقوم المنجز </a:t>
            </a:r>
            <a:r>
              <a:rPr lang="en-US" dirty="0"/>
              <a:t>Dispatcher</a:t>
            </a:r>
            <a:r>
              <a:rPr lang="ar-SA" dirty="0"/>
              <a:t> باستقبال رسالة قادمة إليه من وحدة </a:t>
            </a:r>
            <a:r>
              <a:rPr lang="en-US" dirty="0"/>
              <a:t>PDU</a:t>
            </a:r>
            <a:r>
              <a:rPr lang="ar-SA" dirty="0"/>
              <a:t> فإنه يقوم بالرد عليها</a:t>
            </a:r>
            <a:endParaRPr lang="en-US" dirty="0"/>
          </a:p>
        </p:txBody>
      </p:sp>
    </p:spTree>
    <p:extLst>
      <p:ext uri="{BB962C8B-B14F-4D97-AF65-F5344CB8AC3E}">
        <p14:creationId xmlns:p14="http://schemas.microsoft.com/office/powerpoint/2010/main" val="2451248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990600"/>
            <a:ext cx="7453838"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42091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نموذج أمن المستخدم </a:t>
            </a:r>
            <a:r>
              <a:rPr lang="en-US" b="1" dirty="0"/>
              <a:t>USM</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r" rtl="1"/>
            <a:r>
              <a:rPr lang="ar-SA" dirty="0"/>
              <a:t>يوفر نموذج أمن المستخدم </a:t>
            </a:r>
            <a:r>
              <a:rPr lang="en-US" dirty="0"/>
              <a:t>USM</a:t>
            </a:r>
            <a:r>
              <a:rPr lang="ar-SA" dirty="0"/>
              <a:t> للبروتوكول "سنمب-ف3" خدمات التوثيق </a:t>
            </a:r>
            <a:r>
              <a:rPr lang="en-US" dirty="0"/>
              <a:t>Authentication</a:t>
            </a:r>
            <a:r>
              <a:rPr lang="ar-SA" dirty="0"/>
              <a:t>، وخدمات الخصوصية </a:t>
            </a:r>
            <a:r>
              <a:rPr lang="en-US" dirty="0"/>
              <a:t>Privacy</a:t>
            </a:r>
            <a:r>
              <a:rPr lang="ar-SA" dirty="0"/>
              <a:t>. </a:t>
            </a:r>
            <a:r>
              <a:rPr lang="ar-SA" u="sng" dirty="0"/>
              <a:t>فقد تم تصميم نموذج </a:t>
            </a:r>
            <a:r>
              <a:rPr lang="en-US" u="sng" dirty="0"/>
              <a:t>USM</a:t>
            </a:r>
            <a:r>
              <a:rPr lang="ar-SA" u="sng" dirty="0"/>
              <a:t> للحماية من التهديدات </a:t>
            </a:r>
            <a:r>
              <a:rPr lang="en-US" u="sng" dirty="0"/>
              <a:t>Threats</a:t>
            </a:r>
            <a:r>
              <a:rPr lang="ar-SA" u="sng" dirty="0"/>
              <a:t> الرئيسية ،الموضحة في الشكل2.4 وهي : </a:t>
            </a:r>
            <a:endParaRPr lang="en-US" u="sng" dirty="0" smtClean="0"/>
          </a:p>
          <a:p>
            <a:pPr algn="r" rtl="1"/>
            <a:r>
              <a:rPr lang="ar-SA" dirty="0"/>
              <a:t>- </a:t>
            </a:r>
            <a:r>
              <a:rPr lang="ar-SA" b="1" u="sng" dirty="0"/>
              <a:t>تعديل المعلومات</a:t>
            </a:r>
            <a:r>
              <a:rPr lang="ar-SA" b="1" dirty="0"/>
              <a:t>:</a:t>
            </a:r>
            <a:endParaRPr lang="en-US" dirty="0"/>
          </a:p>
          <a:p>
            <a:pPr algn="r" rtl="1"/>
            <a:r>
              <a:rPr lang="ar-SA" dirty="0"/>
              <a:t>وذلك لأنه يمكن أن يتم تغيير الرسالة المتولدة أثناء مرورها في محطة التشغيل </a:t>
            </a:r>
            <a:r>
              <a:rPr lang="en-US" dirty="0"/>
              <a:t>Entity</a:t>
            </a:r>
            <a:r>
              <a:rPr lang="ar-SA" dirty="0"/>
              <a:t> بواسطة محطة تشغيل أخرى غير مفوضة، ممَّا يؤثر على العمليات الإدارية، ويشمل ذلك تهيئة قيم العناصر (الأجهزة). و تكمن خطورة هذا التهديد في أنه يمكن لمحطة التشغيل غير المفوضة أن تغير أي معاملات إدارية، وقد يشمل ذلك معاملات التهيئة، والتشغيل، والحسابات. </a:t>
            </a:r>
            <a:endParaRPr lang="en-US" dirty="0"/>
          </a:p>
        </p:txBody>
      </p:sp>
    </p:spTree>
    <p:extLst>
      <p:ext uri="{BB962C8B-B14F-4D97-AF65-F5344CB8AC3E}">
        <p14:creationId xmlns:p14="http://schemas.microsoft.com/office/powerpoint/2010/main" val="31211075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r" rtl="1"/>
            <a:r>
              <a:rPr lang="ar-SA" b="1" dirty="0"/>
              <a:t>-</a:t>
            </a:r>
            <a:r>
              <a:rPr lang="en-US" b="1" dirty="0"/>
              <a:t>   </a:t>
            </a:r>
            <a:r>
              <a:rPr lang="ar-SA" b="1" u="sng" dirty="0"/>
              <a:t>التنكر </a:t>
            </a:r>
            <a:r>
              <a:rPr lang="en-US" b="1" u="sng" dirty="0"/>
              <a:t>Masquerade</a:t>
            </a:r>
            <a:r>
              <a:rPr lang="ar-SA" b="1" u="sng" dirty="0"/>
              <a:t>:</a:t>
            </a:r>
            <a:endParaRPr lang="en-US" dirty="0"/>
          </a:p>
          <a:p>
            <a:pPr algn="r" rtl="1"/>
            <a:r>
              <a:rPr lang="ar-SA" dirty="0"/>
              <a:t>حيث يمكن لبعض العمليات الإدارية غير المفوضة لبعض محطات التشغيل، أن تحاول من خلال هذه المحطات فرض هوية </a:t>
            </a:r>
            <a:r>
              <a:rPr lang="en-US" dirty="0"/>
              <a:t>Identity </a:t>
            </a:r>
            <a:r>
              <a:rPr lang="ar-SA" dirty="0"/>
              <a:t> المحطة المفوضة. </a:t>
            </a:r>
            <a:endParaRPr lang="en-US" dirty="0"/>
          </a:p>
          <a:p>
            <a:pPr algn="r" rtl="1"/>
            <a:r>
              <a:rPr lang="ar-SA" dirty="0"/>
              <a:t>- </a:t>
            </a:r>
            <a:r>
              <a:rPr lang="ar-SA" b="1" u="sng" dirty="0"/>
              <a:t>تعديل فيض الرسالة </a:t>
            </a:r>
            <a:r>
              <a:rPr lang="en-US" b="1" u="sng" dirty="0"/>
              <a:t>Message Stream</a:t>
            </a:r>
            <a:r>
              <a:rPr lang="ar-SA" b="1" u="sng" dirty="0"/>
              <a:t>:</a:t>
            </a:r>
            <a:endParaRPr lang="en-US" dirty="0"/>
          </a:p>
          <a:p>
            <a:pPr algn="r" rtl="1"/>
            <a:r>
              <a:rPr lang="ar-SA" dirty="0"/>
              <a:t>لقد تم تصميم بروتوكول"سنمب-ف3" لكي يعمل فوق طبقة بروتوكول النقل </a:t>
            </a:r>
            <a:r>
              <a:rPr lang="en-US" dirty="0"/>
              <a:t>Transport Protocol</a:t>
            </a:r>
            <a:r>
              <a:rPr lang="ar-SA" dirty="0"/>
              <a:t> في نمط عدم الربط </a:t>
            </a:r>
            <a:r>
              <a:rPr lang="en-US" dirty="0"/>
              <a:t>Connectionless</a:t>
            </a:r>
            <a:r>
              <a:rPr lang="ar-SA" dirty="0"/>
              <a:t>. وقد يسبب هذا تهديدا لرسائل بروتوكول "سنمب-ف3" ‘ إذ يمكن إعادة طلبها </a:t>
            </a:r>
            <a:r>
              <a:rPr lang="en-US" dirty="0"/>
              <a:t>Reordered </a:t>
            </a:r>
            <a:r>
              <a:rPr lang="ar-SA" dirty="0"/>
              <a:t> أو تأخيرها، أو عمل نسخة إضافية منها </a:t>
            </a:r>
            <a:r>
              <a:rPr lang="en-US" dirty="0"/>
              <a:t>Duplicated</a:t>
            </a:r>
            <a:r>
              <a:rPr lang="ar-SA" dirty="0"/>
              <a:t> ، وتحدث عمليات إدارية غير </a:t>
            </a:r>
            <a:r>
              <a:rPr lang="ar-SA" dirty="0" smtClean="0"/>
              <a:t>مفوضة</a:t>
            </a:r>
            <a:endParaRPr lang="en-US" dirty="0" smtClean="0"/>
          </a:p>
          <a:p>
            <a:pPr algn="r" rtl="1"/>
            <a:r>
              <a:rPr lang="ar-SA" b="1" dirty="0"/>
              <a:t>- </a:t>
            </a:r>
            <a:r>
              <a:rPr lang="ar-SA" b="1" u="sng" dirty="0"/>
              <a:t>كشف السر </a:t>
            </a:r>
            <a:r>
              <a:rPr lang="en-US" b="1" u="sng" dirty="0"/>
              <a:t>Disclosure</a:t>
            </a:r>
            <a:r>
              <a:rPr lang="ar-SA" b="1" u="sng" dirty="0"/>
              <a:t>:</a:t>
            </a:r>
            <a:endParaRPr lang="en-US" dirty="0"/>
          </a:p>
          <a:p>
            <a:pPr algn="r" rtl="1"/>
            <a:r>
              <a:rPr lang="ar-SA" dirty="0"/>
              <a:t>يمكن لمحطة التشغيل </a:t>
            </a:r>
            <a:r>
              <a:rPr lang="en-US" dirty="0"/>
              <a:t>Entity</a:t>
            </a:r>
            <a:r>
              <a:rPr lang="ar-SA" dirty="0"/>
              <a:t> أن تلاحظ المبادلات </a:t>
            </a:r>
            <a:r>
              <a:rPr lang="en-US" dirty="0"/>
              <a:t>Exchanges</a:t>
            </a:r>
            <a:r>
              <a:rPr lang="ar-SA" dirty="0"/>
              <a:t> بين المدير والوكيل لكي تتعلم قيم العناصر الإدارية التي يجب أن يتم الإبلاغ عنها</a:t>
            </a:r>
            <a:endParaRPr lang="en-US" dirty="0"/>
          </a:p>
          <a:p>
            <a:endParaRPr lang="en-US" dirty="0"/>
          </a:p>
        </p:txBody>
      </p:sp>
    </p:spTree>
    <p:extLst>
      <p:ext uri="{BB962C8B-B14F-4D97-AF65-F5344CB8AC3E}">
        <p14:creationId xmlns:p14="http://schemas.microsoft.com/office/powerpoint/2010/main" val="23266458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7323" y="2362201"/>
            <a:ext cx="5211344" cy="2839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590800" y="5410200"/>
            <a:ext cx="3175869" cy="369332"/>
          </a:xfrm>
          <a:prstGeom prst="rect">
            <a:avLst/>
          </a:prstGeom>
        </p:spPr>
        <p:txBody>
          <a:bodyPr wrap="none">
            <a:spAutoFit/>
          </a:bodyPr>
          <a:lstStyle/>
          <a:p>
            <a:pPr rtl="1"/>
            <a:r>
              <a:rPr lang="ar-SA" b="1" dirty="0"/>
              <a:t>شكل2.4  تهديدات أمن إدارة المعلومات.</a:t>
            </a:r>
            <a:endParaRPr lang="en-US" dirty="0"/>
          </a:p>
        </p:txBody>
      </p:sp>
    </p:spTree>
    <p:extLst>
      <p:ext uri="{BB962C8B-B14F-4D97-AF65-F5344CB8AC3E}">
        <p14:creationId xmlns:p14="http://schemas.microsoft.com/office/powerpoint/2010/main" val="35952592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r" rtl="1"/>
            <a:r>
              <a:rPr lang="en-US" dirty="0"/>
              <a:t> </a:t>
            </a:r>
            <a:r>
              <a:rPr lang="ar-SA" b="1" u="sng" dirty="0"/>
              <a:t>تهديدات أخرى</a:t>
            </a:r>
            <a:r>
              <a:rPr lang="en-US" b="1" u="sng" dirty="0"/>
              <a:t>:</a:t>
            </a:r>
            <a:endParaRPr lang="en-US" dirty="0"/>
          </a:p>
          <a:p>
            <a:pPr algn="r" rtl="1"/>
            <a:r>
              <a:rPr lang="ar-SA" dirty="0"/>
              <a:t>يوجد بعض التهديدات الأخرى التي لم يتم تصميم نموذج </a:t>
            </a:r>
            <a:r>
              <a:rPr lang="en-US" dirty="0"/>
              <a:t>USM</a:t>
            </a:r>
            <a:r>
              <a:rPr lang="ar-SA" dirty="0"/>
              <a:t>  لإجراء عمليات الحماية منها وهي:</a:t>
            </a:r>
            <a:endParaRPr lang="en-US" dirty="0"/>
          </a:p>
          <a:p>
            <a:pPr algn="r" rtl="1"/>
            <a:r>
              <a:rPr lang="ar-SA" b="1" dirty="0"/>
              <a:t>- </a:t>
            </a:r>
            <a:r>
              <a:rPr lang="ar-SA" b="1" u="sng" dirty="0"/>
              <a:t>إنكار الخدمة </a:t>
            </a:r>
            <a:r>
              <a:rPr lang="en-US" b="1" u="sng" dirty="0"/>
              <a:t>Denial of Service</a:t>
            </a:r>
            <a:r>
              <a:rPr lang="ar-SA" b="1" u="sng" dirty="0"/>
              <a:t>:</a:t>
            </a:r>
            <a:endParaRPr lang="en-US" dirty="0"/>
          </a:p>
          <a:p>
            <a:pPr algn="r" rtl="1"/>
            <a:r>
              <a:rPr lang="ar-SA" dirty="0"/>
              <a:t>المقصود بهذا التهديد هو أن يقوم المهاجم بمحاولة منع المستخدم الشرعي من استخدام الشبكة. حيث يقوم المهاجم هنا بمحاولة منع المبادلات التي تتم بين المدير والوكيل. ويحتاج هذا النوع من التهديدات وجود وسائل أمنية أخرى، خلاف الموجودة في بروتوكول إدارة الشبكة.</a:t>
            </a:r>
            <a:endParaRPr lang="en-US" dirty="0"/>
          </a:p>
          <a:p>
            <a:pPr algn="r" rtl="1"/>
            <a:r>
              <a:rPr lang="ar-SA" b="1" dirty="0"/>
              <a:t>- </a:t>
            </a:r>
            <a:r>
              <a:rPr lang="ar-SA" b="1" u="sng" dirty="0"/>
              <a:t>تحليل الحركة </a:t>
            </a:r>
            <a:r>
              <a:rPr lang="en-US" b="1" u="sng" dirty="0"/>
              <a:t>Traffic Analysis</a:t>
            </a:r>
            <a:r>
              <a:rPr lang="ar-SA" b="1" dirty="0"/>
              <a:t>:</a:t>
            </a:r>
            <a:endParaRPr lang="en-US" dirty="0"/>
          </a:p>
          <a:p>
            <a:pPr algn="r" rtl="1"/>
            <a:r>
              <a:rPr lang="ar-SA" dirty="0"/>
              <a:t>قد يتمكن المهاجم من مراقبة النموذج العام لحركة مرور الرسائل بين المديرين والوكلاء. إن نماذج تحليل حركة مرور الرسائل يمكن معرفته بواسطة بروتوكول إدارة الشبكة، باستخدام أوامر "سنمب-ف3" على فترات منتظمة. ولذلك لا يوجد ميزة هامة للحماية ضد ملاحظة المهاجم نماذج حركة مرور الرسائل.</a:t>
            </a:r>
            <a:endParaRPr lang="en-US" dirty="0"/>
          </a:p>
          <a:p>
            <a:pPr algn="r"/>
            <a:endParaRPr lang="en-US" dirty="0"/>
          </a:p>
        </p:txBody>
      </p:sp>
    </p:spTree>
    <p:extLst>
      <p:ext uri="{BB962C8B-B14F-4D97-AF65-F5344CB8AC3E}">
        <p14:creationId xmlns:p14="http://schemas.microsoft.com/office/powerpoint/2010/main" val="4874203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3   تحقيق التوثيق والتكامل  </a:t>
            </a:r>
            <a:r>
              <a:rPr lang="en-US" b="1" dirty="0"/>
              <a:t>Authentication and </a:t>
            </a:r>
            <a:r>
              <a:rPr lang="en-US" b="1" dirty="0" smtClean="0"/>
              <a:t>Integrity</a:t>
            </a:r>
            <a:endParaRPr lang="en-US" dirty="0"/>
          </a:p>
        </p:txBody>
      </p:sp>
      <p:sp>
        <p:nvSpPr>
          <p:cNvPr id="3" name="Content Placeholder 2"/>
          <p:cNvSpPr>
            <a:spLocks noGrp="1"/>
          </p:cNvSpPr>
          <p:nvPr>
            <p:ph idx="1"/>
          </p:nvPr>
        </p:nvSpPr>
        <p:spPr/>
        <p:txBody>
          <a:bodyPr/>
          <a:lstStyle/>
          <a:p>
            <a:pPr algn="r" rtl="1"/>
            <a:r>
              <a:rPr lang="ar-SA" dirty="0" smtClean="0"/>
              <a:t>تحقق </a:t>
            </a:r>
            <a:r>
              <a:rPr lang="ar-SA" dirty="0"/>
              <a:t>طريقة توثيق الرسائل إجراء عمليات الاتصال بين طرفي الاتصال من استقبال رسائل موثقة . وذلك لضمان أن محتويات الرسالة لم يتم تعديلها وأن مصدر الرسالة موثق.  وتستخدم تقنية شفرة توثيق الرسالة </a:t>
            </a:r>
            <a:r>
              <a:rPr lang="en-US" dirty="0"/>
              <a:t>Message Authentication Code (MAC)</a:t>
            </a:r>
            <a:r>
              <a:rPr lang="ar-SA" dirty="0"/>
              <a:t> لتحقيق عملية توثيق الرسالة. يوضح الشكل 2.5 عملية توثيق الرسالة باستخدام شفرة التوثيق </a:t>
            </a:r>
            <a:r>
              <a:rPr lang="en-US" dirty="0"/>
              <a:t>MAC</a:t>
            </a:r>
            <a:r>
              <a:rPr lang="ar-SA" dirty="0"/>
              <a:t> .</a:t>
            </a:r>
            <a:endParaRPr lang="en-US" dirty="0"/>
          </a:p>
          <a:p>
            <a:pPr algn="r"/>
            <a:endParaRPr lang="en-US" dirty="0"/>
          </a:p>
        </p:txBody>
      </p:sp>
    </p:spTree>
    <p:extLst>
      <p:ext uri="{BB962C8B-B14F-4D97-AF65-F5344CB8AC3E}">
        <p14:creationId xmlns:p14="http://schemas.microsoft.com/office/powerpoint/2010/main" val="27824593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304800"/>
            <a:ext cx="6283039" cy="4110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4549676"/>
            <a:ext cx="7772400" cy="2308324"/>
          </a:xfrm>
          <a:prstGeom prst="rect">
            <a:avLst/>
          </a:prstGeom>
        </p:spPr>
        <p:txBody>
          <a:bodyPr wrap="square">
            <a:spAutoFit/>
          </a:bodyPr>
          <a:lstStyle/>
          <a:p>
            <a:pPr algn="r" rtl="1"/>
            <a:r>
              <a:rPr lang="ar-SA" sz="2400" dirty="0"/>
              <a:t>يستخدم نموذج </a:t>
            </a:r>
            <a:r>
              <a:rPr lang="en-US" sz="2400" dirty="0"/>
              <a:t>USM</a:t>
            </a:r>
            <a:r>
              <a:rPr lang="ar-SA" sz="2400" dirty="0"/>
              <a:t> بروتوكول التوثيق </a:t>
            </a:r>
            <a:r>
              <a:rPr lang="en-US" sz="2400" dirty="0"/>
              <a:t>HMAC-MD5-96</a:t>
            </a:r>
            <a:r>
              <a:rPr lang="ar-SA" sz="2400" dirty="0"/>
              <a:t> الذي يستعمل دالة </a:t>
            </a:r>
            <a:r>
              <a:rPr lang="en-US" sz="2400" dirty="0"/>
              <a:t>Hash</a:t>
            </a:r>
            <a:r>
              <a:rPr lang="ar-SA" sz="2400" dirty="0"/>
              <a:t> وهي </a:t>
            </a:r>
            <a:r>
              <a:rPr lang="en-US" sz="2400" dirty="0"/>
              <a:t>DM5</a:t>
            </a:r>
            <a:r>
              <a:rPr lang="ar-SA" sz="2400" dirty="0"/>
              <a:t>. بينما البروتوكول </a:t>
            </a:r>
            <a:r>
              <a:rPr lang="en-US" sz="2400" dirty="0"/>
              <a:t>HMAC-SHA-96</a:t>
            </a:r>
            <a:r>
              <a:rPr lang="ar-SA" sz="2400" dirty="0"/>
              <a:t> تكون دالة </a:t>
            </a:r>
            <a:r>
              <a:rPr lang="en-US" sz="2400" dirty="0"/>
              <a:t>Hash</a:t>
            </a:r>
            <a:r>
              <a:rPr lang="ar-SA" sz="2400" dirty="0"/>
              <a:t> هي </a:t>
            </a:r>
            <a:r>
              <a:rPr lang="en-US" sz="2400" dirty="0"/>
              <a:t>SHA-1</a:t>
            </a:r>
            <a:r>
              <a:rPr lang="ar-SA" sz="2400" dirty="0"/>
              <a:t>. يكون مدخل دالة  </a:t>
            </a:r>
            <a:r>
              <a:rPr lang="en-US" sz="2400" dirty="0"/>
              <a:t>Hash</a:t>
            </a:r>
            <a:r>
              <a:rPr lang="ar-SA" sz="2400" dirty="0"/>
              <a:t> الرسالة المطلوب إرسالها، ومفتاح التوثيق </a:t>
            </a:r>
            <a:r>
              <a:rPr lang="en-US" sz="2400" dirty="0" err="1"/>
              <a:t>authKey</a:t>
            </a:r>
            <a:r>
              <a:rPr lang="ar-SA" sz="2400" dirty="0"/>
              <a:t> من المستخدم. يكون </a:t>
            </a:r>
            <a:r>
              <a:rPr lang="ar-SA" sz="2400" dirty="0" smtClean="0"/>
              <a:t>المخرج </a:t>
            </a:r>
            <a:r>
              <a:rPr lang="ar-SA" sz="2400" dirty="0"/>
              <a:t>الناتج هو شفرة توثيق الرسالة </a:t>
            </a:r>
            <a:r>
              <a:rPr lang="en-US" sz="2400" dirty="0"/>
              <a:t>MAC </a:t>
            </a:r>
            <a:r>
              <a:rPr lang="ar-SA" sz="2400" dirty="0"/>
              <a:t> يكون طولها 12 حرف </a:t>
            </a:r>
            <a:r>
              <a:rPr lang="en-US" sz="2400" dirty="0"/>
              <a:t>Octets</a:t>
            </a:r>
            <a:r>
              <a:rPr lang="ar-SA" sz="2400" dirty="0"/>
              <a:t> يتم إرسالها مع الرسالة الأصلية.</a:t>
            </a:r>
            <a:endParaRPr lang="en-US" sz="2400" dirty="0"/>
          </a:p>
        </p:txBody>
      </p:sp>
    </p:spTree>
    <p:extLst>
      <p:ext uri="{BB962C8B-B14F-4D97-AF65-F5344CB8AC3E}">
        <p14:creationId xmlns:p14="http://schemas.microsoft.com/office/powerpoint/2010/main" val="406631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1"/>
            <a:r>
              <a:rPr lang="ar-SA" b="1" dirty="0"/>
              <a:t>3 تحقيق الخصوصية بواسطة التشفير</a:t>
            </a:r>
            <a:r>
              <a:rPr lang="en-US" dirty="0"/>
              <a:t/>
            </a:r>
            <a:br>
              <a:rPr lang="en-US" dirty="0"/>
            </a:br>
            <a:r>
              <a:rPr lang="ar-SA" dirty="0"/>
              <a:t> </a:t>
            </a:r>
            <a:r>
              <a:rPr lang="en-US" dirty="0"/>
              <a:t>Privacy Through </a:t>
            </a:r>
            <a:r>
              <a:rPr lang="en-US" dirty="0" smtClean="0"/>
              <a:t>Encryption</a:t>
            </a:r>
            <a:endParaRPr lang="en-US" dirty="0"/>
          </a:p>
        </p:txBody>
      </p:sp>
      <p:sp>
        <p:nvSpPr>
          <p:cNvPr id="3" name="Content Placeholder 2"/>
          <p:cNvSpPr>
            <a:spLocks noGrp="1"/>
          </p:cNvSpPr>
          <p:nvPr>
            <p:ph idx="1"/>
          </p:nvPr>
        </p:nvSpPr>
        <p:spPr/>
        <p:txBody>
          <a:bodyPr/>
          <a:lstStyle/>
          <a:p>
            <a:pPr algn="r" rtl="1"/>
            <a:r>
              <a:rPr lang="ar-SA" dirty="0" smtClean="0"/>
              <a:t>يستخدم </a:t>
            </a:r>
            <a:r>
              <a:rPr lang="ar-SA" dirty="0"/>
              <a:t>نموذج </a:t>
            </a:r>
            <a:r>
              <a:rPr lang="en-US" dirty="0"/>
              <a:t>USM</a:t>
            </a:r>
            <a:r>
              <a:rPr lang="ar-SA" dirty="0"/>
              <a:t> الخوارزم القياسي لتشفير البيانات </a:t>
            </a:r>
            <a:r>
              <a:rPr lang="en-US" dirty="0"/>
              <a:t>Data Encryption Standard (DES)</a:t>
            </a:r>
            <a:r>
              <a:rPr lang="ar-SA" dirty="0"/>
              <a:t> في تشفير الرسائل وذلك لضمان تحقيق الخصوصية </a:t>
            </a:r>
            <a:r>
              <a:rPr lang="en-US" dirty="0"/>
              <a:t>Privacy</a:t>
            </a:r>
            <a:r>
              <a:rPr lang="ar-SA" dirty="0"/>
              <a:t>. ويستخدم مفتاح سري  </a:t>
            </a:r>
            <a:r>
              <a:rPr lang="en-US" dirty="0" err="1"/>
              <a:t>privKey</a:t>
            </a:r>
            <a:r>
              <a:rPr lang="ar-SA" dirty="0"/>
              <a:t> طوله ثمانية حروف لإجراء عملية التشفير . ويوضح الشكل2.6 مراحل إجراء عملية التشفير </a:t>
            </a:r>
            <a:r>
              <a:rPr lang="en-US" dirty="0"/>
              <a:t>Encryption</a:t>
            </a:r>
            <a:r>
              <a:rPr lang="ar-SA" dirty="0"/>
              <a:t> للرسالة الأصلية </a:t>
            </a:r>
            <a:r>
              <a:rPr lang="en-US" dirty="0"/>
              <a:t>Plaintext</a:t>
            </a:r>
            <a:r>
              <a:rPr lang="ar-SA" dirty="0"/>
              <a:t> عند الطرف المرسل، وعملية فك التشفير </a:t>
            </a:r>
            <a:r>
              <a:rPr lang="en-US" dirty="0"/>
              <a:t>Decryption</a:t>
            </a:r>
            <a:r>
              <a:rPr lang="ar-SA" dirty="0"/>
              <a:t> عند الطرف المستقبل. </a:t>
            </a:r>
            <a:endParaRPr lang="en-US" dirty="0"/>
          </a:p>
          <a:p>
            <a:pPr algn="r"/>
            <a:endParaRPr lang="en-US" dirty="0"/>
          </a:p>
        </p:txBody>
      </p:sp>
    </p:spTree>
    <p:extLst>
      <p:ext uri="{BB962C8B-B14F-4D97-AF65-F5344CB8AC3E}">
        <p14:creationId xmlns:p14="http://schemas.microsoft.com/office/powerpoint/2010/main" val="38876427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2209800"/>
            <a:ext cx="6880152" cy="319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19400" y="5791200"/>
            <a:ext cx="3135795" cy="369332"/>
          </a:xfrm>
          <a:prstGeom prst="rect">
            <a:avLst/>
          </a:prstGeom>
        </p:spPr>
        <p:txBody>
          <a:bodyPr wrap="none">
            <a:spAutoFit/>
          </a:bodyPr>
          <a:lstStyle/>
          <a:p>
            <a:r>
              <a:rPr lang="ar-SA" b="1" dirty="0"/>
              <a:t>الشكل2.6 مراحل إجراء عملية التشفير.</a:t>
            </a:r>
            <a:endParaRPr lang="en-US" dirty="0"/>
          </a:p>
        </p:txBody>
      </p:sp>
    </p:spTree>
    <p:extLst>
      <p:ext uri="{BB962C8B-B14F-4D97-AF65-F5344CB8AC3E}">
        <p14:creationId xmlns:p14="http://schemas.microsoft.com/office/powerpoint/2010/main" val="28769139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3 معالجة الرسالة في نموذج </a:t>
            </a:r>
            <a:r>
              <a:rPr lang="en-US" b="1" dirty="0"/>
              <a:t>USM</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r" rtl="1"/>
            <a:r>
              <a:rPr lang="ar-SA" dirty="0" smtClean="0"/>
              <a:t>يوضح </a:t>
            </a:r>
            <a:r>
              <a:rPr lang="ar-SA" dirty="0"/>
              <a:t>الشكل2.7، والشكل 2.8 خريطة التدفق لبيان سير العمليات التي تمر بها الرسالة أثناء معالجتها في نموذج </a:t>
            </a:r>
            <a:r>
              <a:rPr lang="en-US" dirty="0"/>
              <a:t>USM</a:t>
            </a:r>
            <a:r>
              <a:rPr lang="ar-SA" dirty="0"/>
              <a:t> في مرحلتي الإرسال والاستقبال، على الترتيب. عندما تمر رسالة خرج </a:t>
            </a:r>
            <a:r>
              <a:rPr lang="en-US" dirty="0"/>
              <a:t>outgoing</a:t>
            </a:r>
            <a:r>
              <a:rPr lang="ar-SA" dirty="0"/>
              <a:t> إلى نموذج </a:t>
            </a:r>
            <a:r>
              <a:rPr lang="en-US" dirty="0"/>
              <a:t>USM</a:t>
            </a:r>
            <a:r>
              <a:rPr lang="ar-SA" dirty="0"/>
              <a:t> بواسطة معالج الرسالة، فإن </a:t>
            </a:r>
            <a:r>
              <a:rPr lang="en-US" dirty="0"/>
              <a:t>USM</a:t>
            </a:r>
            <a:r>
              <a:rPr lang="ar-SA" dirty="0"/>
              <a:t> يضع بها معاملات الأمن ذات العلاقة في مقدمة الرسالة </a:t>
            </a:r>
            <a:r>
              <a:rPr lang="en-US" dirty="0"/>
              <a:t>Message Header</a:t>
            </a:r>
            <a:r>
              <a:rPr lang="ar-SA" dirty="0"/>
              <a:t> . وعندما تمر رسالة دخل </a:t>
            </a:r>
            <a:r>
              <a:rPr lang="en-US" dirty="0"/>
              <a:t>incoming</a:t>
            </a:r>
            <a:r>
              <a:rPr lang="ar-SA" dirty="0"/>
              <a:t> إلى نموذج </a:t>
            </a:r>
            <a:r>
              <a:rPr lang="en-US" dirty="0"/>
              <a:t>USM</a:t>
            </a:r>
            <a:r>
              <a:rPr lang="ar-SA" dirty="0"/>
              <a:t> بواسطة معالج الرسالة، فإن نموذج </a:t>
            </a:r>
            <a:r>
              <a:rPr lang="en-US" dirty="0"/>
              <a:t>USM</a:t>
            </a:r>
            <a:r>
              <a:rPr lang="ar-SA" dirty="0"/>
              <a:t> يقوم بمعالجة القيم الموجودة في هذه الحقول البيانية للرسالة، وتشمل معاملات الأمن ذات العلاقة. تكون قيمة معامل الخصوصية هي القيمة المبدئية </a:t>
            </a:r>
            <a:r>
              <a:rPr lang="en-US" dirty="0"/>
              <a:t>IV</a:t>
            </a:r>
            <a:r>
              <a:rPr lang="ar-SA" dirty="0"/>
              <a:t> (متجه مبدئي </a:t>
            </a:r>
            <a:r>
              <a:rPr lang="en-US" dirty="0"/>
              <a:t>Initial Vector</a:t>
            </a:r>
            <a:r>
              <a:rPr lang="ar-SA" dirty="0"/>
              <a:t>)في خوارزم </a:t>
            </a:r>
            <a:r>
              <a:rPr lang="en-US" dirty="0"/>
              <a:t>DES CBC</a:t>
            </a:r>
            <a:r>
              <a:rPr lang="ar-SA" dirty="0"/>
              <a:t>. </a:t>
            </a:r>
            <a:endParaRPr lang="en-US" dirty="0"/>
          </a:p>
          <a:p>
            <a:pPr algn="r" rtl="1"/>
            <a:r>
              <a:rPr lang="ar-SA" dirty="0"/>
              <a:t> </a:t>
            </a:r>
            <a:endParaRPr lang="en-US" dirty="0"/>
          </a:p>
          <a:p>
            <a:pPr algn="r"/>
            <a:endParaRPr lang="en-US" dirty="0"/>
          </a:p>
        </p:txBody>
      </p:sp>
    </p:spTree>
    <p:extLst>
      <p:ext uri="{BB962C8B-B14F-4D97-AF65-F5344CB8AC3E}">
        <p14:creationId xmlns:p14="http://schemas.microsoft.com/office/powerpoint/2010/main" val="7306417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smtClean="0"/>
              <a:t>توليد </a:t>
            </a:r>
            <a:r>
              <a:rPr lang="ar-SA" b="1" dirty="0"/>
              <a:t>المفاتيح السرية</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r" rtl="1"/>
            <a:r>
              <a:rPr lang="ar-SA" b="1" dirty="0"/>
              <a:t> </a:t>
            </a:r>
            <a:endParaRPr lang="en-US" dirty="0"/>
          </a:p>
          <a:p>
            <a:pPr algn="r" rtl="1"/>
            <a:r>
              <a:rPr lang="ar-SA" dirty="0"/>
              <a:t>يحتاج خوارزم </a:t>
            </a:r>
            <a:r>
              <a:rPr lang="en-US" dirty="0"/>
              <a:t>DES </a:t>
            </a:r>
            <a:r>
              <a:rPr lang="ar-SA" dirty="0"/>
              <a:t> متجهاً مبدئياً </a:t>
            </a:r>
            <a:r>
              <a:rPr lang="en-US" dirty="0"/>
              <a:t>Initial Vector (IV)</a:t>
            </a:r>
            <a:r>
              <a:rPr lang="ar-SA" dirty="0"/>
              <a:t>  يماثل الحرف الثمانية الأخيرة لمفتاح التشفير </a:t>
            </a:r>
            <a:r>
              <a:rPr lang="en-US" dirty="0" err="1"/>
              <a:t>privKey</a:t>
            </a:r>
            <a:r>
              <a:rPr lang="ar-SA" dirty="0"/>
              <a:t>  . وتكون عملية تشفير الرسائل اختيارية. يتم إرسال مفتاح التشفير محليا عند محطة الإدارة. عندما تستخدم محطات الإدارة مفاتيح سرية مختلفة، فإن المدير ينبغي عليه أن يمتلك نفس عدد هذه المفاتيح. في هذه الحالة، قد تسبب عملية إدارة هذه المفاتيح بسرعة مشكلة. إذا تم اقتحام محطة الإدارة وتعرضت مفاتيح السرية إلى شبهة </a:t>
            </a:r>
            <a:r>
              <a:rPr lang="en-US" dirty="0"/>
              <a:t>Compromise</a:t>
            </a:r>
            <a:r>
              <a:rPr lang="ar-SA" dirty="0"/>
              <a:t>، فإن كل مراكز الاتصال في الشبكة </a:t>
            </a:r>
            <a:r>
              <a:rPr lang="en-US" dirty="0"/>
              <a:t>nodes</a:t>
            </a:r>
            <a:r>
              <a:rPr lang="ar-SA" dirty="0"/>
              <a:t> ينبغي إعادة تهيئتها يدويا. من ناحية أخرى، يمكن استخدام مفتاح وحيد لكل مراكز اتصال الشبكة التي يتم إدارتها. لكن تكمن مشكلة خطورة إدارة نظام الأمن كله بمفتاح سري وحيد.</a:t>
            </a:r>
            <a:endParaRPr lang="en-US" dirty="0"/>
          </a:p>
          <a:p>
            <a:pPr algn="r" rtl="1"/>
            <a:r>
              <a:rPr lang="ar-SA" dirty="0"/>
              <a:t>في نموذج </a:t>
            </a:r>
            <a:r>
              <a:rPr lang="en-US" dirty="0"/>
              <a:t>USM </a:t>
            </a:r>
            <a:r>
              <a:rPr lang="ar-SA" dirty="0"/>
              <a:t> يتم حل هذه المشكلة بواسطة توليد مفتاح محلي </a:t>
            </a:r>
            <a:r>
              <a:rPr lang="en-US" dirty="0"/>
              <a:t>Localized Key</a:t>
            </a:r>
            <a:r>
              <a:rPr lang="ar-SA" dirty="0"/>
              <a:t> . حيث يتم إنشاء هذه المفاتيح المحلية وتحديثها وإدارتها لكل مستخدم بواسطة آلة "سنمب-ف3"، وذلك باستخدام كلمة السر المستخدمة من المستخدم، مع هوية آلة سنمب-ف3 </a:t>
            </a:r>
            <a:r>
              <a:rPr lang="en-US" dirty="0" err="1"/>
              <a:t>snmpEngineID</a:t>
            </a:r>
            <a:r>
              <a:rPr lang="ar-SA" dirty="0"/>
              <a:t>، وهي الهوية الهدف </a:t>
            </a:r>
            <a:r>
              <a:rPr lang="en-US" dirty="0"/>
              <a:t>Target</a:t>
            </a:r>
            <a:r>
              <a:rPr lang="ar-SA" dirty="0"/>
              <a:t> لآلة سنمب-ف3.</a:t>
            </a:r>
            <a:endParaRPr lang="en-US" dirty="0"/>
          </a:p>
          <a:p>
            <a:pPr algn="r"/>
            <a:endParaRPr lang="en-US" dirty="0"/>
          </a:p>
        </p:txBody>
      </p:sp>
    </p:spTree>
    <p:extLst>
      <p:ext uri="{BB962C8B-B14F-4D97-AF65-F5344CB8AC3E}">
        <p14:creationId xmlns:p14="http://schemas.microsoft.com/office/powerpoint/2010/main" val="42829899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إدارة المفاتيح السرية</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يوجد حلٌّ آخر لتخزين المفتاح السري ،بدلاً من توليده من كلمة السر، وهو الاحتفاظ بمستودع مركزي </a:t>
            </a:r>
            <a:r>
              <a:rPr lang="en-US" dirty="0" smtClean="0"/>
              <a:t>Centralized Repository</a:t>
            </a:r>
            <a:r>
              <a:rPr lang="ar-SA" dirty="0" smtClean="0"/>
              <a:t> للمفاتيح السرية.</a:t>
            </a:r>
          </a:p>
          <a:p>
            <a:pPr algn="r" rtl="1"/>
            <a:r>
              <a:rPr lang="ar-SA" dirty="0"/>
              <a:t>لكن هذا يؤثر عدائياً على إجمالي الاعتمادية </a:t>
            </a:r>
            <a:r>
              <a:rPr lang="en-US" dirty="0"/>
              <a:t>Reliability</a:t>
            </a:r>
            <a:r>
              <a:rPr lang="ar-SA" dirty="0"/>
              <a:t> ويصعب عملية تشخيص الأعطال </a:t>
            </a:r>
            <a:r>
              <a:rPr lang="en-US" dirty="0"/>
              <a:t>Troubleshooting</a:t>
            </a:r>
            <a:r>
              <a:rPr lang="ar-SA" dirty="0"/>
              <a:t> نفسها، حيث يكون المستودع نفسه غير ممكن الوصول إليه عند الحاجة.</a:t>
            </a:r>
            <a:endParaRPr lang="en-US" dirty="0"/>
          </a:p>
          <a:p>
            <a:pPr algn="r" rtl="1"/>
            <a:r>
              <a:rPr lang="ar-SA" dirty="0"/>
              <a:t>من ناحية أخرى، عندما يتم مضاعفة </a:t>
            </a:r>
            <a:r>
              <a:rPr lang="en-US" dirty="0"/>
              <a:t>Duplicate</a:t>
            </a:r>
            <a:r>
              <a:rPr lang="ar-SA" dirty="0"/>
              <a:t> مستودعات التخزين، فهذا يعرض إجمالي الأمن للخطر، بسبب توفير أكثر من هدف يمكن مهاجمته</a:t>
            </a:r>
            <a:endParaRPr lang="en-US" dirty="0"/>
          </a:p>
        </p:txBody>
      </p:sp>
    </p:spTree>
    <p:extLst>
      <p:ext uri="{BB962C8B-B14F-4D97-AF65-F5344CB8AC3E}">
        <p14:creationId xmlns:p14="http://schemas.microsoft.com/office/powerpoint/2010/main" val="19297554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marR="0" algn="r" rtl="1">
              <a:spcBef>
                <a:spcPts val="0"/>
              </a:spcBef>
              <a:spcAft>
                <a:spcPts val="0"/>
              </a:spcAft>
            </a:pPr>
            <a:r>
              <a:rPr lang="ar-SA" sz="4000" dirty="0">
                <a:solidFill>
                  <a:srgbClr val="000000"/>
                </a:solidFill>
                <a:ea typeface="Times New Roman"/>
                <a:cs typeface="Simplified Arabic"/>
              </a:rPr>
              <a:t> التحقق من عدم تأخر الرسائل </a:t>
            </a:r>
            <a:r>
              <a:rPr lang="en-US" sz="4000" dirty="0" smtClean="0">
                <a:solidFill>
                  <a:srgbClr val="000000"/>
                </a:solidFill>
                <a:ea typeface="Times New Roman"/>
                <a:cs typeface="Simplified Arabic"/>
              </a:rPr>
              <a:t>Message</a:t>
            </a:r>
            <a:r>
              <a:rPr lang="ar-SA" sz="4000" dirty="0" smtClean="0">
                <a:solidFill>
                  <a:srgbClr val="000000"/>
                </a:solidFill>
                <a:ea typeface="Times New Roman"/>
                <a:cs typeface="Simplified Arabic"/>
              </a:rPr>
              <a:t/>
            </a:r>
            <a:br>
              <a:rPr lang="ar-SA" sz="4000" dirty="0" smtClean="0">
                <a:solidFill>
                  <a:srgbClr val="000000"/>
                </a:solidFill>
                <a:ea typeface="Times New Roman"/>
                <a:cs typeface="Simplified Arabic"/>
              </a:rPr>
            </a:br>
            <a:r>
              <a:rPr lang="en-US" sz="4000" dirty="0" smtClean="0">
                <a:solidFill>
                  <a:srgbClr val="000000"/>
                </a:solidFill>
                <a:ea typeface="Times New Roman"/>
                <a:cs typeface="Simplified Arabic"/>
              </a:rPr>
              <a:t> Timeliness </a:t>
            </a:r>
            <a:r>
              <a:rPr lang="ar-SA" sz="4000" dirty="0" smtClean="0">
                <a:solidFill>
                  <a:srgbClr val="000000"/>
                </a:solidFill>
                <a:ea typeface="Times New Roman"/>
                <a:cs typeface="Simplified Arabic"/>
              </a:rPr>
              <a:t> </a:t>
            </a:r>
            <a:r>
              <a:rPr lang="en-US" sz="4000" dirty="0">
                <a:solidFill>
                  <a:srgbClr val="000000"/>
                </a:solidFill>
                <a:ea typeface="Times New Roman"/>
                <a:cs typeface="Simplified Arabic"/>
              </a:rPr>
              <a:t>Verification</a:t>
            </a:r>
            <a:endParaRPr lang="en-US" sz="4000" dirty="0"/>
          </a:p>
        </p:txBody>
      </p:sp>
      <p:sp>
        <p:nvSpPr>
          <p:cNvPr id="3" name="Content Placeholder 2"/>
          <p:cNvSpPr>
            <a:spLocks noGrp="1"/>
          </p:cNvSpPr>
          <p:nvPr>
            <p:ph idx="1"/>
          </p:nvPr>
        </p:nvSpPr>
        <p:spPr/>
        <p:txBody>
          <a:bodyPr/>
          <a:lstStyle/>
          <a:p>
            <a:pPr algn="r" rtl="1"/>
            <a:r>
              <a:rPr lang="ar-SA" dirty="0"/>
              <a:t>إن دالة الأمن </a:t>
            </a:r>
            <a:r>
              <a:rPr lang="en-US" dirty="0"/>
              <a:t>Hash </a:t>
            </a:r>
            <a:r>
              <a:rPr lang="ar-SA" dirty="0"/>
              <a:t> المستخدمة في عملية التوثيق </a:t>
            </a:r>
            <a:r>
              <a:rPr lang="ar-SA" dirty="0" smtClean="0"/>
              <a:t>، </a:t>
            </a:r>
            <a:r>
              <a:rPr lang="ar-SA" dirty="0"/>
              <a:t>لا تمنع تأخير الرسائل أو إعادة بثها نتيجة حدوث اقتحام. حيث إنه لا يوجد شيء غير عادي يحدث عادة عند إعادة إرسال الرسائل. لحماية بروتوكول "سنمب-ف3" من هذا النوع من الهجوم، فإن نموذج </a:t>
            </a:r>
            <a:r>
              <a:rPr lang="en-US" dirty="0"/>
              <a:t>USM</a:t>
            </a:r>
            <a:r>
              <a:rPr lang="ar-SA" dirty="0"/>
              <a:t> يستخدم طريقة لتحقق من عدم تأخر الرسائل. حيث تتطلب هذه الطريقة أن يقوم بروتوكول "سنمب-ف3" باستلام الرسائل خلال نافذة زمنية </a:t>
            </a:r>
            <a:r>
              <a:rPr lang="en-US" dirty="0"/>
              <a:t>Time Window</a:t>
            </a:r>
            <a:r>
              <a:rPr lang="ar-SA" dirty="0"/>
              <a:t> مناسبة.</a:t>
            </a:r>
            <a:endParaRPr lang="en-US" dirty="0"/>
          </a:p>
          <a:p>
            <a:pPr algn="r" rtl="1"/>
            <a:endParaRPr lang="en-US" dirty="0"/>
          </a:p>
        </p:txBody>
      </p:sp>
    </p:spTree>
    <p:extLst>
      <p:ext uri="{BB962C8B-B14F-4D97-AF65-F5344CB8AC3E}">
        <p14:creationId xmlns:p14="http://schemas.microsoft.com/office/powerpoint/2010/main" val="27027838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lgn="r" rtl="1"/>
            <a:r>
              <a:rPr lang="ar-SA" b="1" u="sng" dirty="0"/>
              <a:t>النافذة الزمنية </a:t>
            </a:r>
            <a:r>
              <a:rPr lang="en-US" b="1" u="sng" dirty="0"/>
              <a:t>Time Window</a:t>
            </a:r>
            <a:r>
              <a:rPr lang="ar-SA" b="1" u="sng" dirty="0"/>
              <a:t>:</a:t>
            </a:r>
            <a:endParaRPr lang="en-US" dirty="0"/>
          </a:p>
          <a:p>
            <a:pPr algn="r" rtl="1"/>
            <a:r>
              <a:rPr lang="ar-SA" dirty="0"/>
              <a:t>يحدد بروتوكول "سنمب-ف3" نافذة زمنية مناسبة لاستقبال الرسالة، وذلك لتجنب التأخير، ومهاجمات إعادة بث الرسائل </a:t>
            </a:r>
            <a:r>
              <a:rPr lang="en-US" dirty="0"/>
              <a:t>replay attacks</a:t>
            </a:r>
            <a:r>
              <a:rPr lang="ar-SA" dirty="0"/>
              <a:t>.  وتعرف بأنها القيمة التي يتم فيها توليد الرسالة نيابة عن أي مستخدم مفوض. وهذه القيمة تكون 150 ثانيةً لكل المستخدمين.</a:t>
            </a:r>
            <a:endParaRPr lang="en-US" dirty="0"/>
          </a:p>
          <a:p>
            <a:pPr algn="r" rtl="1"/>
            <a:r>
              <a:rPr lang="ar-SA" dirty="0"/>
              <a:t>تستخدم طريقة عدم تأخر الرسائل عدادين مصاحبين لكل آلة سنمب-ف3 هما: عداد إعادة تشغيل الآلة </a:t>
            </a:r>
            <a:r>
              <a:rPr lang="en-US" dirty="0" err="1"/>
              <a:t>snmpEngineBoots</a:t>
            </a:r>
            <a:r>
              <a:rPr lang="ar-SA" dirty="0"/>
              <a:t> ، وعداد زمن الآلة </a:t>
            </a:r>
            <a:r>
              <a:rPr lang="en-US" dirty="0" err="1"/>
              <a:t>snmpEngineTime</a:t>
            </a:r>
            <a:r>
              <a:rPr lang="ar-SA" dirty="0"/>
              <a:t>. </a:t>
            </a:r>
            <a:endParaRPr lang="en-US" dirty="0"/>
          </a:p>
        </p:txBody>
      </p:sp>
    </p:spTree>
    <p:extLst>
      <p:ext uri="{BB962C8B-B14F-4D97-AF65-F5344CB8AC3E}">
        <p14:creationId xmlns:p14="http://schemas.microsoft.com/office/powerpoint/2010/main" val="10953945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extLst>
      <p:ext uri="{BB962C8B-B14F-4D97-AF65-F5344CB8AC3E}">
        <p14:creationId xmlns:p14="http://schemas.microsoft.com/office/powerpoint/2010/main" val="29208225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498</TotalTime>
  <Words>1671</Words>
  <Application>Microsoft Office PowerPoint</Application>
  <PresentationFormat>On-screen Show (4:3)</PresentationFormat>
  <Paragraphs>95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Flow</vt:lpstr>
      <vt:lpstr>إدارة وإستخدام الشبكات </vt:lpstr>
      <vt:lpstr>أهداف الوحدة </vt:lpstr>
      <vt:lpstr>مقدمة:</vt:lpstr>
      <vt:lpstr>خصائص بروتوكول “SNMPv3" </vt:lpstr>
      <vt:lpstr>البناء الهيكلي لبروتوكول " SNMPv3 "</vt:lpstr>
      <vt:lpstr>آلة "سنمب--ف3" SNMPv3 Engine</vt:lpstr>
      <vt:lpstr>PowerPoint Presentation</vt:lpstr>
      <vt:lpstr>PowerPoint Presentation</vt:lpstr>
      <vt:lpstr>PowerPoint Presentation</vt:lpstr>
      <vt:lpstr>العمليات التفاعلية بين آلة "سنمب--ف3" ومجموعة التطبيقات</vt:lpstr>
      <vt:lpstr>PowerPoint Presentation</vt:lpstr>
      <vt:lpstr>.  نموذج أمن المستخدم USM </vt:lpstr>
      <vt:lpstr>PowerPoint Presentation</vt:lpstr>
      <vt:lpstr>PowerPoint Presentation</vt:lpstr>
      <vt:lpstr>PowerPoint Presentation</vt:lpstr>
      <vt:lpstr>3   تحقيق التوثيق والتكامل  Authentication and Integrity</vt:lpstr>
      <vt:lpstr>PowerPoint Presentation</vt:lpstr>
      <vt:lpstr>3 تحقيق الخصوصية بواسطة التشفير  Privacy Through Encryption</vt:lpstr>
      <vt:lpstr>PowerPoint Presentation</vt:lpstr>
      <vt:lpstr>3 معالجة الرسالة في نموذج USM </vt:lpstr>
      <vt:lpstr>توليد المفاتيح السرية </vt:lpstr>
      <vt:lpstr>إدارة المفاتيح السرية </vt:lpstr>
      <vt:lpstr> التحقق من عدم تأخر الرسائل Message  Timeliness  Verification</vt:lpstr>
      <vt:lpstr>PowerPoint Presentation</vt:lpstr>
      <vt:lpstr> بعض مشاكل البروتوكول “SNMPv1"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mawadaadam@gmail.com</cp:lastModifiedBy>
  <cp:revision>24</cp:revision>
  <dcterms:created xsi:type="dcterms:W3CDTF">2022-06-25T16:03:02Z</dcterms:created>
  <dcterms:modified xsi:type="dcterms:W3CDTF">2022-07-18T13:00:10Z</dcterms:modified>
</cp:coreProperties>
</file>