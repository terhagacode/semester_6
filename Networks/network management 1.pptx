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p:sldMasterIdLst>
    <p:sldMasterId id="2147483838" r:id="rId1"/>
  </p:sldMasterIdLst>
  <p:sldIdLst>
    <p:sldId id="256" r:id="rId2"/>
    <p:sldId id="258" r:id="rId3"/>
    <p:sldId id="257"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6" r:id="rId31"/>
    <p:sldId id="288" r:id="rId32"/>
    <p:sldId id="287" r:id="rId33"/>
    <p:sldId id="289" r:id="rId34"/>
    <p:sldId id="285" r:id="rId3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4380"/>
    <p:restoredTop sz="94660"/>
  </p:normalViewPr>
  <p:slideViewPr>
    <p:cSldViewPr>
      <p:cViewPr varScale="1">
        <p:scale>
          <a:sx n="69" d="100"/>
          <a:sy n="69" d="100"/>
        </p:scale>
        <p:origin x="1416" y="96"/>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30" name="Date Placeholder 29"/>
          <p:cNvSpPr>
            <a:spLocks noGrp="1"/>
          </p:cNvSpPr>
          <p:nvPr>
            <p:ph type="dt" sz="half" idx="10"/>
          </p:nvPr>
        </p:nvSpPr>
        <p:spPr/>
        <p:txBody>
          <a:bodyPr/>
          <a:lstStyle/>
          <a:p>
            <a:fld id="{A3598E33-A2AB-4C76-A064-386F6B304DF9}" type="datetimeFigureOut">
              <a:rPr lang="en-US" smtClean="0"/>
              <a:t>7/8/2024</a:t>
            </a:fld>
            <a:endParaRPr lang="en-US"/>
          </a:p>
        </p:txBody>
      </p:sp>
      <p:sp>
        <p:nvSpPr>
          <p:cNvPr id="19" name="Footer Placeholder 18"/>
          <p:cNvSpPr>
            <a:spLocks noGrp="1"/>
          </p:cNvSpPr>
          <p:nvPr>
            <p:ph type="ftr" sz="quarter" idx="11"/>
          </p:nvPr>
        </p:nvSpPr>
        <p:spPr/>
        <p:txBody>
          <a:bodyPr/>
          <a:lstStyle/>
          <a:p>
            <a:endParaRPr lang="en-US"/>
          </a:p>
        </p:txBody>
      </p:sp>
      <p:sp>
        <p:nvSpPr>
          <p:cNvPr id="27" name="Slide Number Placeholder 26"/>
          <p:cNvSpPr>
            <a:spLocks noGrp="1"/>
          </p:cNvSpPr>
          <p:nvPr>
            <p:ph type="sldNum" sz="quarter" idx="12"/>
          </p:nvPr>
        </p:nvSpPr>
        <p:spPr/>
        <p:txBody>
          <a:bodyPr/>
          <a:lstStyle/>
          <a:p>
            <a:fld id="{4B053F1B-4C28-4940-9DBE-82A684CF08F7}" type="slidenum">
              <a:rPr lang="en-US" smtClean="0"/>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A3598E33-A2AB-4C76-A064-386F6B304DF9}" type="datetimeFigureOut">
              <a:rPr lang="en-US" smtClean="0"/>
              <a:t>7/8/2024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B053F1B-4C28-4940-9DBE-82A684CF08F7}"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A3598E33-A2AB-4C76-A064-386F6B304DF9}" type="datetimeFigureOut">
              <a:rPr lang="en-US" smtClean="0"/>
              <a:t>7/8/2024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B053F1B-4C28-4940-9DBE-82A684CF08F7}" type="slidenum">
              <a:rPr lang="en-US" smtClean="0"/>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A3598E33-A2AB-4C76-A064-386F6B304DF9}" type="datetimeFigureOut">
              <a:rPr lang="en-US" smtClean="0"/>
              <a:t>7/8/2024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B053F1B-4C28-4940-9DBE-82A684CF08F7}"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tIns="45720" anchor="b"/>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A3598E33-A2AB-4C76-A064-386F6B304DF9}" type="datetimeFigureOut">
              <a:rPr lang="en-US" smtClean="0"/>
              <a:t>7/8/2024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B053F1B-4C28-4940-9DBE-82A684CF08F7}"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A3598E33-A2AB-4C76-A064-386F6B304DF9}" type="datetimeFigureOut">
              <a:rPr lang="en-US" smtClean="0"/>
              <a:t>7/8/2024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B053F1B-4C28-4940-9DBE-82A684CF08F7}"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3598E33-A2AB-4C76-A064-386F6B304DF9}" type="datetimeFigureOut">
              <a:rPr lang="en-US" smtClean="0"/>
              <a:t>7/8/2024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B053F1B-4C28-4940-9DBE-82A684CF08F7}"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A3598E33-A2AB-4C76-A064-386F6B304DF9}" type="datetimeFigureOut">
              <a:rPr lang="en-US" smtClean="0"/>
              <a:t>7/8/2024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B053F1B-4C28-4940-9DBE-82A684CF08F7}"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ight Triangle 11"/>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609600" y="1176996"/>
            <a:ext cx="2212848" cy="1582621"/>
          </a:xfrm>
        </p:spPr>
        <p:txBody>
          <a:bodyPr vert="horz" lIns="45720" tIns="45720" rIns="45720" bIns="45720" anchor="b"/>
          <a:lstStyle>
            <a:lvl1pPr algn="l">
              <a:buNone/>
              <a:defRPr sz="2000" b="1">
                <a:solidFill>
                  <a:schemeClr val="tx2"/>
                </a:solidFill>
              </a:defRPr>
            </a:lvl1pPr>
          </a:lstStyle>
          <a:p>
            <a:r>
              <a:rPr kumimoji="0" lang="en-US" smtClean="0"/>
              <a:t>Click to edit Master title style</a:t>
            </a:r>
            <a:endParaRPr kumimoji="0" lang="en-US"/>
          </a:p>
        </p:txBody>
      </p:sp>
      <p:sp>
        <p:nvSpPr>
          <p:cNvPr id="4" name="Text Placeholder 3"/>
          <p:cNvSpPr>
            <a:spLocks noGrp="1"/>
          </p:cNvSpPr>
          <p:nvPr>
            <p:ph type="body" sz="half" idx="2"/>
          </p:nvPr>
        </p:nvSpPr>
        <p:spPr>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A3598E33-A2AB-4C76-A064-386F6B304DF9}" type="datetimeFigureOut">
              <a:rPr lang="en-US" smtClean="0"/>
              <a:t>7/8/2024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8077200" y="6356350"/>
            <a:ext cx="609600" cy="365125"/>
          </a:xfrm>
        </p:spPr>
        <p:txBody>
          <a:bodyPr/>
          <a:lstStyle/>
          <a:p>
            <a:fld id="{4B053F1B-4C28-4940-9DBE-82A684CF08F7}" type="slidenum">
              <a:rPr lang="en-US" smtClean="0"/>
              <a:t>‹#›</a:t>
            </a:fld>
            <a:endParaRPr lang="en-US"/>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smtClean="0"/>
              <a:t>Click icon to add picture</a:t>
            </a:r>
            <a:endParaRPr kumimoji="0" lang="en-US" dirty="0"/>
          </a:p>
        </p:txBody>
      </p:sp>
      <p:sp>
        <p:nvSpPr>
          <p:cNvPr id="10" name="Freeform 9"/>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11" name="Freeform 10"/>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A3598E33-A2AB-4C76-A064-386F6B304DF9}" type="datetimeFigureOut">
              <a:rPr lang="en-US" smtClean="0"/>
              <a:t>7/8/2024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B053F1B-4C28-4940-9DBE-82A684CF08F7}"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914401"/>
            <a:ext cx="6019800" cy="5211763"/>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A3598E33-A2AB-4C76-A064-386F6B304DF9}" type="datetimeFigureOut">
              <a:rPr lang="en-US" smtClean="0"/>
              <a:t>7/8/2024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B053F1B-4C28-4940-9DBE-82A684CF08F7}"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8" name="Freeform 7"/>
          <p:cNvSpPr>
            <a:spLocks/>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9" name="Title Placeholder 8"/>
          <p:cNvSpPr>
            <a:spLocks noGrp="1"/>
          </p:cNvSpPr>
          <p:nvPr>
            <p:ph type="title"/>
          </p:nvPr>
        </p:nvSpPr>
        <p:spPr>
          <a:xfrm>
            <a:off x="457200" y="704088"/>
            <a:ext cx="8229600" cy="1143000"/>
          </a:xfrm>
          <a:prstGeom prst="rect">
            <a:avLst/>
          </a:prstGeom>
        </p:spPr>
        <p:txBody>
          <a:bodyPr vert="horz" lIns="0" rIns="0" bIns="0" anchor="b">
            <a:normAutofit/>
          </a:bodyPr>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935480"/>
            <a:ext cx="8229600" cy="4389120"/>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fld id="{A3598E33-A2AB-4C76-A064-386F6B304DF9}" type="datetimeFigureOut">
              <a:rPr lang="en-US" smtClean="0"/>
              <a:t>7/8/2024</a:t>
            </a:fld>
            <a:endParaRPr lang="en-US"/>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en-US"/>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4B053F1B-4C28-4940-9DBE-82A684CF08F7}" type="slidenum">
              <a:rPr lang="en-US" smtClean="0"/>
              <a:t>‹#›</a:t>
            </a:fld>
            <a:endParaRPr lang="en-US"/>
          </a:p>
        </p:txBody>
      </p:sp>
      <p:grpSp>
        <p:nvGrpSpPr>
          <p:cNvPr id="2" name="Group 1"/>
          <p:cNvGrpSpPr/>
          <p:nvPr/>
        </p:nvGrpSpPr>
        <p:grpSpPr>
          <a:xfrm>
            <a:off x="-19017" y="202408"/>
            <a:ext cx="9180548"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grpSp>
    </p:spTree>
  </p:cSld>
  <p:clrMap bg1="lt1" tx1="dk1" bg2="lt2" tx2="dk2" accent1="accent1" accent2="accent2" accent3="accent3" accent4="accent4" accent5="accent5" accent6="accent6" hlink="hlink" folHlink="folHlink"/>
  <p:sldLayoutIdLst>
    <p:sldLayoutId id="2147483839" r:id="rId1"/>
    <p:sldLayoutId id="2147483840" r:id="rId2"/>
    <p:sldLayoutId id="2147483841" r:id="rId3"/>
    <p:sldLayoutId id="2147483842" r:id="rId4"/>
    <p:sldLayoutId id="2147483843" r:id="rId5"/>
    <p:sldLayoutId id="2147483844" r:id="rId6"/>
    <p:sldLayoutId id="2147483845" r:id="rId7"/>
    <p:sldLayoutId id="2147483846" r:id="rId8"/>
    <p:sldLayoutId id="2147483847" r:id="rId9"/>
    <p:sldLayoutId id="2147483848" r:id="rId10"/>
    <p:sldLayoutId id="2147483849" r:id="rId11"/>
  </p:sldLayoutIdLst>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ar-SA" dirty="0" smtClean="0"/>
              <a:t>إدارة وإستخدام الشبكات </a:t>
            </a:r>
            <a:endParaRPr lang="en-US" dirty="0"/>
          </a:p>
        </p:txBody>
      </p:sp>
      <p:sp>
        <p:nvSpPr>
          <p:cNvPr id="3" name="Subtitle 2"/>
          <p:cNvSpPr>
            <a:spLocks noGrp="1"/>
          </p:cNvSpPr>
          <p:nvPr>
            <p:ph type="subTitle" idx="1"/>
          </p:nvPr>
        </p:nvSpPr>
        <p:spPr>
          <a:xfrm>
            <a:off x="457200" y="3733800"/>
            <a:ext cx="7854696" cy="2590800"/>
          </a:xfrm>
        </p:spPr>
        <p:txBody>
          <a:bodyPr>
            <a:normAutofit/>
          </a:bodyPr>
          <a:lstStyle/>
          <a:p>
            <a:pPr algn="ctr" rtl="1"/>
            <a:r>
              <a:rPr lang="ar-SA" dirty="0" smtClean="0"/>
              <a:t> بروتوكول ادارة الشبكات البسيط (الاصدار الاول والثاني)</a:t>
            </a:r>
          </a:p>
          <a:p>
            <a:pPr algn="ctr" rtl="1"/>
            <a:r>
              <a:rPr lang="ar-SA" dirty="0" smtClean="0"/>
              <a:t>محاضرة رقم (1)</a:t>
            </a:r>
          </a:p>
          <a:p>
            <a:pPr algn="ctr" rtl="1"/>
            <a:endParaRPr lang="ar-SA" dirty="0" smtClean="0"/>
          </a:p>
          <a:p>
            <a:pPr algn="ctr" rtl="1"/>
            <a:r>
              <a:rPr lang="ar-SA" dirty="0" smtClean="0"/>
              <a:t>					اعداد :</a:t>
            </a:r>
          </a:p>
          <a:p>
            <a:pPr algn="l" rtl="1"/>
            <a:r>
              <a:rPr lang="ar-SA" dirty="0" smtClean="0"/>
              <a:t>أ . مودة ادم محمد</a:t>
            </a:r>
            <a:endParaRPr lang="en-US" dirty="0"/>
          </a:p>
        </p:txBody>
      </p:sp>
    </p:spTree>
    <p:extLst>
      <p:ext uri="{BB962C8B-B14F-4D97-AF65-F5344CB8AC3E}">
        <p14:creationId xmlns:p14="http://schemas.microsoft.com/office/powerpoint/2010/main" val="301923093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r" rtl="1"/>
            <a:r>
              <a:rPr lang="ar-SA" dirty="0" smtClean="0"/>
              <a:t>اهداف الوحدة : </a:t>
            </a:r>
            <a:endParaRPr lang="en-US" dirty="0"/>
          </a:p>
        </p:txBody>
      </p:sp>
      <p:sp>
        <p:nvSpPr>
          <p:cNvPr id="3" name="Content Placeholder 2"/>
          <p:cNvSpPr>
            <a:spLocks noGrp="1"/>
          </p:cNvSpPr>
          <p:nvPr>
            <p:ph idx="1"/>
          </p:nvPr>
        </p:nvSpPr>
        <p:spPr/>
        <p:txBody>
          <a:bodyPr>
            <a:normAutofit fontScale="92500" lnSpcReduction="20000"/>
          </a:bodyPr>
          <a:lstStyle/>
          <a:p>
            <a:pPr lvl="0" algn="r" rtl="1"/>
            <a:r>
              <a:rPr lang="ar-SA" dirty="0" smtClean="0"/>
              <a:t> </a:t>
            </a:r>
            <a:r>
              <a:rPr lang="ar-SA" dirty="0"/>
              <a:t>نبذه تاريخية عن تطوير أساليب إدارة شبكة البيانات.</a:t>
            </a:r>
            <a:endParaRPr lang="en-US" dirty="0"/>
          </a:p>
          <a:p>
            <a:pPr lvl="0" algn="r" rtl="1"/>
            <a:r>
              <a:rPr lang="ar-SA" b="1" dirty="0" smtClean="0"/>
              <a:t>شرح </a:t>
            </a:r>
            <a:r>
              <a:rPr lang="ar-SA" dirty="0"/>
              <a:t>أساليب </a:t>
            </a:r>
            <a:r>
              <a:rPr lang="ar-SA" dirty="0" smtClean="0"/>
              <a:t>جمع </a:t>
            </a:r>
            <a:r>
              <a:rPr lang="ar-SA" dirty="0"/>
              <a:t>البيانات اللازمة لإدارة الشبكة.</a:t>
            </a:r>
            <a:endParaRPr lang="en-US" dirty="0"/>
          </a:p>
          <a:p>
            <a:pPr lvl="0" algn="r" rtl="1"/>
            <a:r>
              <a:rPr lang="ar-SA" dirty="0" smtClean="0"/>
              <a:t> </a:t>
            </a:r>
            <a:r>
              <a:rPr lang="ar-SA" dirty="0"/>
              <a:t>بروتوكول إدارة الشبكة البسيط، مميزاته وعيوبه.</a:t>
            </a:r>
            <a:endParaRPr lang="en-US" dirty="0"/>
          </a:p>
          <a:p>
            <a:pPr lvl="0" algn="r" rtl="1"/>
            <a:r>
              <a:rPr lang="ar-SA" b="1" dirty="0" smtClean="0"/>
              <a:t>شرح </a:t>
            </a:r>
            <a:r>
              <a:rPr lang="ar-SA" dirty="0"/>
              <a:t>فوائد أنواع الرسائل المتعددة  المستخدمة لإدارة الشبكة.</a:t>
            </a:r>
            <a:endParaRPr lang="en-US" dirty="0"/>
          </a:p>
          <a:p>
            <a:pPr algn="r" rtl="1"/>
            <a:r>
              <a:rPr lang="ar-SA" b="1" dirty="0"/>
              <a:t>تذكر</a:t>
            </a:r>
            <a:r>
              <a:rPr lang="ar-SA" dirty="0"/>
              <a:t> الفرق بين بروتوكول </a:t>
            </a:r>
            <a:r>
              <a:rPr lang="en-US" dirty="0"/>
              <a:t>SNMPv1 </a:t>
            </a:r>
            <a:r>
              <a:rPr lang="ar-SA" dirty="0" smtClean="0"/>
              <a:t>1</a:t>
            </a:r>
            <a:r>
              <a:rPr lang="ar-SA" dirty="0"/>
              <a:t>، و </a:t>
            </a:r>
            <a:r>
              <a:rPr lang="en-US" dirty="0"/>
              <a:t>SNMPv2</a:t>
            </a:r>
            <a:r>
              <a:rPr lang="en-US" b="1" dirty="0"/>
              <a:t> </a:t>
            </a:r>
            <a:r>
              <a:rPr lang="ar-SA" dirty="0" smtClean="0"/>
              <a:t>.</a:t>
            </a:r>
            <a:endParaRPr lang="en-US" dirty="0"/>
          </a:p>
          <a:p>
            <a:pPr algn="r" rtl="1"/>
            <a:r>
              <a:rPr lang="ar-SA" b="1" dirty="0"/>
              <a:t>توضح</a:t>
            </a:r>
            <a:r>
              <a:rPr lang="ar-SA" dirty="0"/>
              <a:t> كيفية عمل أساليب التوثيق والتشفير المستخدمة في تحقيق الأمن في بروتوكول </a:t>
            </a:r>
            <a:r>
              <a:rPr lang="en-US" dirty="0"/>
              <a:t>SNMPv2</a:t>
            </a:r>
            <a:r>
              <a:rPr lang="en-US" b="1" dirty="0"/>
              <a:t> </a:t>
            </a:r>
            <a:r>
              <a:rPr lang="ar-SA" dirty="0" smtClean="0"/>
              <a:t>.</a:t>
            </a:r>
            <a:endParaRPr lang="en-US" dirty="0"/>
          </a:p>
          <a:p>
            <a:pPr lvl="0" algn="r" rtl="1"/>
            <a:r>
              <a:rPr lang="ar-SA" b="1" dirty="0"/>
              <a:t>تعدد</a:t>
            </a:r>
            <a:r>
              <a:rPr lang="ar-SA" dirty="0"/>
              <a:t> وظائف المدير والوكيل والوكيل المساعد في نموذج إدارة الشبكة.</a:t>
            </a:r>
            <a:endParaRPr lang="en-US" dirty="0"/>
          </a:p>
          <a:p>
            <a:pPr lvl="0" algn="r" rtl="1"/>
            <a:r>
              <a:rPr lang="ar-SA" b="1" dirty="0"/>
              <a:t>تعدد</a:t>
            </a:r>
            <a:r>
              <a:rPr lang="ar-SA" dirty="0"/>
              <a:t> فوائد رسائل المصيدة وأنواعها ودورها في تحسين أداء الشبكة.</a:t>
            </a:r>
            <a:endParaRPr lang="en-US" dirty="0"/>
          </a:p>
          <a:p>
            <a:pPr algn="r" rtl="1"/>
            <a:r>
              <a:rPr lang="ar-SA" b="1" dirty="0"/>
              <a:t>تستخدم</a:t>
            </a:r>
            <a:r>
              <a:rPr lang="ar-SA" dirty="0"/>
              <a:t> برتوكول </a:t>
            </a:r>
            <a:r>
              <a:rPr lang="en-US" dirty="0"/>
              <a:t>SNMPv1</a:t>
            </a:r>
            <a:r>
              <a:rPr lang="ar-SA" dirty="0" smtClean="0"/>
              <a:t>، </a:t>
            </a:r>
            <a:r>
              <a:rPr lang="ar-SA" dirty="0"/>
              <a:t>و </a:t>
            </a:r>
            <a:r>
              <a:rPr lang="en-US" dirty="0"/>
              <a:t>SNMPv2</a:t>
            </a:r>
            <a:r>
              <a:rPr lang="en-US" b="1" dirty="0"/>
              <a:t> </a:t>
            </a:r>
            <a:r>
              <a:rPr lang="ar-SA" b="1" dirty="0" smtClean="0"/>
              <a:t> </a:t>
            </a:r>
            <a:r>
              <a:rPr lang="ar-SA" dirty="0" smtClean="0"/>
              <a:t>في </a:t>
            </a:r>
            <a:r>
              <a:rPr lang="ar-SA" dirty="0"/>
              <a:t>إدارة الشبكات.</a:t>
            </a:r>
            <a:endParaRPr lang="en-US" dirty="0"/>
          </a:p>
          <a:p>
            <a:pPr lvl="0" algn="r" rtl="1"/>
            <a:r>
              <a:rPr lang="ar-SA" b="1" dirty="0"/>
              <a:t>تصف</a:t>
            </a:r>
            <a:r>
              <a:rPr lang="ar-SA" dirty="0"/>
              <a:t> بعض وظائف إدارة الأمن.</a:t>
            </a:r>
            <a:endParaRPr lang="en-US" dirty="0"/>
          </a:p>
          <a:p>
            <a:pPr algn="r" rtl="1"/>
            <a:r>
              <a:rPr lang="ar-SA" b="1" dirty="0"/>
              <a:t>توضح </a:t>
            </a:r>
            <a:r>
              <a:rPr lang="ar-SA" dirty="0"/>
              <a:t>كيفية إدارة شبكة البيانات بكفاءة عالية</a:t>
            </a:r>
            <a:endParaRPr lang="en-US" dirty="0"/>
          </a:p>
        </p:txBody>
      </p:sp>
    </p:spTree>
    <p:extLst>
      <p:ext uri="{BB962C8B-B14F-4D97-AF65-F5344CB8AC3E}">
        <p14:creationId xmlns:p14="http://schemas.microsoft.com/office/powerpoint/2010/main" val="241790907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381000"/>
            <a:ext cx="8229600" cy="1143000"/>
          </a:xfrm>
        </p:spPr>
        <p:txBody>
          <a:bodyPr/>
          <a:lstStyle/>
          <a:p>
            <a:pPr algn="r"/>
            <a:r>
              <a:rPr lang="ar-SA" dirty="0" smtClean="0"/>
              <a:t>المحتويات :</a:t>
            </a:r>
            <a:endParaRPr lang="en-US" dirty="0"/>
          </a:p>
        </p:txBody>
      </p:sp>
      <p:sp>
        <p:nvSpPr>
          <p:cNvPr id="3" name="Content Placeholder 2"/>
          <p:cNvSpPr>
            <a:spLocks noGrp="1"/>
          </p:cNvSpPr>
          <p:nvPr>
            <p:ph idx="1"/>
          </p:nvPr>
        </p:nvSpPr>
        <p:spPr>
          <a:xfrm>
            <a:off x="381000" y="1752600"/>
            <a:ext cx="8229600" cy="4389120"/>
          </a:xfrm>
        </p:spPr>
        <p:txBody>
          <a:bodyPr>
            <a:noAutofit/>
          </a:bodyPr>
          <a:lstStyle/>
          <a:p>
            <a:pPr marL="0" indent="0" algn="r" rtl="1">
              <a:buNone/>
            </a:pPr>
            <a:r>
              <a:rPr lang="ar-SA" sz="2400" b="1" dirty="0" smtClean="0"/>
              <a:t>. </a:t>
            </a:r>
            <a:r>
              <a:rPr lang="ar-SA" sz="2400" b="1" dirty="0"/>
              <a:t>نبذة تاريخية عن أساليب تجميع البيانات اللازمة لإدارة </a:t>
            </a:r>
            <a:r>
              <a:rPr lang="ar-SA" sz="2400" b="1" dirty="0" smtClean="0"/>
              <a:t>الشبكة </a:t>
            </a:r>
          </a:p>
          <a:p>
            <a:pPr marL="393192" lvl="1" indent="0" algn="r" rtl="1">
              <a:buNone/>
            </a:pPr>
            <a:r>
              <a:rPr lang="ar-SA" dirty="0" smtClean="0"/>
              <a:t>     نظام </a:t>
            </a:r>
            <a:r>
              <a:rPr lang="ar-SA" dirty="0"/>
              <a:t>القائمة المنسدلة ونظام الأمر </a:t>
            </a:r>
            <a:r>
              <a:rPr lang="ar-SA" dirty="0" smtClean="0"/>
              <a:t>الخطي</a:t>
            </a:r>
          </a:p>
          <a:p>
            <a:pPr marL="393192" lvl="1" indent="0" algn="r" rtl="1">
              <a:buNone/>
            </a:pPr>
            <a:r>
              <a:rPr lang="ar-SA" dirty="0" smtClean="0"/>
              <a:t>     </a:t>
            </a:r>
            <a:r>
              <a:rPr lang="ar-SA" dirty="0"/>
              <a:t>بروتوكول </a:t>
            </a:r>
            <a:r>
              <a:rPr lang="ar-SA" dirty="0" smtClean="0"/>
              <a:t>الإنترنت </a:t>
            </a:r>
            <a:r>
              <a:rPr lang="en-US" dirty="0"/>
              <a:t>Internet </a:t>
            </a:r>
            <a:r>
              <a:rPr lang="en-US" dirty="0" smtClean="0"/>
              <a:t>Protocol</a:t>
            </a:r>
            <a:r>
              <a:rPr lang="ar-SA" dirty="0" smtClean="0"/>
              <a:t>  </a:t>
            </a:r>
            <a:endParaRPr lang="ar-SA" dirty="0"/>
          </a:p>
          <a:p>
            <a:pPr marL="392113" lvl="1" indent="-333375" algn="r" rtl="1">
              <a:buNone/>
            </a:pPr>
            <a:r>
              <a:rPr lang="ar-SA" b="1" dirty="0" smtClean="0"/>
              <a:t>. </a:t>
            </a:r>
            <a:r>
              <a:rPr lang="ar-SA" b="1" dirty="0"/>
              <a:t>تطوير البروتوكولات القياسية لإدارة الشبكات </a:t>
            </a:r>
            <a:endParaRPr lang="ar-SA" b="1" dirty="0" smtClean="0"/>
          </a:p>
          <a:p>
            <a:pPr marL="411163" lvl="1" indent="-352425" algn="r" rtl="1">
              <a:buNone/>
            </a:pPr>
            <a:r>
              <a:rPr lang="ar-SA" b="1" dirty="0"/>
              <a:t>. بروتوكول إدارة الشبكة البسيط (الإصدار الأول </a:t>
            </a:r>
            <a:r>
              <a:rPr lang="en-US" dirty="0"/>
              <a:t>SNMPv1</a:t>
            </a:r>
            <a:r>
              <a:rPr lang="ar-SA" b="1" dirty="0"/>
              <a:t>)</a:t>
            </a:r>
            <a:r>
              <a:rPr lang="ar-SA" dirty="0"/>
              <a:t> </a:t>
            </a:r>
            <a:endParaRPr lang="ar-SA" dirty="0" smtClean="0"/>
          </a:p>
          <a:p>
            <a:pPr marL="411480" lvl="1" indent="0" algn="r" rtl="1">
              <a:buNone/>
            </a:pPr>
            <a:r>
              <a:rPr lang="ar-SA" dirty="0" smtClean="0"/>
              <a:t>   طريقة </a:t>
            </a:r>
            <a:r>
              <a:rPr lang="ar-SA" dirty="0"/>
              <a:t>عمل نموذج "</a:t>
            </a:r>
            <a:r>
              <a:rPr lang="ar-SA" dirty="0" smtClean="0"/>
              <a:t>المدير/الوكيل»</a:t>
            </a:r>
          </a:p>
          <a:p>
            <a:pPr marL="411480" lvl="1" indent="0" algn="r" rtl="1">
              <a:buNone/>
            </a:pPr>
            <a:r>
              <a:rPr lang="ar-SA" dirty="0" smtClean="0"/>
              <a:t>   </a:t>
            </a:r>
            <a:r>
              <a:rPr lang="ar-SA" dirty="0"/>
              <a:t>أنواع الرسائل والحصول على المعلومات وضبطها </a:t>
            </a:r>
            <a:endParaRPr lang="ar-SA" dirty="0" smtClean="0"/>
          </a:p>
          <a:p>
            <a:pPr marL="411480" lvl="1" indent="0" algn="r" rtl="1">
              <a:buNone/>
            </a:pPr>
            <a:r>
              <a:rPr lang="ar-SA" dirty="0" smtClean="0"/>
              <a:t>   الأمن </a:t>
            </a:r>
            <a:r>
              <a:rPr lang="en-US" dirty="0"/>
              <a:t>Security</a:t>
            </a:r>
            <a:r>
              <a:rPr lang="ar-SA" dirty="0"/>
              <a:t> في البروتوكول </a:t>
            </a:r>
            <a:endParaRPr lang="ar-SA" dirty="0" smtClean="0"/>
          </a:p>
          <a:p>
            <a:pPr marL="411480" lvl="1" indent="0" algn="r" rtl="1">
              <a:buNone/>
            </a:pPr>
            <a:r>
              <a:rPr lang="ar-SA" dirty="0" smtClean="0"/>
              <a:t>    بعض </a:t>
            </a:r>
            <a:r>
              <a:rPr lang="ar-SA" dirty="0"/>
              <a:t>مشاكل البروتوكول </a:t>
            </a:r>
            <a:endParaRPr lang="ar-SA" dirty="0" smtClean="0"/>
          </a:p>
        </p:txBody>
      </p:sp>
    </p:spTree>
    <p:extLst>
      <p:ext uri="{BB962C8B-B14F-4D97-AF65-F5344CB8AC3E}">
        <p14:creationId xmlns:p14="http://schemas.microsoft.com/office/powerpoint/2010/main" val="154866671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r"/>
            <a:r>
              <a:rPr lang="ar-SA" dirty="0" smtClean="0"/>
              <a:t>المحتويات:</a:t>
            </a:r>
            <a:endParaRPr lang="en-US" dirty="0"/>
          </a:p>
        </p:txBody>
      </p:sp>
      <p:sp>
        <p:nvSpPr>
          <p:cNvPr id="3" name="Content Placeholder 2"/>
          <p:cNvSpPr>
            <a:spLocks noGrp="1"/>
          </p:cNvSpPr>
          <p:nvPr>
            <p:ph idx="1"/>
          </p:nvPr>
        </p:nvSpPr>
        <p:spPr/>
        <p:txBody>
          <a:bodyPr>
            <a:normAutofit/>
          </a:bodyPr>
          <a:lstStyle/>
          <a:p>
            <a:pPr marL="411480" lvl="1" indent="0" algn="r" rtl="1">
              <a:buNone/>
            </a:pPr>
            <a:r>
              <a:rPr lang="ar-SA" b="1" dirty="0"/>
              <a:t>. الإصدار الثاني للبروتوكول " </a:t>
            </a:r>
            <a:r>
              <a:rPr lang="en-US" dirty="0"/>
              <a:t>SNMPv2</a:t>
            </a:r>
            <a:r>
              <a:rPr lang="en-US" b="1" dirty="0"/>
              <a:t> </a:t>
            </a:r>
            <a:endParaRPr lang="ar-SA" b="1" dirty="0"/>
          </a:p>
          <a:p>
            <a:pPr marL="411480" lvl="1" indent="0" algn="r" rtl="1">
              <a:buNone/>
            </a:pPr>
            <a:r>
              <a:rPr lang="ar-SA" dirty="0" smtClean="0"/>
              <a:t>  تحسين </a:t>
            </a:r>
            <a:r>
              <a:rPr lang="ar-SA" dirty="0"/>
              <a:t>هيكل المعلومات الإدارية "</a:t>
            </a:r>
            <a:r>
              <a:rPr lang="en-US" dirty="0"/>
              <a:t>SMI</a:t>
            </a:r>
            <a:r>
              <a:rPr lang="ar-SA" dirty="0"/>
              <a:t>" </a:t>
            </a:r>
          </a:p>
          <a:p>
            <a:pPr marL="411480" lvl="1" indent="0" algn="r" rtl="1">
              <a:buNone/>
            </a:pPr>
            <a:r>
              <a:rPr lang="ar-SA" dirty="0" smtClean="0"/>
              <a:t>  أنواع </a:t>
            </a:r>
            <a:r>
              <a:rPr lang="ar-SA" dirty="0"/>
              <a:t>الرسائل و ضبط المعلومات والحصول عليها </a:t>
            </a:r>
          </a:p>
          <a:p>
            <a:pPr marL="411480" lvl="1" indent="0" algn="r" rtl="1">
              <a:buNone/>
            </a:pPr>
            <a:r>
              <a:rPr lang="ar-SA" dirty="0" smtClean="0"/>
              <a:t>  تدعيم </a:t>
            </a:r>
            <a:r>
              <a:rPr lang="ar-SA" dirty="0"/>
              <a:t>البروتوكولات المتعددة </a:t>
            </a:r>
            <a:r>
              <a:rPr lang="en-US" dirty="0"/>
              <a:t>Multiprotocol </a:t>
            </a:r>
            <a:r>
              <a:rPr lang="ar-SA" dirty="0" smtClean="0"/>
              <a:t>     </a:t>
            </a:r>
          </a:p>
          <a:p>
            <a:pPr marL="411480" lvl="1" indent="0" algn="r" rtl="1">
              <a:buNone/>
            </a:pPr>
            <a:r>
              <a:rPr lang="ar-SA" dirty="0" smtClean="0"/>
              <a:t>  </a:t>
            </a:r>
            <a:r>
              <a:rPr lang="ar-SA" dirty="0"/>
              <a:t>وسائل الأمن في البروتوكول </a:t>
            </a:r>
            <a:r>
              <a:rPr lang="en-US" dirty="0"/>
              <a:t>SNMPv2</a:t>
            </a:r>
            <a:r>
              <a:rPr lang="ar-SA" dirty="0"/>
              <a:t> </a:t>
            </a:r>
          </a:p>
          <a:p>
            <a:pPr marL="411480" lvl="1" indent="0" algn="r" rtl="1">
              <a:buNone/>
            </a:pPr>
            <a:r>
              <a:rPr lang="ar-SA" dirty="0" smtClean="0"/>
              <a:t> مرئية </a:t>
            </a:r>
            <a:r>
              <a:rPr lang="ar-SA" dirty="0"/>
              <a:t>قاعدة المعلومات الإدارية </a:t>
            </a:r>
            <a:r>
              <a:rPr lang="en-US" b="1" dirty="0"/>
              <a:t>MIB View</a:t>
            </a:r>
            <a:endParaRPr lang="ar-SA" dirty="0"/>
          </a:p>
          <a:p>
            <a:endParaRPr lang="en-US" sz="2400" dirty="0"/>
          </a:p>
        </p:txBody>
      </p:sp>
    </p:spTree>
    <p:extLst>
      <p:ext uri="{BB962C8B-B14F-4D97-AF65-F5344CB8AC3E}">
        <p14:creationId xmlns:p14="http://schemas.microsoft.com/office/powerpoint/2010/main" val="390696279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r" rtl="1"/>
            <a:r>
              <a:rPr lang="ar-SA" sz="2800" b="1" dirty="0"/>
              <a:t>نبذة تاريخية عن أساليب تجميع البيانات اللازمة لإدارة الشبكة </a:t>
            </a:r>
            <a:br>
              <a:rPr lang="ar-SA" sz="2800" b="1" dirty="0"/>
            </a:br>
            <a:endParaRPr lang="en-US" sz="2800" dirty="0"/>
          </a:p>
        </p:txBody>
      </p:sp>
      <p:sp>
        <p:nvSpPr>
          <p:cNvPr id="3" name="Content Placeholder 2"/>
          <p:cNvSpPr>
            <a:spLocks noGrp="1"/>
          </p:cNvSpPr>
          <p:nvPr>
            <p:ph idx="1"/>
          </p:nvPr>
        </p:nvSpPr>
        <p:spPr/>
        <p:txBody>
          <a:bodyPr/>
          <a:lstStyle/>
          <a:p>
            <a:pPr algn="r" rtl="1"/>
            <a:r>
              <a:rPr lang="ar-SA" b="1" dirty="0"/>
              <a:t>لإدارة الشبكة</a:t>
            </a:r>
            <a:endParaRPr lang="en-US" dirty="0"/>
          </a:p>
          <a:p>
            <a:pPr algn="r" rtl="1"/>
            <a:r>
              <a:rPr lang="ar-SA" dirty="0"/>
              <a:t>يحتاج مهندسو الشبكات أن يتعلموا أساليب مختلفة لإجراء عملية تجميع المعلومات من أجهزة الشبكة. وكلما تَّم تطوير منتجات شبكية جديدة مصنعو هذه المنتجات </a:t>
            </a:r>
            <a:r>
              <a:rPr lang="ar-SA" dirty="0" smtClean="0"/>
              <a:t>تنصيب </a:t>
            </a:r>
            <a:r>
              <a:rPr lang="ar-SA" dirty="0"/>
              <a:t>أساليب ملائمة كي يتم التمكن من تجميع البيانات من هذه المنتجات الشبكية. </a:t>
            </a:r>
            <a:r>
              <a:rPr lang="ar-SA" dirty="0" smtClean="0"/>
              <a:t>وهذا </a:t>
            </a:r>
            <a:r>
              <a:rPr lang="ar-SA" dirty="0"/>
              <a:t>ينتج عنه أساليب مختلفة جدا لتجميع البيانات. </a:t>
            </a:r>
            <a:endParaRPr lang="en-US" dirty="0"/>
          </a:p>
          <a:p>
            <a:pPr algn="r" rtl="1"/>
            <a:r>
              <a:rPr lang="ar-SA" dirty="0"/>
              <a:t>وفيما يلي شرحٌ تفصيليّ لبعض هذه الأساليب:</a:t>
            </a:r>
            <a:endParaRPr lang="en-US" dirty="0"/>
          </a:p>
        </p:txBody>
      </p:sp>
    </p:spTree>
    <p:extLst>
      <p:ext uri="{BB962C8B-B14F-4D97-AF65-F5344CB8AC3E}">
        <p14:creationId xmlns:p14="http://schemas.microsoft.com/office/powerpoint/2010/main" val="265877570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algn="r" rtl="1"/>
            <a:r>
              <a:rPr lang="ar-SA" b="1" dirty="0"/>
              <a:t>نظام القائمة المنسدلة ونظام الأمر الخطي</a:t>
            </a:r>
            <a:endParaRPr lang="en-US" dirty="0"/>
          </a:p>
          <a:p>
            <a:pPr algn="r" rtl="1"/>
            <a:r>
              <a:rPr lang="ar-SA" dirty="0"/>
              <a:t>يمكن أن يُسْتَخْدمَ نظامان في تجميع البيانات اللازمة لإدارة الشبكة، هما نظام القائمة المنسدلة، ونظام الأمر الخطي. </a:t>
            </a:r>
            <a:endParaRPr lang="en-US" dirty="0"/>
          </a:p>
          <a:p>
            <a:pPr algn="r" rtl="1"/>
            <a:r>
              <a:rPr lang="ar-SA" b="1" dirty="0"/>
              <a:t>أولاً : نظام القائمة المنسدلة </a:t>
            </a:r>
            <a:r>
              <a:rPr lang="en-US" dirty="0"/>
              <a:t>Menu-Driven System</a:t>
            </a:r>
          </a:p>
          <a:p>
            <a:pPr algn="r" rtl="1"/>
            <a:r>
              <a:rPr lang="ar-SA" dirty="0"/>
              <a:t>في </a:t>
            </a:r>
            <a:r>
              <a:rPr lang="ar-SA"/>
              <a:t>هذه </a:t>
            </a:r>
            <a:r>
              <a:rPr lang="ar-SA" smtClean="0"/>
              <a:t>الطريقة </a:t>
            </a:r>
            <a:r>
              <a:rPr lang="ar-SA" dirty="0"/>
              <a:t>يتم استخدام جهاز الماوس المتصل بالحاسب والضغط على المفاتيح المناسبة لتظهر البيانات المطلوبة على شاشة النظام الإداري.  </a:t>
            </a:r>
            <a:endParaRPr lang="en-US" dirty="0"/>
          </a:p>
        </p:txBody>
      </p:sp>
    </p:spTree>
    <p:extLst>
      <p:ext uri="{BB962C8B-B14F-4D97-AF65-F5344CB8AC3E}">
        <p14:creationId xmlns:p14="http://schemas.microsoft.com/office/powerpoint/2010/main" val="172278480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lnSpcReduction="10000"/>
          </a:bodyPr>
          <a:lstStyle/>
          <a:p>
            <a:pPr algn="r" rtl="1"/>
            <a:r>
              <a:rPr lang="ar-SA" b="1" dirty="0"/>
              <a:t>ثانياً : نظام الأمر الخطي: </a:t>
            </a:r>
            <a:r>
              <a:rPr lang="en-US" dirty="0"/>
              <a:t>Command Line Interface</a:t>
            </a:r>
            <a:r>
              <a:rPr lang="en-US" b="1" dirty="0"/>
              <a:t> </a:t>
            </a:r>
            <a:endParaRPr lang="en-US" dirty="0"/>
          </a:p>
          <a:p>
            <a:pPr algn="r" rtl="1"/>
            <a:r>
              <a:rPr lang="ar-SA" dirty="0"/>
              <a:t>في هذه الطريقة يتم كتابة الأمر المناسب على شكل سطري على شاشة النظام الإداري، وبعد تنفيذ الأمر يتم ظهور المعلومات على شاشة العرض بالنظام.</a:t>
            </a:r>
            <a:endParaRPr lang="en-US" dirty="0"/>
          </a:p>
          <a:p>
            <a:pPr algn="r" rtl="1"/>
            <a:r>
              <a:rPr lang="ar-SA" dirty="0"/>
              <a:t>على سبيل المثال، نفترض أن شبكة بيانات تستخدم نوعين من الموجهات </a:t>
            </a:r>
            <a:r>
              <a:rPr lang="en-US" dirty="0"/>
              <a:t>Routers</a:t>
            </a:r>
            <a:r>
              <a:rPr lang="ar-SA" dirty="0"/>
              <a:t> من نوع </a:t>
            </a:r>
            <a:r>
              <a:rPr lang="en-US" dirty="0" smtClean="0"/>
              <a:t>DEC </a:t>
            </a:r>
            <a:r>
              <a:rPr lang="en-US" dirty="0"/>
              <a:t>net</a:t>
            </a:r>
            <a:r>
              <a:rPr lang="ar-SA" dirty="0"/>
              <a:t> لتوصيل أجهزة الحواسيب الرقمية بالشبكة. وأن الموجه الأول (</a:t>
            </a:r>
            <a:r>
              <a:rPr lang="en-US" dirty="0"/>
              <a:t>A</a:t>
            </a:r>
            <a:r>
              <a:rPr lang="ar-SA" dirty="0"/>
              <a:t>) قد تم إنتاجه من شركة الموجهات الفعالة، وأن الموجه الثاني (</a:t>
            </a:r>
            <a:r>
              <a:rPr lang="en-US" dirty="0"/>
              <a:t>B</a:t>
            </a:r>
            <a:r>
              <a:rPr lang="ar-SA" dirty="0"/>
              <a:t>) تم إنتاجه من شركة أخرى تسمى شركة الموجهات السريعة. وأن كلا النوعين من الموجهات يسمحان أن </a:t>
            </a:r>
            <a:r>
              <a:rPr lang="ar-SA" dirty="0" smtClean="0"/>
              <a:t>يتم </a:t>
            </a:r>
            <a:r>
              <a:rPr lang="ar-SA" dirty="0"/>
              <a:t>التوصيل بهما من خلال الدخول عن بعد </a:t>
            </a:r>
            <a:r>
              <a:rPr lang="en-US" dirty="0"/>
              <a:t>Remote Login</a:t>
            </a:r>
            <a:r>
              <a:rPr lang="ar-SA" dirty="0"/>
              <a:t> ، ولكن الوسيلة المستخدمة للوصول إلى البيانات تختلف تماما</a:t>
            </a:r>
            <a:r>
              <a:rPr lang="ar-SA" dirty="0" smtClean="0"/>
              <a:t> .</a:t>
            </a:r>
            <a:endParaRPr lang="en-US" dirty="0"/>
          </a:p>
          <a:p>
            <a:endParaRPr lang="en-US" dirty="0"/>
          </a:p>
        </p:txBody>
      </p:sp>
    </p:spTree>
    <p:extLst>
      <p:ext uri="{BB962C8B-B14F-4D97-AF65-F5344CB8AC3E}">
        <p14:creationId xmlns:p14="http://schemas.microsoft.com/office/powerpoint/2010/main" val="306945216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10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990600" y="1066800"/>
            <a:ext cx="7082005" cy="37725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ectangle 3"/>
          <p:cNvSpPr/>
          <p:nvPr/>
        </p:nvSpPr>
        <p:spPr>
          <a:xfrm>
            <a:off x="1143000" y="5257800"/>
            <a:ext cx="6477000" cy="369332"/>
          </a:xfrm>
          <a:prstGeom prst="rect">
            <a:avLst/>
          </a:prstGeom>
        </p:spPr>
        <p:txBody>
          <a:bodyPr wrap="square">
            <a:spAutoFit/>
          </a:bodyPr>
          <a:lstStyle/>
          <a:p>
            <a:r>
              <a:rPr lang="ar-SA" b="1" dirty="0"/>
              <a:t>1 نظم تجميع البيانات باستخدام بينية القائمة المنسدلة، وبينية الأمر الخطي</a:t>
            </a:r>
            <a:endParaRPr lang="en-US" dirty="0"/>
          </a:p>
        </p:txBody>
      </p:sp>
    </p:spTree>
    <p:extLst>
      <p:ext uri="{BB962C8B-B14F-4D97-AF65-F5344CB8AC3E}">
        <p14:creationId xmlns:p14="http://schemas.microsoft.com/office/powerpoint/2010/main" val="313863841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lgn="r" rtl="1"/>
            <a:r>
              <a:rPr lang="ar-SA" b="1" dirty="0"/>
              <a:t>عيوب هذه الطرق</a:t>
            </a:r>
            <a:endParaRPr lang="en-US" dirty="0"/>
          </a:p>
          <a:p>
            <a:pPr algn="r" rtl="1"/>
            <a:r>
              <a:rPr lang="ar-SA" dirty="0"/>
              <a:t>تكون أساليب تجميع البيانات عن الشبكة باستخدام هذه الطرق، بطيئة ومتعبة، خاصة في بيئة الشبكات غير المتجانسة </a:t>
            </a:r>
            <a:r>
              <a:rPr lang="en-US" dirty="0"/>
              <a:t> Heterogeneous </a:t>
            </a:r>
            <a:r>
              <a:rPr lang="ar-SA" dirty="0"/>
              <a:t>وكذلك عند استخدام أساليب استفسار متعددة.  لهذا السبب نحتاج إلى أسلوب موحد لتجميع البيانات عن كل مكونات شبكة البيانات، حيث إن مهندس الشبكة يطلب أدوات عامة ولكن قياسية </a:t>
            </a:r>
            <a:r>
              <a:rPr lang="en-US" dirty="0"/>
              <a:t>tools standard</a:t>
            </a:r>
            <a:r>
              <a:rPr lang="ar-SA" dirty="0"/>
              <a:t>. على الرغم من أن مصنعي منتجات الشبكات يوفرون أدوات متعددة تكون بسيطة الاستخدام، لكنها لا تصمم بالتحديد من أجل إدارة الشبكة وهذا يسبب مشكلة</a:t>
            </a:r>
            <a:endParaRPr lang="en-US" dirty="0"/>
          </a:p>
        </p:txBody>
      </p:sp>
    </p:spTree>
    <p:extLst>
      <p:ext uri="{BB962C8B-B14F-4D97-AF65-F5344CB8AC3E}">
        <p14:creationId xmlns:p14="http://schemas.microsoft.com/office/powerpoint/2010/main" val="160455443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r" rtl="1"/>
            <a:r>
              <a:rPr lang="ar-SA" dirty="0"/>
              <a:t>بروتوكول الإنترنت </a:t>
            </a:r>
            <a:r>
              <a:rPr lang="en-US" dirty="0"/>
              <a:t>Internet Protocol</a:t>
            </a:r>
          </a:p>
        </p:txBody>
      </p:sp>
      <p:sp>
        <p:nvSpPr>
          <p:cNvPr id="3" name="Content Placeholder 2"/>
          <p:cNvSpPr>
            <a:spLocks noGrp="1"/>
          </p:cNvSpPr>
          <p:nvPr>
            <p:ph idx="1"/>
          </p:nvPr>
        </p:nvSpPr>
        <p:spPr/>
        <p:txBody>
          <a:bodyPr/>
          <a:lstStyle/>
          <a:p>
            <a:pPr algn="r" rtl="1"/>
            <a:r>
              <a:rPr lang="ar-SA" dirty="0"/>
              <a:t>يستطيع مهندس الشبكة استخدام رسائل الصدى </a:t>
            </a:r>
            <a:r>
              <a:rPr lang="en-US" dirty="0"/>
              <a:t>Echo</a:t>
            </a:r>
            <a:r>
              <a:rPr lang="ar-SA" dirty="0"/>
              <a:t> والاستجابة </a:t>
            </a:r>
            <a:r>
              <a:rPr lang="en-US" dirty="0"/>
              <a:t>Echo Reply</a:t>
            </a:r>
            <a:r>
              <a:rPr lang="ar-SA" dirty="0"/>
              <a:t> وذلك في شبكات البيانات التي تستخدم بروتوكول </a:t>
            </a:r>
            <a:r>
              <a:rPr lang="ar-SA" dirty="0" smtClean="0"/>
              <a:t>الإنترنت </a:t>
            </a:r>
            <a:r>
              <a:rPr lang="en-US" dirty="0"/>
              <a:t>Internet Protocol (IP)</a:t>
            </a:r>
            <a:r>
              <a:rPr lang="ar-SA" dirty="0"/>
              <a:t>، لتجميع معلومات محددة تفيد في إدارة الشبكة، بواسطة بروتوكول رسائل تحكم </a:t>
            </a:r>
            <a:r>
              <a:rPr lang="ar-SA" dirty="0" smtClean="0"/>
              <a:t>الإنترنت</a:t>
            </a:r>
            <a:r>
              <a:rPr lang="en-US" dirty="0" smtClean="0"/>
              <a:t> </a:t>
            </a:r>
            <a:r>
              <a:rPr lang="en-US" dirty="0"/>
              <a:t>Protocol (ICMP</a:t>
            </a:r>
            <a:r>
              <a:rPr lang="en-US" dirty="0" smtClean="0"/>
              <a:t>) </a:t>
            </a:r>
            <a:r>
              <a:rPr lang="en-US" dirty="0"/>
              <a:t>Internet </a:t>
            </a:r>
            <a:endParaRPr lang="en-US" dirty="0" smtClean="0"/>
          </a:p>
          <a:p>
            <a:pPr algn="r" rtl="1"/>
            <a:r>
              <a:rPr lang="en-US" dirty="0" smtClean="0"/>
              <a:t>Control Message</a:t>
            </a:r>
            <a:r>
              <a:rPr lang="ar-SA" dirty="0" smtClean="0"/>
              <a:t>، </a:t>
            </a:r>
            <a:r>
              <a:rPr lang="ar-SA" dirty="0"/>
              <a:t>حيث إن هذا البروتوكول يستخدم أساسا في إرسال معلومات رسائل التحكم بين جهازين في </a:t>
            </a:r>
            <a:r>
              <a:rPr lang="ar-SA" dirty="0" smtClean="0"/>
              <a:t>الشبكة</a:t>
            </a:r>
            <a:r>
              <a:rPr lang="en-US" dirty="0"/>
              <a:t>.</a:t>
            </a:r>
          </a:p>
        </p:txBody>
      </p:sp>
    </p:spTree>
    <p:extLst>
      <p:ext uri="{BB962C8B-B14F-4D97-AF65-F5344CB8AC3E}">
        <p14:creationId xmlns:p14="http://schemas.microsoft.com/office/powerpoint/2010/main" val="253583946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990600"/>
            <a:ext cx="8229600" cy="1143000"/>
          </a:xfrm>
        </p:spPr>
        <p:txBody>
          <a:bodyPr>
            <a:normAutofit fontScale="90000"/>
          </a:bodyPr>
          <a:lstStyle/>
          <a:p>
            <a:pPr algn="r" rtl="1"/>
            <a:r>
              <a:rPr lang="ar-SA" b="1" dirty="0"/>
              <a:t>استخدام الأمر </a:t>
            </a:r>
            <a:r>
              <a:rPr lang="en-US" dirty="0"/>
              <a:t>Ping</a:t>
            </a:r>
            <a:br>
              <a:rPr lang="en-US" dirty="0"/>
            </a:br>
            <a:endParaRPr lang="en-US" dirty="0"/>
          </a:p>
        </p:txBody>
      </p:sp>
      <p:sp>
        <p:nvSpPr>
          <p:cNvPr id="3" name="Content Placeholder 2"/>
          <p:cNvSpPr>
            <a:spLocks noGrp="1"/>
          </p:cNvSpPr>
          <p:nvPr>
            <p:ph idx="1"/>
          </p:nvPr>
        </p:nvSpPr>
        <p:spPr/>
        <p:txBody>
          <a:bodyPr/>
          <a:lstStyle/>
          <a:p>
            <a:pPr algn="r" rtl="1"/>
            <a:r>
              <a:rPr lang="ar-SA" dirty="0" smtClean="0"/>
              <a:t>يعتبر الأمر </a:t>
            </a:r>
            <a:r>
              <a:rPr lang="en-US" dirty="0" smtClean="0"/>
              <a:t>Ping</a:t>
            </a:r>
            <a:r>
              <a:rPr lang="ar-SA" dirty="0" smtClean="0"/>
              <a:t>  </a:t>
            </a:r>
            <a:r>
              <a:rPr lang="ar-SA" dirty="0"/>
              <a:t>ويعنى( </a:t>
            </a:r>
            <a:r>
              <a:rPr lang="en-US" dirty="0"/>
              <a:t>Packet Inter Net Groper </a:t>
            </a:r>
            <a:r>
              <a:rPr lang="ar-SA" dirty="0"/>
              <a:t>، طريقة تلمس حزمة الإنترنيت)،  هو أحد الأوامر التطبيقية شائعة الاستخدام في اختبار توصيلة جهاز متصل بالشبكة عن بعد. وذلك بواسطة إرسال رسالة صدى </a:t>
            </a:r>
            <a:r>
              <a:rPr lang="en-US" dirty="0"/>
              <a:t>ICMP Echo</a:t>
            </a:r>
            <a:r>
              <a:rPr lang="ar-SA" dirty="0"/>
              <a:t> إلى الجهاز المتصل بالشبكة عن بعد ، وبعد فترة انتظار يتم استقبال رسالة استجابة </a:t>
            </a:r>
            <a:r>
              <a:rPr lang="en-US" dirty="0"/>
              <a:t>Echo Reply  ICMP</a:t>
            </a:r>
            <a:r>
              <a:rPr lang="ar-SA" dirty="0"/>
              <a:t> من الجهاز . يوضح الشكل1.2  الرسائل المرسلة والمستقبلة بواسطة الحاسوب المضيف باستخدام الأمر التطبيقي </a:t>
            </a:r>
            <a:r>
              <a:rPr lang="en-US" dirty="0" smtClean="0"/>
              <a:t>Ping</a:t>
            </a:r>
            <a:r>
              <a:rPr lang="ar-SA" dirty="0"/>
              <a:t>.</a:t>
            </a:r>
            <a:endParaRPr lang="en-US" dirty="0"/>
          </a:p>
          <a:p>
            <a:pPr algn="r" rtl="1"/>
            <a:endParaRPr lang="en-US" dirty="0"/>
          </a:p>
        </p:txBody>
      </p:sp>
    </p:spTree>
    <p:extLst>
      <p:ext uri="{BB962C8B-B14F-4D97-AF65-F5344CB8AC3E}">
        <p14:creationId xmlns:p14="http://schemas.microsoft.com/office/powerpoint/2010/main" val="397828146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205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295400" y="2362200"/>
            <a:ext cx="6250719" cy="3258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ectangle 3"/>
          <p:cNvSpPr/>
          <p:nvPr/>
        </p:nvSpPr>
        <p:spPr>
          <a:xfrm>
            <a:off x="1295400" y="5791200"/>
            <a:ext cx="6248400" cy="646331"/>
          </a:xfrm>
          <a:prstGeom prst="rect">
            <a:avLst/>
          </a:prstGeom>
        </p:spPr>
        <p:txBody>
          <a:bodyPr wrap="square">
            <a:spAutoFit/>
          </a:bodyPr>
          <a:lstStyle/>
          <a:p>
            <a:pPr algn="r" rtl="1"/>
            <a:r>
              <a:rPr lang="en-US" dirty="0"/>
              <a:t> </a:t>
            </a:r>
            <a:r>
              <a:rPr lang="ar-SA" b="1" dirty="0"/>
              <a:t>الرسائل المرسلة والمستقبلة بواسطة الحاسب المضيف</a:t>
            </a:r>
            <a:r>
              <a:rPr lang="en-US" dirty="0"/>
              <a:t>A,B</a:t>
            </a:r>
            <a:r>
              <a:rPr lang="ar-SA" b="1" dirty="0"/>
              <a:t> باستخدام الأمر </a:t>
            </a:r>
            <a:r>
              <a:rPr lang="en-US" dirty="0"/>
              <a:t>Ping</a:t>
            </a:r>
            <a:r>
              <a:rPr lang="ar-SA" b="1" dirty="0"/>
              <a:t>.</a:t>
            </a:r>
            <a:endParaRPr lang="en-US" dirty="0"/>
          </a:p>
        </p:txBody>
      </p:sp>
    </p:spTree>
    <p:extLst>
      <p:ext uri="{BB962C8B-B14F-4D97-AF65-F5344CB8AC3E}">
        <p14:creationId xmlns:p14="http://schemas.microsoft.com/office/powerpoint/2010/main" val="24079293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r" rtl="1"/>
            <a:r>
              <a:rPr lang="ar-SA" dirty="0"/>
              <a:t> بروتوكول الإنترنت </a:t>
            </a:r>
            <a:r>
              <a:rPr lang="en-US" dirty="0"/>
              <a:t>Internet Protocol</a:t>
            </a:r>
          </a:p>
        </p:txBody>
      </p:sp>
      <p:sp>
        <p:nvSpPr>
          <p:cNvPr id="3" name="Content Placeholder 2"/>
          <p:cNvSpPr>
            <a:spLocks noGrp="1"/>
          </p:cNvSpPr>
          <p:nvPr>
            <p:ph idx="1"/>
          </p:nvPr>
        </p:nvSpPr>
        <p:spPr/>
        <p:txBody>
          <a:bodyPr/>
          <a:lstStyle/>
          <a:p>
            <a:pPr marL="0" indent="0" algn="r" rtl="1">
              <a:buNone/>
            </a:pPr>
            <a:r>
              <a:rPr lang="ar-SA" b="1" dirty="0"/>
              <a:t>1 من عيوب هذه الطريقة ما يلي:</a:t>
            </a:r>
            <a:endParaRPr lang="en-US" dirty="0"/>
          </a:p>
          <a:p>
            <a:pPr algn="r" rtl="1"/>
            <a:r>
              <a:rPr lang="ar-SA" dirty="0"/>
              <a:t>أ ـ أنه لا يعتمد عليها في توصيل الرسائل.</a:t>
            </a:r>
            <a:endParaRPr lang="en-US" dirty="0"/>
          </a:p>
          <a:p>
            <a:pPr algn="r" rtl="1"/>
            <a:r>
              <a:rPr lang="ar-SA" dirty="0"/>
              <a:t>ب ـ تحتاج  لإجراء عملية التصويت </a:t>
            </a:r>
            <a:r>
              <a:rPr lang="en-US" dirty="0"/>
              <a:t>Polling</a:t>
            </a:r>
            <a:r>
              <a:rPr lang="ar-SA" dirty="0"/>
              <a:t>.</a:t>
            </a:r>
            <a:endParaRPr lang="en-US" dirty="0"/>
          </a:p>
          <a:p>
            <a:pPr algn="r" rtl="1"/>
            <a:r>
              <a:rPr lang="ar-SA" dirty="0"/>
              <a:t>ج ـ توفر معلومات محدودة.</a:t>
            </a:r>
            <a:endParaRPr lang="en-US" dirty="0"/>
          </a:p>
          <a:p>
            <a:pPr algn="r"/>
            <a:endParaRPr lang="en-US" dirty="0"/>
          </a:p>
        </p:txBody>
      </p:sp>
    </p:spTree>
    <p:extLst>
      <p:ext uri="{BB962C8B-B14F-4D97-AF65-F5344CB8AC3E}">
        <p14:creationId xmlns:p14="http://schemas.microsoft.com/office/powerpoint/2010/main" val="36030063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ar-SA" b="1" dirty="0"/>
              <a:t>تطوير البروتوكولات القياسية لإدارة الشبكات </a:t>
            </a:r>
            <a:endParaRPr lang="en-US" dirty="0"/>
          </a:p>
        </p:txBody>
      </p:sp>
      <p:sp>
        <p:nvSpPr>
          <p:cNvPr id="3" name="Content Placeholder 2"/>
          <p:cNvSpPr>
            <a:spLocks noGrp="1"/>
          </p:cNvSpPr>
          <p:nvPr>
            <p:ph idx="1"/>
          </p:nvPr>
        </p:nvSpPr>
        <p:spPr/>
        <p:txBody>
          <a:bodyPr>
            <a:normAutofit/>
          </a:bodyPr>
          <a:lstStyle/>
          <a:p>
            <a:pPr algn="r" rtl="1"/>
            <a:r>
              <a:rPr lang="ar-SA" dirty="0"/>
              <a:t>لقد أظهرت بروتوكولات إدارة الشبكة الحاجة لتوفير طريقة موحدة للوصول إلى أي جهاز شبكة يتم تصنيعه من قبل أي مصنع لتوفير مجموعة من القيم القياسية. إن الاستفسارات </a:t>
            </a:r>
            <a:r>
              <a:rPr lang="en-US" dirty="0"/>
              <a:t>queries</a:t>
            </a:r>
            <a:r>
              <a:rPr lang="ar-SA" dirty="0"/>
              <a:t> عن أجهزة الشبكة ينبغي أن تشمل الآتي:</a:t>
            </a:r>
            <a:endParaRPr lang="en-US" dirty="0"/>
          </a:p>
          <a:p>
            <a:pPr algn="r" rtl="1"/>
            <a:r>
              <a:rPr lang="ar-SA" dirty="0"/>
              <a:t>- اسم الجهاز.</a:t>
            </a:r>
            <a:endParaRPr lang="en-US" dirty="0"/>
          </a:p>
          <a:p>
            <a:pPr algn="r" rtl="1"/>
            <a:r>
              <a:rPr lang="ar-SA" dirty="0"/>
              <a:t>- الإصدار البرمجي في الجهاز.</a:t>
            </a:r>
            <a:endParaRPr lang="en-US" dirty="0"/>
          </a:p>
          <a:p>
            <a:pPr algn="r" rtl="1"/>
            <a:r>
              <a:rPr lang="ar-SA" dirty="0"/>
              <a:t>- عدد الوحدات البينية </a:t>
            </a:r>
            <a:r>
              <a:rPr lang="en-US" dirty="0"/>
              <a:t>interfaces</a:t>
            </a:r>
            <a:r>
              <a:rPr lang="ar-SA" dirty="0"/>
              <a:t> في الجهاز.</a:t>
            </a:r>
            <a:endParaRPr lang="en-US" dirty="0"/>
          </a:p>
          <a:p>
            <a:pPr algn="r" rtl="1"/>
            <a:r>
              <a:rPr lang="ar-SA" dirty="0"/>
              <a:t>- عدد الحزم في الثانية للوحدة البينية للجهاز</a:t>
            </a:r>
            <a:r>
              <a:rPr lang="ar-SA" dirty="0" smtClean="0"/>
              <a:t>.</a:t>
            </a:r>
            <a:endParaRPr lang="en-US" dirty="0"/>
          </a:p>
        </p:txBody>
      </p:sp>
    </p:spTree>
    <p:extLst>
      <p:ext uri="{BB962C8B-B14F-4D97-AF65-F5344CB8AC3E}">
        <p14:creationId xmlns:p14="http://schemas.microsoft.com/office/powerpoint/2010/main" val="260512789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lgn="r" rtl="1"/>
            <a:r>
              <a:rPr lang="ar-SA" dirty="0"/>
              <a:t>وأن معامِلات الإعداد </a:t>
            </a:r>
            <a:r>
              <a:rPr lang="en-US" dirty="0"/>
              <a:t>settable parameters</a:t>
            </a:r>
            <a:r>
              <a:rPr lang="ar-SA" dirty="0"/>
              <a:t> لأجهزة الشبكة ينبغي أن تشمل على الآتي:</a:t>
            </a:r>
            <a:endParaRPr lang="en-US" dirty="0"/>
          </a:p>
          <a:p>
            <a:pPr algn="r" rtl="1"/>
            <a:r>
              <a:rPr lang="ar-SA" dirty="0"/>
              <a:t>- اسم الجهاز.</a:t>
            </a:r>
            <a:endParaRPr lang="en-US" dirty="0"/>
          </a:p>
          <a:p>
            <a:pPr algn="r" rtl="1"/>
            <a:r>
              <a:rPr lang="ar-SA" dirty="0"/>
              <a:t>- عنوان الوحدة البينية للشبكة.</a:t>
            </a:r>
            <a:endParaRPr lang="en-US" dirty="0"/>
          </a:p>
          <a:p>
            <a:pPr algn="r" rtl="1"/>
            <a:r>
              <a:rPr lang="ar-SA" dirty="0"/>
              <a:t>- الحالة التشغيلية للوحدة البينية للشبكة.</a:t>
            </a:r>
            <a:endParaRPr lang="en-US" dirty="0"/>
          </a:p>
          <a:p>
            <a:pPr algn="r" rtl="1"/>
            <a:r>
              <a:rPr lang="ar-SA" dirty="0"/>
              <a:t>- الحالة التشغيلية للجهاز.</a:t>
            </a:r>
            <a:endParaRPr lang="en-US" dirty="0"/>
          </a:p>
          <a:p>
            <a:pPr algn="r"/>
            <a:r>
              <a:rPr lang="ar-SA" dirty="0"/>
              <a:t>كما توفر البروتوكولات القياسية لإدارة الشبكة فوائد إضافية أخرى مثل توفير إظهار بيانات موحدة يتم إرسالها وإرجاعها بواسطة أجهزة الشبكة</a:t>
            </a:r>
            <a:endParaRPr lang="en-US" dirty="0"/>
          </a:p>
          <a:p>
            <a:endParaRPr lang="en-US" dirty="0"/>
          </a:p>
        </p:txBody>
      </p:sp>
    </p:spTree>
    <p:extLst>
      <p:ext uri="{BB962C8B-B14F-4D97-AF65-F5344CB8AC3E}">
        <p14:creationId xmlns:p14="http://schemas.microsoft.com/office/powerpoint/2010/main" val="100448759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r" rtl="1"/>
            <a:r>
              <a:rPr lang="ar-SA" sz="3200" b="1" dirty="0"/>
              <a:t>بروتوكول إدارة الشبكة البسيط (الإصدار الأول </a:t>
            </a:r>
            <a:r>
              <a:rPr lang="en-US" sz="3200" dirty="0"/>
              <a:t>SNMPv1</a:t>
            </a:r>
            <a:r>
              <a:rPr lang="ar-SA" sz="3200" b="1" dirty="0"/>
              <a:t>) </a:t>
            </a:r>
            <a:endParaRPr lang="en-US" sz="3200" dirty="0"/>
          </a:p>
        </p:txBody>
      </p:sp>
      <p:sp>
        <p:nvSpPr>
          <p:cNvPr id="3" name="Content Placeholder 2"/>
          <p:cNvSpPr>
            <a:spLocks noGrp="1"/>
          </p:cNvSpPr>
          <p:nvPr>
            <p:ph idx="1"/>
          </p:nvPr>
        </p:nvSpPr>
        <p:spPr/>
        <p:txBody>
          <a:bodyPr>
            <a:normAutofit/>
          </a:bodyPr>
          <a:lstStyle/>
          <a:p>
            <a:pPr algn="r" rtl="1">
              <a:lnSpc>
                <a:spcPct val="150000"/>
              </a:lnSpc>
            </a:pPr>
            <a:r>
              <a:rPr lang="ar-SA" sz="2400" dirty="0"/>
              <a:t>هو بروتوكول قياسي تم تطويره لإدارة مراكز اتصالات شبكة البيانات. وهو أكثر بروتوكولات الشبكات شهرة واستخداما في إدارة العديد من الشبكات، وقد تم تصميمه للعمل في المستوي التطبيقي </a:t>
            </a:r>
            <a:r>
              <a:rPr lang="en-US" sz="2400" dirty="0"/>
              <a:t>Application Layer</a:t>
            </a:r>
            <a:r>
              <a:rPr lang="ar-SA" sz="2400" dirty="0"/>
              <a:t>، وذلك لتسهيل تبادل المعلومات الإدارية بين أجهزة الشبكة. ويشمل ذلك إدارة أجهزة الخادم – محطة العمل – الموجهات – مفاتيح الاتصال – المجمعات </a:t>
            </a:r>
            <a:r>
              <a:rPr lang="en-US" sz="2400" dirty="0"/>
              <a:t>Hubs </a:t>
            </a:r>
            <a:r>
              <a:rPr lang="ar-SA" sz="2400" dirty="0"/>
              <a:t> - وغيرها</a:t>
            </a:r>
            <a:endParaRPr lang="en-US" sz="2400" dirty="0"/>
          </a:p>
        </p:txBody>
      </p:sp>
    </p:spTree>
    <p:extLst>
      <p:ext uri="{BB962C8B-B14F-4D97-AF65-F5344CB8AC3E}">
        <p14:creationId xmlns:p14="http://schemas.microsoft.com/office/powerpoint/2010/main" val="2806145897"/>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lgn="r" rtl="1"/>
            <a:r>
              <a:rPr lang="ar-SA" dirty="0"/>
              <a:t>يعتمد بروتوكول </a:t>
            </a:r>
            <a:r>
              <a:rPr lang="ar-SA" dirty="0" smtClean="0"/>
              <a:t>"</a:t>
            </a:r>
            <a:r>
              <a:rPr lang="en-US" sz="2800" dirty="0"/>
              <a:t> SNMPv1 </a:t>
            </a:r>
            <a:r>
              <a:rPr lang="ar-SA" dirty="0" smtClean="0"/>
              <a:t>" </a:t>
            </a:r>
            <a:r>
              <a:rPr lang="ar-SA" dirty="0"/>
              <a:t>في عمله على استخدام نموذج "المدير/الوكيل" </a:t>
            </a:r>
            <a:r>
              <a:rPr lang="en-US" dirty="0"/>
              <a:t>Manger/Agent Model </a:t>
            </a:r>
            <a:r>
              <a:rPr lang="ar-SA" dirty="0"/>
              <a:t>الذي يتكون من ثلاثة أجزاء هي المدير، والوكيل ، وقاعدة المعلومات الإدارية </a:t>
            </a:r>
            <a:r>
              <a:rPr lang="en-US" dirty="0"/>
              <a:t>MIB</a:t>
            </a:r>
            <a:r>
              <a:rPr lang="ar-SA" dirty="0"/>
              <a:t>، كما هو موضح في </a:t>
            </a:r>
            <a:r>
              <a:rPr lang="ar-SA" dirty="0" smtClean="0"/>
              <a:t>الشكل</a:t>
            </a:r>
            <a:endParaRPr lang="en-US"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23949" y="3657600"/>
            <a:ext cx="6917871" cy="2667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509760719"/>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r"/>
            <a:r>
              <a:rPr lang="ar-SA" b="1" dirty="0"/>
              <a:t>طريقة عمل نموذج "المدير/الوكيل"</a:t>
            </a:r>
            <a:r>
              <a:rPr lang="en-US" dirty="0"/>
              <a:t/>
            </a:r>
            <a:br>
              <a:rPr lang="en-US" dirty="0"/>
            </a:br>
            <a:endParaRPr lang="en-US" dirty="0"/>
          </a:p>
        </p:txBody>
      </p:sp>
      <p:sp>
        <p:nvSpPr>
          <p:cNvPr id="3" name="Content Placeholder 2"/>
          <p:cNvSpPr>
            <a:spLocks noGrp="1"/>
          </p:cNvSpPr>
          <p:nvPr>
            <p:ph idx="1"/>
          </p:nvPr>
        </p:nvSpPr>
        <p:spPr/>
        <p:txBody>
          <a:bodyPr>
            <a:normAutofit fontScale="92500"/>
          </a:bodyPr>
          <a:lstStyle/>
          <a:p>
            <a:pPr algn="r" rtl="1"/>
            <a:r>
              <a:rPr lang="ar-SA" sz="3500" b="1" dirty="0" smtClean="0"/>
              <a:t>أولا</a:t>
            </a:r>
            <a:r>
              <a:rPr lang="ar-SA" sz="3500" b="1" dirty="0"/>
              <a:t>: المدير</a:t>
            </a:r>
            <a:endParaRPr lang="en-US" sz="3500" b="1" dirty="0"/>
          </a:p>
          <a:p>
            <a:pPr algn="r" rtl="1"/>
            <a:r>
              <a:rPr lang="ar-SA" dirty="0"/>
              <a:t>يمكن أن يكون المدير جزءاً من نظام إدارة الشبكة، ويمكن أن يكون الوكيل موجوداً  داخل جهاز الشبكة (مثل الموجه</a:t>
            </a:r>
            <a:r>
              <a:rPr lang="en-US" dirty="0"/>
              <a:t>router</a:t>
            </a:r>
            <a:r>
              <a:rPr lang="ar-SA" dirty="0"/>
              <a:t>). يستطيع المدير الحصول على قيمة (أو تخزين قيمة) من الوكيل. عندما يتم تهيئة البروتوكول </a:t>
            </a:r>
            <a:r>
              <a:rPr lang="ar-SA" dirty="0" smtClean="0"/>
              <a:t>لإدارة </a:t>
            </a:r>
            <a:r>
              <a:rPr lang="ar-SA" dirty="0"/>
              <a:t>موجه الشبكة فإن الوكيل يستطيع أن يستجيب للاستفسارات المتعلقة بقاعدة المعلومات الإدارية</a:t>
            </a:r>
            <a:r>
              <a:rPr lang="en-US" dirty="0"/>
              <a:t>MIB  </a:t>
            </a:r>
            <a:r>
              <a:rPr lang="ar-SA" dirty="0"/>
              <a:t>التي يتم إرسالها بواسطة نظام إدارة الشبكة. يستخدم نظام إدارة الشبكة برامج إدارة الشبكة لضبط متغيرات الأجهزة وإجراء عملية التصويت للحصول على معلومات محددة. واستخدام نتائج عملية التصويت ورسمها وتحليلها لمساعدة مهندس الشبكة في حل المشاكل المتعلقة بتشخيص الأعطال وزيادة كفاءة أداء الشبكة والتحقق من تهيئة الأجهزة ورصد أحمال حركة مرور الرسائل داخل شبكة البيانات.</a:t>
            </a:r>
            <a:endParaRPr lang="en-US" dirty="0"/>
          </a:p>
        </p:txBody>
      </p:sp>
    </p:spTree>
    <p:extLst>
      <p:ext uri="{BB962C8B-B14F-4D97-AF65-F5344CB8AC3E}">
        <p14:creationId xmlns:p14="http://schemas.microsoft.com/office/powerpoint/2010/main" val="1572255665"/>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lgn="r" rtl="1"/>
            <a:r>
              <a:rPr lang="ar-SA" b="1" dirty="0"/>
              <a:t>ثانيا: الوكيل</a:t>
            </a:r>
            <a:endParaRPr lang="en-US" b="1" dirty="0"/>
          </a:p>
          <a:p>
            <a:pPr algn="r" rtl="1"/>
            <a:r>
              <a:rPr lang="ar-SA" dirty="0"/>
              <a:t>يقوم الوكيل بتجميع البيانات من قاعدة المعلومات الإدارية، والتي تمثل مستودع </a:t>
            </a:r>
            <a:r>
              <a:rPr lang="en-US" dirty="0"/>
              <a:t>repository</a:t>
            </a:r>
            <a:r>
              <a:rPr lang="ar-SA" dirty="0"/>
              <a:t> معلومات عن معاملات تشغيل الأجهزة وشبكة البيانات. كما يستطيع أيضا أن يرسل رسائل </a:t>
            </a:r>
            <a:r>
              <a:rPr lang="en-US" dirty="0"/>
              <a:t>Traps</a:t>
            </a:r>
            <a:r>
              <a:rPr lang="ar-SA" dirty="0"/>
              <a:t> </a:t>
            </a:r>
            <a:r>
              <a:rPr lang="ar-SA" dirty="0" smtClean="0"/>
              <a:t>حتى </a:t>
            </a:r>
            <a:r>
              <a:rPr lang="ar-SA" dirty="0"/>
              <a:t>وقوع أحداث معينة وتبليغها إلى المدير.</a:t>
            </a:r>
            <a:endParaRPr lang="en-US" dirty="0"/>
          </a:p>
        </p:txBody>
      </p:sp>
    </p:spTree>
    <p:extLst>
      <p:ext uri="{BB962C8B-B14F-4D97-AF65-F5344CB8AC3E}">
        <p14:creationId xmlns:p14="http://schemas.microsoft.com/office/powerpoint/2010/main" val="3121107585"/>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098"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914400" y="1295400"/>
            <a:ext cx="7441691" cy="51880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26645894"/>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r" rtl="1"/>
            <a:r>
              <a:rPr lang="ar-SA" sz="3200" b="1" dirty="0" smtClean="0"/>
              <a:t>أنواع </a:t>
            </a:r>
            <a:r>
              <a:rPr lang="ar-SA" sz="3200" b="1" dirty="0"/>
              <a:t>الرسائل والحصول على المعلومات وضبطها </a:t>
            </a:r>
            <a:endParaRPr lang="en-US" sz="3200" dirty="0"/>
          </a:p>
        </p:txBody>
      </p:sp>
      <p:sp>
        <p:nvSpPr>
          <p:cNvPr id="3" name="Content Placeholder 2"/>
          <p:cNvSpPr>
            <a:spLocks noGrp="1"/>
          </p:cNvSpPr>
          <p:nvPr>
            <p:ph idx="1"/>
          </p:nvPr>
        </p:nvSpPr>
        <p:spPr/>
        <p:txBody>
          <a:bodyPr>
            <a:normAutofit fontScale="92500" lnSpcReduction="20000"/>
          </a:bodyPr>
          <a:lstStyle/>
          <a:p>
            <a:pPr algn="r" rtl="1"/>
            <a:r>
              <a:rPr lang="ar-SA" dirty="0" smtClean="0"/>
              <a:t>يقوم </a:t>
            </a:r>
            <a:r>
              <a:rPr lang="ar-SA" dirty="0"/>
              <a:t>البروتوكول </a:t>
            </a:r>
            <a:r>
              <a:rPr lang="ar-SA" dirty="0" smtClean="0"/>
              <a:t>"</a:t>
            </a:r>
            <a:r>
              <a:rPr lang="en-US" sz="2400" dirty="0"/>
              <a:t> SNMPv1 </a:t>
            </a:r>
            <a:r>
              <a:rPr lang="ar-SA" dirty="0" smtClean="0"/>
              <a:t>" </a:t>
            </a:r>
            <a:r>
              <a:rPr lang="ar-SA" dirty="0"/>
              <a:t>بتأدية وظائفه مستخدما خمسة أنواع من الرسائل القياسية المبينة في </a:t>
            </a:r>
            <a:r>
              <a:rPr lang="ar-SA" dirty="0" smtClean="0"/>
              <a:t>الجدول</a:t>
            </a:r>
          </a:p>
          <a:p>
            <a:pPr algn="r" rtl="1"/>
            <a:r>
              <a:rPr lang="ar-SA" dirty="0" smtClean="0"/>
              <a:t> </a:t>
            </a:r>
            <a:r>
              <a:rPr lang="ar-SA" dirty="0"/>
              <a:t>ترسل الرسالة على شكل حزمة بيانية </a:t>
            </a:r>
            <a:r>
              <a:rPr lang="en-US" dirty="0"/>
              <a:t>packet</a:t>
            </a:r>
            <a:r>
              <a:rPr lang="ar-SA" dirty="0"/>
              <a:t> بين المدير والوكيل. تحتوي كل حزمة بيانية على جزء من البيانات يسمى بوحدة بيانات البرتوكول </a:t>
            </a:r>
            <a:r>
              <a:rPr lang="en-US" dirty="0"/>
              <a:t>PDU (Protocol Data Unit)</a:t>
            </a:r>
            <a:r>
              <a:rPr lang="ar-SA" dirty="0" smtClean="0"/>
              <a:t>.</a:t>
            </a:r>
          </a:p>
          <a:p>
            <a:pPr algn="r" rtl="1"/>
            <a:r>
              <a:rPr lang="ar-SA" dirty="0" smtClean="0"/>
              <a:t> </a:t>
            </a:r>
            <a:r>
              <a:rPr lang="ar-SA" dirty="0"/>
              <a:t>يستخدم </a:t>
            </a:r>
            <a:r>
              <a:rPr lang="en-US" sz="2400" dirty="0"/>
              <a:t>SNMPv1</a:t>
            </a:r>
            <a:r>
              <a:rPr lang="ar-SA" dirty="0" smtClean="0"/>
              <a:t> بروتوكول( </a:t>
            </a:r>
            <a:r>
              <a:rPr lang="en-US" dirty="0" smtClean="0"/>
              <a:t>User Datagram Protocol (UDP</a:t>
            </a:r>
            <a:r>
              <a:rPr lang="ar-SA" dirty="0" smtClean="0"/>
              <a:t>) </a:t>
            </a:r>
            <a:r>
              <a:rPr lang="ar-SA" dirty="0"/>
              <a:t>في المستوى الرابع، أو بروتوكول النقل. يتيح بروتوكول</a:t>
            </a:r>
            <a:r>
              <a:rPr lang="en-US" dirty="0"/>
              <a:t>UDP </a:t>
            </a:r>
            <a:r>
              <a:rPr lang="ar-SA" dirty="0"/>
              <a:t> خدمة عدم الربط </a:t>
            </a:r>
            <a:r>
              <a:rPr lang="en-US" dirty="0"/>
              <a:t>connectionless</a:t>
            </a:r>
            <a:r>
              <a:rPr lang="ar-SA" dirty="0"/>
              <a:t> (حيث إن رسالة داتاجرام بها عنوان المرسل والمستقبل، وبيانات تحديد المسار)، لذلك فإن بروتوكول </a:t>
            </a:r>
            <a:r>
              <a:rPr lang="en-US" sz="2400" dirty="0"/>
              <a:t>SNMPv1</a:t>
            </a:r>
            <a:r>
              <a:rPr lang="ar-SA" dirty="0" smtClean="0"/>
              <a:t> </a:t>
            </a:r>
            <a:r>
              <a:rPr lang="ar-SA" dirty="0"/>
              <a:t>ليس مجبرا بصيانة روابط الاتصال بين الوكيل والمدير من أجل إرسال الرسائل. يتيح بروتوكول </a:t>
            </a:r>
            <a:r>
              <a:rPr lang="en-US" dirty="0"/>
              <a:t>UDP</a:t>
            </a:r>
            <a:r>
              <a:rPr lang="ar-SA" dirty="0"/>
              <a:t> خدمة مستوى نقل سريعة بأقل كمية من تخصيص المصادر </a:t>
            </a:r>
            <a:r>
              <a:rPr lang="en-US" dirty="0"/>
              <a:t>resource allocation</a:t>
            </a:r>
            <a:r>
              <a:rPr lang="ar-SA" dirty="0"/>
              <a:t>. لكنه لا يوفر طريقة اتصال معتمدة </a:t>
            </a:r>
            <a:r>
              <a:rPr lang="en-US" dirty="0"/>
              <a:t>Reliable </a:t>
            </a:r>
            <a:r>
              <a:rPr lang="ar-SA" dirty="0"/>
              <a:t>لتبادل الرسائل بين الوكيل </a:t>
            </a:r>
            <a:r>
              <a:rPr lang="ar-SA" dirty="0" smtClean="0"/>
              <a:t>والمدير</a:t>
            </a:r>
            <a:r>
              <a:rPr lang="en-US" dirty="0" smtClean="0"/>
              <a:t>.</a:t>
            </a:r>
            <a:endParaRPr lang="en-US" dirty="0"/>
          </a:p>
        </p:txBody>
      </p:sp>
    </p:spTree>
    <p:extLst>
      <p:ext uri="{BB962C8B-B14F-4D97-AF65-F5344CB8AC3E}">
        <p14:creationId xmlns:p14="http://schemas.microsoft.com/office/powerpoint/2010/main" val="3595259296"/>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5122"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38200" y="1219200"/>
            <a:ext cx="8001000" cy="48440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ectangle 3"/>
          <p:cNvSpPr/>
          <p:nvPr/>
        </p:nvSpPr>
        <p:spPr>
          <a:xfrm>
            <a:off x="1250044" y="6248400"/>
            <a:ext cx="5229317" cy="461665"/>
          </a:xfrm>
          <a:prstGeom prst="rect">
            <a:avLst/>
          </a:prstGeom>
        </p:spPr>
        <p:txBody>
          <a:bodyPr wrap="none">
            <a:spAutoFit/>
          </a:bodyPr>
          <a:lstStyle/>
          <a:p>
            <a:pPr algn="r" rtl="1"/>
            <a:r>
              <a:rPr lang="ar-SA" sz="2400" dirty="0"/>
              <a:t>النموذج المرجعي </a:t>
            </a:r>
            <a:r>
              <a:rPr lang="en-US" sz="2400" dirty="0"/>
              <a:t>TCP/IP</a:t>
            </a:r>
            <a:r>
              <a:rPr lang="ar-SA" sz="2400" dirty="0"/>
              <a:t> لبروتوكول </a:t>
            </a:r>
            <a:r>
              <a:rPr lang="ar-SA" sz="2400" dirty="0" smtClean="0"/>
              <a:t>“</a:t>
            </a:r>
            <a:r>
              <a:rPr lang="en-US" sz="2400" dirty="0" smtClean="0"/>
              <a:t>SNMP</a:t>
            </a:r>
            <a:r>
              <a:rPr lang="ar-SA" sz="2400" dirty="0" smtClean="0"/>
              <a:t>".</a:t>
            </a:r>
            <a:endParaRPr lang="en-US" sz="2400" dirty="0"/>
          </a:p>
        </p:txBody>
      </p:sp>
    </p:spTree>
    <p:extLst>
      <p:ext uri="{BB962C8B-B14F-4D97-AF65-F5344CB8AC3E}">
        <p14:creationId xmlns:p14="http://schemas.microsoft.com/office/powerpoint/2010/main" val="487420389"/>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614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38200" y="990600"/>
            <a:ext cx="7660973" cy="48107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ectangle 3"/>
          <p:cNvSpPr/>
          <p:nvPr/>
        </p:nvSpPr>
        <p:spPr>
          <a:xfrm>
            <a:off x="3429000" y="5943600"/>
            <a:ext cx="3352800" cy="461665"/>
          </a:xfrm>
          <a:prstGeom prst="rect">
            <a:avLst/>
          </a:prstGeom>
        </p:spPr>
        <p:txBody>
          <a:bodyPr wrap="square">
            <a:spAutoFit/>
          </a:bodyPr>
          <a:lstStyle/>
          <a:p>
            <a:pPr algn="r" rtl="1"/>
            <a:r>
              <a:rPr lang="ar-SA" sz="2400" b="1" dirty="0"/>
              <a:t>شكل </a:t>
            </a:r>
            <a:r>
              <a:rPr lang="ar-SA" sz="2400" b="1" dirty="0" smtClean="0"/>
              <a:t>رسائل</a:t>
            </a:r>
            <a:r>
              <a:rPr lang="en-US" sz="2400" b="1" dirty="0" smtClean="0"/>
              <a:t>SNMPv1    </a:t>
            </a:r>
            <a:endParaRPr lang="en-US" sz="2400" dirty="0"/>
          </a:p>
        </p:txBody>
      </p:sp>
    </p:spTree>
    <p:extLst>
      <p:ext uri="{BB962C8B-B14F-4D97-AF65-F5344CB8AC3E}">
        <p14:creationId xmlns:p14="http://schemas.microsoft.com/office/powerpoint/2010/main" val="2782459309"/>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10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914400" y="609600"/>
            <a:ext cx="7580472" cy="5029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ectangle 3"/>
          <p:cNvSpPr/>
          <p:nvPr/>
        </p:nvSpPr>
        <p:spPr>
          <a:xfrm>
            <a:off x="2667000" y="6096000"/>
            <a:ext cx="4376519" cy="461665"/>
          </a:xfrm>
          <a:prstGeom prst="rect">
            <a:avLst/>
          </a:prstGeom>
        </p:spPr>
        <p:txBody>
          <a:bodyPr wrap="none">
            <a:spAutoFit/>
          </a:bodyPr>
          <a:lstStyle/>
          <a:p>
            <a:r>
              <a:rPr lang="ar-SA" sz="2400" b="1" dirty="0"/>
              <a:t>أنواع الرسائل المتبادلة بين المدير والوكيل</a:t>
            </a:r>
            <a:endParaRPr lang="en-US" sz="2400" dirty="0"/>
          </a:p>
        </p:txBody>
      </p:sp>
    </p:spTree>
    <p:extLst>
      <p:ext uri="{BB962C8B-B14F-4D97-AF65-F5344CB8AC3E}">
        <p14:creationId xmlns:p14="http://schemas.microsoft.com/office/powerpoint/2010/main" val="406631083"/>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r" rtl="1"/>
            <a:r>
              <a:rPr lang="ar-SA" sz="3200" b="1" dirty="0"/>
              <a:t>استخدامات الرسائل القياسية لبروتوكول </a:t>
            </a:r>
            <a:r>
              <a:rPr lang="ar-SA" sz="3200" b="1" dirty="0" smtClean="0"/>
              <a:t>“</a:t>
            </a:r>
            <a:r>
              <a:rPr lang="en-US" sz="3200" b="1" dirty="0" smtClean="0"/>
              <a:t>SNMPv1</a:t>
            </a:r>
            <a:r>
              <a:rPr lang="ar-SA" sz="3200" b="1" dirty="0" smtClean="0"/>
              <a:t>" </a:t>
            </a:r>
            <a:endParaRPr lang="en-US" sz="3200" dirty="0"/>
          </a:p>
        </p:txBody>
      </p:sp>
      <p:sp>
        <p:nvSpPr>
          <p:cNvPr id="3" name="Content Placeholder 2"/>
          <p:cNvSpPr>
            <a:spLocks noGrp="1"/>
          </p:cNvSpPr>
          <p:nvPr>
            <p:ph idx="1"/>
          </p:nvPr>
        </p:nvSpPr>
        <p:spPr/>
        <p:txBody>
          <a:bodyPr>
            <a:normAutofit/>
          </a:bodyPr>
          <a:lstStyle/>
          <a:p>
            <a:pPr algn="r" rtl="1"/>
            <a:r>
              <a:rPr lang="ar-SA" dirty="0"/>
              <a:t>● رسالة </a:t>
            </a:r>
            <a:r>
              <a:rPr lang="en-US" b="1" dirty="0"/>
              <a:t>Get-Request</a:t>
            </a:r>
            <a:r>
              <a:rPr lang="ar-SA" dirty="0"/>
              <a:t>: </a:t>
            </a:r>
            <a:endParaRPr lang="en-US" dirty="0"/>
          </a:p>
          <a:p>
            <a:pPr algn="r" rtl="1"/>
            <a:r>
              <a:rPr lang="ar-SA" dirty="0"/>
              <a:t>يستخدم المدير </a:t>
            </a:r>
            <a:r>
              <a:rPr lang="ar-SA" dirty="0" smtClean="0"/>
              <a:t>“</a:t>
            </a:r>
            <a:r>
              <a:rPr lang="en-US" dirty="0" smtClean="0"/>
              <a:t>SNMP</a:t>
            </a:r>
            <a:r>
              <a:rPr lang="ar-SA" dirty="0" smtClean="0"/>
              <a:t>" </a:t>
            </a:r>
            <a:r>
              <a:rPr lang="ar-SA" dirty="0"/>
              <a:t>رسالة </a:t>
            </a:r>
            <a:r>
              <a:rPr lang="en-US" dirty="0"/>
              <a:t>Get-Request</a:t>
            </a:r>
            <a:r>
              <a:rPr lang="ar-SA" dirty="0"/>
              <a:t> لاسترجاع معلومات من جهاز الشبكة الذي يوجد به الوكيل، لاسترجاع معلومات عن عنصر معين في الشبكة. يقوم الوكيل بدوره بإرسال استجابة بواسطة إرسال رسالة </a:t>
            </a:r>
            <a:r>
              <a:rPr lang="en-US" dirty="0"/>
              <a:t>Get-Response</a:t>
            </a:r>
            <a:r>
              <a:rPr lang="ar-SA" dirty="0"/>
              <a:t>. يمكن أن تشتمل هذه الاستجابة على اسم النظام، مدة بقاء النظام في التشغيل، وعدد وحدات الشبكة البينية الموجودة في النظام</a:t>
            </a:r>
            <a:r>
              <a:rPr lang="ar-SA" dirty="0" smtClean="0"/>
              <a:t>.</a:t>
            </a:r>
            <a:endParaRPr lang="en-US" dirty="0"/>
          </a:p>
        </p:txBody>
      </p:sp>
    </p:spTree>
    <p:extLst>
      <p:ext uri="{BB962C8B-B14F-4D97-AF65-F5344CB8AC3E}">
        <p14:creationId xmlns:p14="http://schemas.microsoft.com/office/powerpoint/2010/main" val="61926024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lgn="r" rtl="1"/>
            <a:r>
              <a:rPr lang="ar-SA" dirty="0"/>
              <a:t>● رسالة </a:t>
            </a:r>
            <a:r>
              <a:rPr lang="en-US" b="1" dirty="0"/>
              <a:t>Get-Next-Request</a:t>
            </a:r>
            <a:r>
              <a:rPr lang="ar-SA" dirty="0"/>
              <a:t>:</a:t>
            </a:r>
            <a:endParaRPr lang="en-US" dirty="0"/>
          </a:p>
          <a:p>
            <a:pPr algn="r" rtl="1"/>
            <a:r>
              <a:rPr lang="ar-SA" dirty="0"/>
              <a:t>تستخدم رسالة </a:t>
            </a:r>
            <a:r>
              <a:rPr lang="en-US" dirty="0"/>
              <a:t>Get-Next-Request</a:t>
            </a:r>
            <a:r>
              <a:rPr lang="ar-SA" dirty="0"/>
              <a:t> للحصول على جدول  من العناصر، أو للسؤال عن عنصر محدد تالٍ في جدول البيانات. باستخدام هذه العملية، فإن المدير لا يحتاج أن يعرف اسم المتغير المطابق. حيث يتم إجراء عملية بحث متتالي لإيجاد المتغير المطلوب من قاعدة البيانات الإدارية</a:t>
            </a:r>
            <a:r>
              <a:rPr lang="en-US" dirty="0"/>
              <a:t> MIB </a:t>
            </a:r>
            <a:r>
              <a:rPr lang="ar-SA" dirty="0"/>
              <a:t>. يقوم الوكيل بالاستجابة إلي رسالة </a:t>
            </a:r>
            <a:r>
              <a:rPr lang="en-US" dirty="0"/>
              <a:t>Get-Next-Request</a:t>
            </a:r>
            <a:r>
              <a:rPr lang="ar-SA" dirty="0"/>
              <a:t> بواسطة إرسال رسالة  </a:t>
            </a:r>
            <a:r>
              <a:rPr lang="en-US" dirty="0"/>
              <a:t>Get-Response</a:t>
            </a:r>
            <a:r>
              <a:rPr lang="ar-SA" dirty="0"/>
              <a:t>.</a:t>
            </a:r>
            <a:endParaRPr lang="en-US" dirty="0"/>
          </a:p>
          <a:p>
            <a:pPr algn="r" rtl="1"/>
            <a:endParaRPr lang="en-US" dirty="0"/>
          </a:p>
        </p:txBody>
      </p:sp>
    </p:spTree>
    <p:extLst>
      <p:ext uri="{BB962C8B-B14F-4D97-AF65-F5344CB8AC3E}">
        <p14:creationId xmlns:p14="http://schemas.microsoft.com/office/powerpoint/2010/main" val="334871264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10000"/>
          </a:bodyPr>
          <a:lstStyle/>
          <a:p>
            <a:pPr algn="r" rtl="1"/>
            <a:r>
              <a:rPr lang="ar-SA" dirty="0"/>
              <a:t>● رسالة </a:t>
            </a:r>
            <a:r>
              <a:rPr lang="en-US" b="1" dirty="0"/>
              <a:t>Set-Request</a:t>
            </a:r>
            <a:r>
              <a:rPr lang="ar-SA" dirty="0"/>
              <a:t>:</a:t>
            </a:r>
            <a:endParaRPr lang="en-US" dirty="0"/>
          </a:p>
          <a:p>
            <a:pPr algn="r" rtl="1"/>
            <a:r>
              <a:rPr lang="ar-SA" dirty="0"/>
              <a:t>تسمح رسالة </a:t>
            </a:r>
            <a:r>
              <a:rPr lang="en-US" dirty="0"/>
              <a:t>Set-Request</a:t>
            </a:r>
            <a:r>
              <a:rPr lang="ar-SA" dirty="0"/>
              <a:t> بإجراء عمليات التهيئة عن بعد لمعاملات تشغيل أجهزة الشبكة. على سبيل المثال، يمكن أن تشمل رسائل </a:t>
            </a:r>
            <a:r>
              <a:rPr lang="en-US" dirty="0"/>
              <a:t>Set-Request</a:t>
            </a:r>
            <a:r>
              <a:rPr lang="ar-SA" dirty="0"/>
              <a:t> ضبط اسم الجهاز ، غلق الوحدة البينية الإدارية، أو مسح عنوان خاص </a:t>
            </a:r>
            <a:r>
              <a:rPr lang="en-US" dirty="0"/>
              <a:t>Address Resolution Table Entry</a:t>
            </a:r>
            <a:r>
              <a:rPr lang="ar-SA" dirty="0"/>
              <a:t> . في هذا المثال، يستخدم نظام إدارة الشبكة الرسائل </a:t>
            </a:r>
            <a:r>
              <a:rPr lang="en-US" dirty="0"/>
              <a:t>Get-Request</a:t>
            </a:r>
            <a:r>
              <a:rPr lang="ar-SA" dirty="0"/>
              <a:t> ، </a:t>
            </a:r>
            <a:r>
              <a:rPr lang="en-US" dirty="0"/>
              <a:t>Get-Next-Request</a:t>
            </a:r>
            <a:r>
              <a:rPr lang="ar-SA" dirty="0"/>
              <a:t> لتحديد عدد الوحدات البينية </a:t>
            </a:r>
            <a:r>
              <a:rPr lang="en-US" dirty="0"/>
              <a:t>interfaces</a:t>
            </a:r>
            <a:r>
              <a:rPr lang="ar-SA" dirty="0"/>
              <a:t> لجهاز معين. عندما يقوم النظام بفحص حالة كل وحدة بينية، فإنه يستطيع معرفة أي وحدة منها لا تعمل. بواسطة مقارنة معاملات تشغيل الجهاز مع المعاملات المخزنة في الجدول الداخلي في قاعدة المعلومات الإدارية </a:t>
            </a:r>
            <a:r>
              <a:rPr lang="en-US" dirty="0"/>
              <a:t>MIB</a:t>
            </a:r>
            <a:r>
              <a:rPr lang="ar-SA" dirty="0"/>
              <a:t>؛ فإن النظام يستطيع أن يعرف أن الوحدة البينية العاطلة عن العمل  يكون بسبب أن لها عنواناً غير صحيح. يمكن للنظام بعد ذلك استخدام رسالة </a:t>
            </a:r>
            <a:r>
              <a:rPr lang="en-US" dirty="0"/>
              <a:t>Set-Request</a:t>
            </a:r>
            <a:r>
              <a:rPr lang="ar-SA" dirty="0"/>
              <a:t> كي يغير عنوان الوحدة البينية لمحاولة إرجاعها إلى حالة التشغيل</a:t>
            </a:r>
            <a:endParaRPr lang="en-US" dirty="0"/>
          </a:p>
        </p:txBody>
      </p:sp>
    </p:spTree>
    <p:extLst>
      <p:ext uri="{BB962C8B-B14F-4D97-AF65-F5344CB8AC3E}">
        <p14:creationId xmlns:p14="http://schemas.microsoft.com/office/powerpoint/2010/main" val="406328687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lgn="r" rtl="1"/>
            <a:r>
              <a:rPr lang="ar-SA" dirty="0"/>
              <a:t>رسالة </a:t>
            </a:r>
            <a:r>
              <a:rPr lang="en-US" b="1" dirty="0"/>
              <a:t>Trap </a:t>
            </a:r>
            <a:r>
              <a:rPr lang="ar-SA" dirty="0"/>
              <a:t>:</a:t>
            </a:r>
            <a:endParaRPr lang="en-US" dirty="0"/>
          </a:p>
          <a:p>
            <a:pPr algn="r" rtl="1"/>
            <a:r>
              <a:rPr lang="ar-SA" dirty="0"/>
              <a:t> إن رسالة </a:t>
            </a:r>
            <a:r>
              <a:rPr lang="en-US" dirty="0"/>
              <a:t>SNMP Trap</a:t>
            </a:r>
            <a:r>
              <a:rPr lang="ar-SA" dirty="0"/>
              <a:t> هي رسالة تطوعية </a:t>
            </a:r>
            <a:r>
              <a:rPr lang="en-US" dirty="0"/>
              <a:t>Unsolicited</a:t>
            </a:r>
            <a:r>
              <a:rPr lang="ar-SA" dirty="0"/>
              <a:t> يقوم الوكيل بإرسالها إلى المدير، لإعلام الخادم بوقوع حدث معين. مثلا، يمكن استخدام رسالة   </a:t>
            </a:r>
            <a:r>
              <a:rPr lang="en-US" dirty="0"/>
              <a:t>Trap </a:t>
            </a:r>
            <a:r>
              <a:rPr lang="ar-SA" dirty="0"/>
              <a:t>لإعلام نظام إدارة الشبكة عن حدوث عطل في الدائرة الكهربية بالجهاز، أو أن مساحة التخزين بقرص الجهاز المتصل بالشبكة أوشك على الامتلاء، أو أن أحد المستخدمين قد تم دخوله للتو على جهاز الحاسب المضيف. ينبغي أن يتم ضبط عنوان محطة الوكيل كي يعرف مكان إرسال رسائل </a:t>
            </a:r>
            <a:r>
              <a:rPr lang="en-US" dirty="0"/>
              <a:t>traps</a:t>
            </a:r>
          </a:p>
        </p:txBody>
      </p:sp>
    </p:spTree>
    <p:extLst>
      <p:ext uri="{BB962C8B-B14F-4D97-AF65-F5344CB8AC3E}">
        <p14:creationId xmlns:p14="http://schemas.microsoft.com/office/powerpoint/2010/main" val="350835967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205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676400" y="1524000"/>
            <a:ext cx="6211836" cy="3120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ectangle 3"/>
          <p:cNvSpPr/>
          <p:nvPr/>
        </p:nvSpPr>
        <p:spPr>
          <a:xfrm>
            <a:off x="1600200" y="4953000"/>
            <a:ext cx="6172200" cy="400110"/>
          </a:xfrm>
          <a:prstGeom prst="rect">
            <a:avLst/>
          </a:prstGeom>
        </p:spPr>
        <p:txBody>
          <a:bodyPr wrap="square">
            <a:spAutoFit/>
          </a:bodyPr>
          <a:lstStyle/>
          <a:p>
            <a:pPr algn="r" rtl="1"/>
            <a:r>
              <a:rPr lang="ar-SA" sz="2000" b="1" dirty="0"/>
              <a:t>إرسال رسالة </a:t>
            </a:r>
            <a:r>
              <a:rPr lang="en-US" sz="2000" b="1" dirty="0"/>
              <a:t>trap</a:t>
            </a:r>
            <a:r>
              <a:rPr lang="ar-SA" sz="2000" b="1" dirty="0"/>
              <a:t> إلى المضيف الإداري تبين وجود عطل وصلة.</a:t>
            </a:r>
            <a:endParaRPr lang="en-US" sz="2000" dirty="0"/>
          </a:p>
        </p:txBody>
      </p:sp>
    </p:spTree>
    <p:extLst>
      <p:ext uri="{BB962C8B-B14F-4D97-AF65-F5344CB8AC3E}">
        <p14:creationId xmlns:p14="http://schemas.microsoft.com/office/powerpoint/2010/main" val="251878176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r" rtl="1"/>
            <a:r>
              <a:rPr lang="en-US" sz="3600" dirty="0" smtClean="0"/>
              <a:t> </a:t>
            </a:r>
            <a:r>
              <a:rPr lang="ar-SA" sz="3600" dirty="0"/>
              <a:t>أنواع </a:t>
            </a:r>
            <a:r>
              <a:rPr lang="ar-SA" sz="3600" dirty="0" smtClean="0"/>
              <a:t>رسائل </a:t>
            </a:r>
            <a:r>
              <a:rPr lang="en-US" sz="3600" dirty="0" smtClean="0"/>
              <a:t> SNMP Traps </a:t>
            </a:r>
            <a:r>
              <a:rPr lang="ar-SA" sz="3600" dirty="0" smtClean="0"/>
              <a:t>والوظيفة التي تؤديها كل رسالة</a:t>
            </a:r>
            <a:r>
              <a:rPr lang="ar-SA" sz="3600" dirty="0"/>
              <a:t/>
            </a:r>
            <a:br>
              <a:rPr lang="ar-SA" sz="3600" dirty="0"/>
            </a:br>
            <a:endParaRPr lang="en-US" sz="3600" dirty="0"/>
          </a:p>
        </p:txBody>
      </p:sp>
      <p:sp>
        <p:nvSpPr>
          <p:cNvPr id="4" name="Content Placeholder 3"/>
          <p:cNvSpPr>
            <a:spLocks noGrp="1"/>
          </p:cNvSpPr>
          <p:nvPr>
            <p:ph idx="1"/>
          </p:nvPr>
        </p:nvSpPr>
        <p:spPr>
          <a:xfrm>
            <a:off x="381000" y="1752600"/>
            <a:ext cx="8229600" cy="5105400"/>
          </a:xfrm>
        </p:spPr>
        <p:txBody>
          <a:bodyPr>
            <a:normAutofit/>
          </a:bodyPr>
          <a:lstStyle/>
          <a:p>
            <a:pPr algn="r" rtl="1"/>
            <a:r>
              <a:rPr lang="en-US" dirty="0"/>
              <a:t>	</a:t>
            </a:r>
            <a:r>
              <a:rPr lang="en-US" dirty="0" smtClean="0"/>
              <a:t> </a:t>
            </a:r>
            <a:r>
              <a:rPr lang="en-US" b="1" dirty="0" smtClean="0">
                <a:solidFill>
                  <a:srgbClr val="7030A0"/>
                </a:solidFill>
              </a:rPr>
              <a:t>Cold start   </a:t>
            </a:r>
            <a:r>
              <a:rPr lang="ar-SA" b="1" dirty="0" smtClean="0">
                <a:solidFill>
                  <a:srgbClr val="7030A0"/>
                </a:solidFill>
              </a:rPr>
              <a:t>التشغيل البارد</a:t>
            </a:r>
            <a:endParaRPr lang="en-US" b="1" dirty="0" smtClean="0">
              <a:solidFill>
                <a:srgbClr val="7030A0"/>
              </a:solidFill>
            </a:endParaRPr>
          </a:p>
          <a:p>
            <a:pPr marL="0" indent="0" algn="r" rtl="1">
              <a:buNone/>
            </a:pPr>
            <a:r>
              <a:rPr lang="en-US" dirty="0" smtClean="0"/>
              <a:t>  </a:t>
            </a:r>
            <a:r>
              <a:rPr lang="ar-SA" dirty="0" smtClean="0"/>
              <a:t>يتم </a:t>
            </a:r>
            <a:r>
              <a:rPr lang="ar-SA" dirty="0"/>
              <a:t>إرسالها عند بدء تشغيل الجهاز. وهي تبين أن الوكيل يرسل إشارة </a:t>
            </a:r>
            <a:r>
              <a:rPr lang="en-US" dirty="0"/>
              <a:t>trap </a:t>
            </a:r>
            <a:r>
              <a:rPr lang="ar-SA" dirty="0"/>
              <a:t>لإعادة بدء تشغيل نفسه كما في حالة التهيئة </a:t>
            </a:r>
            <a:r>
              <a:rPr lang="en-US" dirty="0"/>
              <a:t>configuration، </a:t>
            </a:r>
            <a:r>
              <a:rPr lang="ar-SA" dirty="0"/>
              <a:t>أو أن تنفيذ البروتوكول قد تغير. </a:t>
            </a:r>
          </a:p>
          <a:p>
            <a:pPr algn="r"/>
            <a:r>
              <a:rPr lang="en-US" b="1" dirty="0" smtClean="0">
                <a:solidFill>
                  <a:srgbClr val="7030A0"/>
                </a:solidFill>
              </a:rPr>
              <a:t> Warm start   </a:t>
            </a:r>
            <a:r>
              <a:rPr lang="ar-SA" b="1" dirty="0" smtClean="0">
                <a:solidFill>
                  <a:srgbClr val="7030A0"/>
                </a:solidFill>
              </a:rPr>
              <a:t>التشغيل </a:t>
            </a:r>
            <a:r>
              <a:rPr lang="ar-SA" b="1" dirty="0">
                <a:solidFill>
                  <a:srgbClr val="7030A0"/>
                </a:solidFill>
              </a:rPr>
              <a:t>الدافئ	</a:t>
            </a:r>
            <a:endParaRPr lang="en-US" b="1" dirty="0" smtClean="0">
              <a:solidFill>
                <a:srgbClr val="7030A0"/>
              </a:solidFill>
            </a:endParaRPr>
          </a:p>
          <a:p>
            <a:pPr algn="r" rtl="1"/>
            <a:r>
              <a:rPr lang="ar-SA" dirty="0" smtClean="0"/>
              <a:t>عندما </a:t>
            </a:r>
            <a:r>
              <a:rPr lang="ar-SA" dirty="0"/>
              <a:t>يقوم الوكيل </a:t>
            </a:r>
            <a:r>
              <a:rPr lang="en-US" dirty="0" err="1"/>
              <a:t>Snmp</a:t>
            </a:r>
            <a:r>
              <a:rPr lang="en-US" dirty="0"/>
              <a:t> </a:t>
            </a:r>
            <a:r>
              <a:rPr lang="ar-SA" dirty="0"/>
              <a:t>في جهاز الشبكة بعملية إعادة التشغيل </a:t>
            </a:r>
            <a:r>
              <a:rPr lang="en-US" dirty="0"/>
              <a:t>reset، </a:t>
            </a:r>
            <a:r>
              <a:rPr lang="ar-SA" dirty="0"/>
              <a:t>فإن ذلك يؤدي إلى إصدار رسالة </a:t>
            </a:r>
            <a:r>
              <a:rPr lang="en-US" dirty="0"/>
              <a:t>warm start trap، </a:t>
            </a:r>
            <a:r>
              <a:rPr lang="ar-SA" dirty="0"/>
              <a:t>ويحدث هذا عادة بسبب تدخل يدوي.</a:t>
            </a:r>
          </a:p>
          <a:p>
            <a:pPr algn="r" rtl="1"/>
            <a:r>
              <a:rPr lang="ar-SA" dirty="0"/>
              <a:t>وتبين رسالة </a:t>
            </a:r>
            <a:r>
              <a:rPr lang="en-US" dirty="0"/>
              <a:t>warm start trap </a:t>
            </a:r>
            <a:r>
              <a:rPr lang="ar-SA" dirty="0"/>
              <a:t>أن الجهاز الذي يرسل هذه الرسالة يقوم بإعادة بدء تشغيل نفسه دون تغير التهيئة، أو تغير تنفيذ البروتوكول.</a:t>
            </a:r>
          </a:p>
          <a:p>
            <a:pPr algn="r" rtl="1"/>
            <a:endParaRPr lang="ar-SA" dirty="0"/>
          </a:p>
          <a:p>
            <a:pPr algn="r" rtl="1"/>
            <a:endParaRPr lang="en-US" dirty="0"/>
          </a:p>
        </p:txBody>
      </p:sp>
    </p:spTree>
    <p:extLst>
      <p:ext uri="{BB962C8B-B14F-4D97-AF65-F5344CB8AC3E}">
        <p14:creationId xmlns:p14="http://schemas.microsoft.com/office/powerpoint/2010/main" val="200123199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lgn="r" rtl="1"/>
            <a:endParaRPr lang="ar-SA" dirty="0"/>
          </a:p>
          <a:p>
            <a:pPr algn="r" rtl="1"/>
            <a:r>
              <a:rPr lang="en-US" b="1" dirty="0">
                <a:solidFill>
                  <a:srgbClr val="7030A0"/>
                </a:solidFill>
              </a:rPr>
              <a:t>Link </a:t>
            </a:r>
            <a:r>
              <a:rPr lang="en-US" b="1" dirty="0" smtClean="0">
                <a:solidFill>
                  <a:srgbClr val="7030A0"/>
                </a:solidFill>
              </a:rPr>
              <a:t>down</a:t>
            </a:r>
            <a:r>
              <a:rPr lang="ar-SA" b="1" dirty="0" smtClean="0">
                <a:solidFill>
                  <a:srgbClr val="7030A0"/>
                </a:solidFill>
              </a:rPr>
              <a:t>الوصلة </a:t>
            </a:r>
            <a:r>
              <a:rPr lang="ar-SA" b="1" dirty="0">
                <a:solidFill>
                  <a:srgbClr val="7030A0"/>
                </a:solidFill>
              </a:rPr>
              <a:t>معطلة</a:t>
            </a:r>
            <a:r>
              <a:rPr lang="ar-SA" dirty="0"/>
              <a:t>	</a:t>
            </a:r>
            <a:endParaRPr lang="en-US" dirty="0" smtClean="0"/>
          </a:p>
          <a:p>
            <a:pPr algn="r" rtl="1"/>
            <a:r>
              <a:rPr lang="ar-SA" dirty="0" smtClean="0"/>
              <a:t>تبين </a:t>
            </a:r>
            <a:r>
              <a:rPr lang="ar-SA" dirty="0"/>
              <a:t>وقوع عطل وصلة معينة في جهاز المنبع.</a:t>
            </a:r>
          </a:p>
          <a:p>
            <a:pPr algn="r" rtl="1"/>
            <a:r>
              <a:rPr lang="ar-SA" dirty="0"/>
              <a:t>	تبين إتمام إصلاح وصلة معينة في جهاز المنبع.</a:t>
            </a:r>
          </a:p>
          <a:p>
            <a:pPr algn="r"/>
            <a:r>
              <a:rPr lang="en-US" b="1" dirty="0">
                <a:solidFill>
                  <a:srgbClr val="7030A0"/>
                </a:solidFill>
              </a:rPr>
              <a:t>Authentication </a:t>
            </a:r>
            <a:r>
              <a:rPr lang="en-US" b="1" dirty="0" smtClean="0">
                <a:solidFill>
                  <a:srgbClr val="7030A0"/>
                </a:solidFill>
              </a:rPr>
              <a:t>failure (</a:t>
            </a:r>
            <a:r>
              <a:rPr lang="ar-SA" b="1" dirty="0">
                <a:solidFill>
                  <a:srgbClr val="7030A0"/>
                </a:solidFill>
              </a:rPr>
              <a:t>عطل توثيق</a:t>
            </a:r>
            <a:r>
              <a:rPr lang="en-US" dirty="0" smtClean="0"/>
              <a:t>)</a:t>
            </a:r>
            <a:endParaRPr lang="en-US" dirty="0"/>
          </a:p>
          <a:p>
            <a:pPr algn="r" rtl="1"/>
            <a:r>
              <a:rPr lang="ar-SA" dirty="0"/>
              <a:t>	يتم إرسالها إلى نظام إدارة الشبكة، عندما يقوم الوكيل </a:t>
            </a:r>
            <a:r>
              <a:rPr lang="en-US" dirty="0"/>
              <a:t>SNMP </a:t>
            </a:r>
            <a:r>
              <a:rPr lang="ar-SA" dirty="0"/>
              <a:t>بالتحقق من أن طلب الرجاء </a:t>
            </a:r>
            <a:r>
              <a:rPr lang="en-US" dirty="0"/>
              <a:t>request </a:t>
            </a:r>
            <a:r>
              <a:rPr lang="ar-SA" dirty="0"/>
              <a:t>ليس به توثيق صحيح.</a:t>
            </a:r>
          </a:p>
          <a:p>
            <a:pPr algn="r" rtl="1"/>
            <a:r>
              <a:rPr lang="ar-SA" dirty="0"/>
              <a:t>مثال: إذا قام الوكيل بإرسال رسالة بها خطأ في الشكل </a:t>
            </a:r>
            <a:r>
              <a:rPr lang="en-US" dirty="0"/>
              <a:t>string، </a:t>
            </a:r>
            <a:r>
              <a:rPr lang="ar-SA" dirty="0"/>
              <a:t>يمكن لهذه المعلومات أن تطلب تنفيذ إدارة الأمن </a:t>
            </a:r>
            <a:r>
              <a:rPr lang="en-US" dirty="0"/>
              <a:t>security management.</a:t>
            </a:r>
          </a:p>
          <a:p>
            <a:pPr algn="r" rtl="1"/>
            <a:endParaRPr lang="ar-SA" dirty="0"/>
          </a:p>
          <a:p>
            <a:endParaRPr lang="en-US" dirty="0"/>
          </a:p>
        </p:txBody>
      </p:sp>
    </p:spTree>
    <p:extLst>
      <p:ext uri="{BB962C8B-B14F-4D97-AF65-F5344CB8AC3E}">
        <p14:creationId xmlns:p14="http://schemas.microsoft.com/office/powerpoint/2010/main" val="398606722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85000" lnSpcReduction="10000"/>
          </a:bodyPr>
          <a:lstStyle/>
          <a:p>
            <a:pPr algn="r" rtl="1"/>
            <a:r>
              <a:rPr lang="en-US" b="1" dirty="0" smtClean="0">
                <a:solidFill>
                  <a:srgbClr val="7030A0"/>
                </a:solidFill>
              </a:rPr>
              <a:t>EGP </a:t>
            </a:r>
            <a:r>
              <a:rPr lang="en-US" b="1" dirty="0">
                <a:solidFill>
                  <a:srgbClr val="7030A0"/>
                </a:solidFill>
              </a:rPr>
              <a:t>neighbor </a:t>
            </a:r>
            <a:r>
              <a:rPr lang="en-US" b="1" dirty="0" smtClean="0">
                <a:solidFill>
                  <a:srgbClr val="7030A0"/>
                </a:solidFill>
              </a:rPr>
              <a:t>loss</a:t>
            </a:r>
            <a:r>
              <a:rPr lang="ar-SA" b="1" dirty="0" smtClean="0">
                <a:solidFill>
                  <a:srgbClr val="7030A0"/>
                </a:solidFill>
              </a:rPr>
              <a:t>فقد </a:t>
            </a:r>
            <a:r>
              <a:rPr lang="ar-SA" b="1" dirty="0">
                <a:solidFill>
                  <a:srgbClr val="7030A0"/>
                </a:solidFill>
              </a:rPr>
              <a:t>برتوكول مجاور</a:t>
            </a:r>
            <a:r>
              <a:rPr lang="ar-SA" dirty="0"/>
              <a:t>	</a:t>
            </a:r>
            <a:endParaRPr lang="en-US" dirty="0" smtClean="0"/>
          </a:p>
          <a:p>
            <a:pPr algn="r" rtl="1"/>
            <a:endParaRPr lang="en-US" dirty="0" smtClean="0"/>
          </a:p>
          <a:p>
            <a:pPr marL="0" indent="0" algn="r" rtl="1">
              <a:buNone/>
            </a:pPr>
            <a:r>
              <a:rPr lang="ar-SA" dirty="0" smtClean="0"/>
              <a:t>تستخدم </a:t>
            </a:r>
            <a:r>
              <a:rPr lang="ar-SA" dirty="0"/>
              <a:t>بواسطة الوكيل </a:t>
            </a:r>
            <a:r>
              <a:rPr lang="en-US" dirty="0"/>
              <a:t>SNMP  </a:t>
            </a:r>
            <a:r>
              <a:rPr lang="ar-SA" dirty="0"/>
              <a:t>لتدوين فقدان في </a:t>
            </a:r>
            <a:r>
              <a:rPr lang="en-US" dirty="0"/>
              <a:t>EGP neighbor . </a:t>
            </a:r>
          </a:p>
          <a:p>
            <a:pPr marL="0" indent="0" algn="r" rtl="1">
              <a:buNone/>
            </a:pPr>
            <a:r>
              <a:rPr lang="ar-SA" dirty="0"/>
              <a:t>يستخدم البروتوكول </a:t>
            </a:r>
            <a:r>
              <a:rPr lang="en-US" dirty="0"/>
              <a:t>EGP</a:t>
            </a:r>
            <a:r>
              <a:rPr lang="ar-SA" dirty="0"/>
              <a:t>بين شبكات البيانات.  سيتم شرحه فيما </a:t>
            </a:r>
            <a:r>
              <a:rPr lang="ar-SA" dirty="0" smtClean="0"/>
              <a:t>بعد</a:t>
            </a:r>
            <a:endParaRPr lang="en-US" dirty="0" smtClean="0"/>
          </a:p>
          <a:p>
            <a:pPr marL="0" indent="0" algn="r" rtl="1">
              <a:buNone/>
            </a:pPr>
            <a:endParaRPr lang="ar-SA" b="1" dirty="0">
              <a:solidFill>
                <a:srgbClr val="7030A0"/>
              </a:solidFill>
            </a:endParaRPr>
          </a:p>
          <a:p>
            <a:pPr algn="r" rtl="1"/>
            <a:r>
              <a:rPr lang="en-US" b="1" dirty="0">
                <a:solidFill>
                  <a:srgbClr val="7030A0"/>
                </a:solidFill>
              </a:rPr>
              <a:t>Enterprise </a:t>
            </a:r>
            <a:r>
              <a:rPr lang="en-US" b="1" dirty="0" smtClean="0">
                <a:solidFill>
                  <a:srgbClr val="7030A0"/>
                </a:solidFill>
              </a:rPr>
              <a:t>specific </a:t>
            </a:r>
            <a:r>
              <a:rPr lang="ar-SA" b="1" dirty="0" smtClean="0">
                <a:solidFill>
                  <a:srgbClr val="7030A0"/>
                </a:solidFill>
              </a:rPr>
              <a:t>تحديد </a:t>
            </a:r>
            <a:r>
              <a:rPr lang="ar-SA" b="1" dirty="0">
                <a:solidFill>
                  <a:srgbClr val="7030A0"/>
                </a:solidFill>
              </a:rPr>
              <a:t>مؤسسة	</a:t>
            </a:r>
            <a:endParaRPr lang="en-US" b="1" dirty="0" smtClean="0">
              <a:solidFill>
                <a:srgbClr val="7030A0"/>
              </a:solidFill>
            </a:endParaRPr>
          </a:p>
          <a:p>
            <a:pPr marL="0" indent="0" algn="r" rtl="1">
              <a:buNone/>
            </a:pPr>
            <a:endParaRPr lang="en-US" dirty="0" smtClean="0"/>
          </a:p>
          <a:p>
            <a:pPr marL="0" indent="0" algn="r" rtl="1">
              <a:buNone/>
            </a:pPr>
            <a:r>
              <a:rPr lang="ar-SA" dirty="0" smtClean="0"/>
              <a:t>هي </a:t>
            </a:r>
            <a:r>
              <a:rPr lang="ar-SA" dirty="0"/>
              <a:t>رسالة يتم بناؤها بواسطة المصنع لتوفير وظائف إضافية عمومية.</a:t>
            </a:r>
          </a:p>
          <a:p>
            <a:pPr algn="r" rtl="1"/>
            <a:r>
              <a:rPr lang="ar-SA" dirty="0"/>
              <a:t>وذلك لتبيان معدلات الاستخدام </a:t>
            </a:r>
            <a:r>
              <a:rPr lang="en-US" dirty="0"/>
              <a:t>outnumbers  </a:t>
            </a:r>
            <a:r>
              <a:rPr lang="ar-SA" dirty="0"/>
              <a:t>بقيم متعددة. مثل: استخدامات القرص في محطة العمل، العدد الأكبر للمستخدمين، الحمل العالي للمعالج، وهكذا. تستطيع أجهزة الشبكة المختلفة إرسال </a:t>
            </a:r>
            <a:r>
              <a:rPr lang="en-US" dirty="0"/>
              <a:t>traps </a:t>
            </a:r>
            <a:r>
              <a:rPr lang="ar-SA" dirty="0"/>
              <a:t>بناء على المعدل العالي للاستخدام </a:t>
            </a:r>
            <a:r>
              <a:rPr lang="en-US" dirty="0"/>
              <a:t>utilization، </a:t>
            </a:r>
            <a:r>
              <a:rPr lang="ar-SA" dirty="0"/>
              <a:t>معدلات الخطأ الموجودة بوصلات الشبكة، أو أعطال منبع القدرة الزائد. </a:t>
            </a:r>
          </a:p>
          <a:p>
            <a:pPr algn="r" rtl="1"/>
            <a:endParaRPr lang="en-US" dirty="0"/>
          </a:p>
        </p:txBody>
      </p:sp>
    </p:spTree>
    <p:extLst>
      <p:ext uri="{BB962C8B-B14F-4D97-AF65-F5344CB8AC3E}">
        <p14:creationId xmlns:p14="http://schemas.microsoft.com/office/powerpoint/2010/main" val="116896546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r" rtl="1"/>
            <a:r>
              <a:rPr lang="ar-SA" b="1" dirty="0"/>
              <a:t>بعض مشاكل البروتوكول </a:t>
            </a:r>
            <a:r>
              <a:rPr lang="ar-SA" b="1" dirty="0" smtClean="0"/>
              <a:t>“</a:t>
            </a:r>
            <a:r>
              <a:rPr lang="en-US" b="1" dirty="0" smtClean="0"/>
              <a:t>SNMPv1</a:t>
            </a:r>
            <a:r>
              <a:rPr lang="ar-SA" b="1" dirty="0" smtClean="0"/>
              <a:t>" </a:t>
            </a:r>
            <a:r>
              <a:rPr lang="en-US" dirty="0"/>
              <a:t/>
            </a:r>
            <a:br>
              <a:rPr lang="en-US" dirty="0"/>
            </a:br>
            <a:endParaRPr lang="en-US" dirty="0"/>
          </a:p>
        </p:txBody>
      </p:sp>
      <p:sp>
        <p:nvSpPr>
          <p:cNvPr id="3" name="Content Placeholder 2"/>
          <p:cNvSpPr>
            <a:spLocks noGrp="1"/>
          </p:cNvSpPr>
          <p:nvPr>
            <p:ph idx="1"/>
          </p:nvPr>
        </p:nvSpPr>
        <p:spPr/>
        <p:txBody>
          <a:bodyPr/>
          <a:lstStyle/>
          <a:p>
            <a:pPr algn="r" rtl="1"/>
            <a:r>
              <a:rPr lang="ar-SA" dirty="0" smtClean="0"/>
              <a:t>على </a:t>
            </a:r>
            <a:r>
              <a:rPr lang="ar-SA" dirty="0"/>
              <a:t>الرغم من كفاءة البروتوكول </a:t>
            </a:r>
            <a:r>
              <a:rPr lang="ar-SA" dirty="0" smtClean="0"/>
              <a:t>في </a:t>
            </a:r>
            <a:r>
              <a:rPr lang="ar-SA" dirty="0"/>
              <a:t>إدارة الشبكة، لكن يوجد به ثلاث مشاكل هي:</a:t>
            </a:r>
            <a:endParaRPr lang="en-US" dirty="0"/>
          </a:p>
          <a:p>
            <a:pPr algn="r" rtl="1"/>
            <a:r>
              <a:rPr lang="ar-SA" dirty="0"/>
              <a:t>-  بروتوكول قياسي للاستخدام، فقط لشبكات </a:t>
            </a:r>
            <a:r>
              <a:rPr lang="en-US" dirty="0"/>
              <a:t>IP</a:t>
            </a:r>
            <a:r>
              <a:rPr lang="ar-SA" dirty="0"/>
              <a:t>. </a:t>
            </a:r>
            <a:endParaRPr lang="en-US" dirty="0"/>
          </a:p>
          <a:p>
            <a:pPr algn="r" rtl="1"/>
            <a:r>
              <a:rPr lang="ar-SA" dirty="0"/>
              <a:t>-  غير كفء في حالة استرجاع المعلومات من الجداول الكبيرة.</a:t>
            </a:r>
            <a:endParaRPr lang="en-US" dirty="0"/>
          </a:p>
          <a:p>
            <a:pPr algn="r" rtl="1"/>
            <a:r>
              <a:rPr lang="ar-SA" dirty="0"/>
              <a:t>-  يستخدم كلمات نصية واضحة للأمن، مما يجعلها نسبيا غير آمنة.</a:t>
            </a:r>
            <a:endParaRPr lang="en-US" dirty="0"/>
          </a:p>
        </p:txBody>
      </p:sp>
    </p:spTree>
    <p:extLst>
      <p:ext uri="{BB962C8B-B14F-4D97-AF65-F5344CB8AC3E}">
        <p14:creationId xmlns:p14="http://schemas.microsoft.com/office/powerpoint/2010/main" val="99484429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r" rtl="1"/>
            <a:r>
              <a:rPr lang="ar-SA" b="1" dirty="0"/>
              <a:t> بعض مشاكل البروتوكول </a:t>
            </a:r>
            <a:r>
              <a:rPr lang="ar-SA" b="1" dirty="0" smtClean="0"/>
              <a:t>“</a:t>
            </a:r>
            <a:r>
              <a:rPr lang="en-US" b="1" dirty="0" smtClean="0"/>
              <a:t>SNMPv1</a:t>
            </a:r>
            <a:r>
              <a:rPr lang="ar-SA" b="1" dirty="0" smtClean="0"/>
              <a:t>" </a:t>
            </a:r>
            <a:endParaRPr lang="en-US" dirty="0"/>
          </a:p>
        </p:txBody>
      </p:sp>
      <p:sp>
        <p:nvSpPr>
          <p:cNvPr id="3" name="Content Placeholder 2"/>
          <p:cNvSpPr>
            <a:spLocks noGrp="1"/>
          </p:cNvSpPr>
          <p:nvPr>
            <p:ph idx="1"/>
          </p:nvPr>
        </p:nvSpPr>
        <p:spPr/>
        <p:txBody>
          <a:bodyPr/>
          <a:lstStyle/>
          <a:p>
            <a:pPr marL="0" indent="0" algn="r" rtl="1">
              <a:buNone/>
            </a:pPr>
            <a:endParaRPr lang="en-US" dirty="0"/>
          </a:p>
          <a:p>
            <a:pPr algn="r" rtl="1"/>
            <a:r>
              <a:rPr lang="ar-SA" dirty="0"/>
              <a:t>على الرغم من كفاءة البروتوكول </a:t>
            </a:r>
            <a:r>
              <a:rPr lang="ar-SA" dirty="0" smtClean="0"/>
              <a:t>"</a:t>
            </a:r>
            <a:r>
              <a:rPr lang="en-US" b="1" dirty="0"/>
              <a:t> SNMPv1 </a:t>
            </a:r>
            <a:r>
              <a:rPr lang="ar-SA" dirty="0" smtClean="0"/>
              <a:t>" </a:t>
            </a:r>
            <a:r>
              <a:rPr lang="ar-SA" dirty="0"/>
              <a:t>في إدارة الشبكة، لكن يوجد به ثلاث مشاكل هي:</a:t>
            </a:r>
            <a:endParaRPr lang="en-US" dirty="0"/>
          </a:p>
          <a:p>
            <a:pPr algn="r" rtl="1"/>
            <a:r>
              <a:rPr lang="ar-SA" dirty="0"/>
              <a:t>-  بروتوكول قياسي للاستخدام، فقط لشبكات </a:t>
            </a:r>
            <a:r>
              <a:rPr lang="en-US" dirty="0"/>
              <a:t>IP</a:t>
            </a:r>
            <a:r>
              <a:rPr lang="ar-SA" dirty="0"/>
              <a:t>. </a:t>
            </a:r>
            <a:endParaRPr lang="en-US" dirty="0"/>
          </a:p>
          <a:p>
            <a:pPr algn="r" rtl="1"/>
            <a:r>
              <a:rPr lang="ar-SA" dirty="0"/>
              <a:t>-  غير كفء في حالة استرجاع المعلومات من الجداول الكبيرة.</a:t>
            </a:r>
            <a:endParaRPr lang="en-US" dirty="0"/>
          </a:p>
          <a:p>
            <a:pPr algn="r" rtl="1"/>
            <a:r>
              <a:rPr lang="ar-SA" dirty="0"/>
              <a:t>-  يستخدم كلمات نصية واضحة للأمن، مما يجعلها نسبيا غير آمنة.</a:t>
            </a:r>
            <a:endParaRPr lang="en-US" dirty="0"/>
          </a:p>
          <a:p>
            <a:pPr algn="r"/>
            <a:endParaRPr lang="en-US" dirty="0"/>
          </a:p>
        </p:txBody>
      </p:sp>
      <p:pic>
        <p:nvPicPr>
          <p:cNvPr id="4" name="Picture 4" descr="C:\Users\mawada\Downloads\2.png"/>
          <p:cNvPicPr>
            <a:picLocks noChangeAspect="1" noChangeArrowheads="1"/>
          </p:cNvPicPr>
          <p:nvPr/>
        </p:nvPicPr>
        <p:blipFill>
          <a:blip r:embed="rId2"/>
          <a:srcRect/>
          <a:stretch>
            <a:fillRect/>
          </a:stretch>
        </p:blipFill>
        <p:spPr bwMode="auto">
          <a:xfrm>
            <a:off x="0" y="-55419"/>
            <a:ext cx="9144000" cy="6324600"/>
          </a:xfrm>
          <a:prstGeom prst="rect">
            <a:avLst/>
          </a:prstGeom>
          <a:noFill/>
        </p:spPr>
      </p:pic>
    </p:spTree>
    <p:extLst>
      <p:ext uri="{BB962C8B-B14F-4D97-AF65-F5344CB8AC3E}">
        <p14:creationId xmlns:p14="http://schemas.microsoft.com/office/powerpoint/2010/main" val="1339420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Civic">
      <a:dk1>
        <a:sysClr val="windowText" lastClr="000000"/>
      </a:dk1>
      <a:lt1>
        <a:sysClr val="window" lastClr="FFFFFF"/>
      </a:lt1>
      <a:dk2>
        <a:srgbClr val="646B86"/>
      </a:dk2>
      <a:lt2>
        <a:srgbClr val="C5D1D7"/>
      </a:lt2>
      <a:accent1>
        <a:srgbClr val="D16349"/>
      </a:accent1>
      <a:accent2>
        <a:srgbClr val="CCB400"/>
      </a:accent2>
      <a:accent3>
        <a:srgbClr val="8CADAE"/>
      </a:accent3>
      <a:accent4>
        <a:srgbClr val="8C7B70"/>
      </a:accent4>
      <a:accent5>
        <a:srgbClr val="8FB08C"/>
      </a:accent5>
      <a:accent6>
        <a:srgbClr val="D19049"/>
      </a:accent6>
      <a:hlink>
        <a:srgbClr val="00A3D6"/>
      </a:hlink>
      <a:folHlink>
        <a:srgbClr val="694F07"/>
      </a:folHlink>
    </a:clrScheme>
    <a:fontScheme name="Custom 1">
      <a:majorFont>
        <a:latin typeface="Times New Roman"/>
        <a:ea typeface=""/>
        <a:cs typeface=""/>
      </a:majorFont>
      <a:minorFont>
        <a:latin typeface="Times New Roman"/>
        <a:ea typeface=""/>
        <a:cs typeface=""/>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alpha val="48000"/>
                <a:satMod val="105000"/>
              </a:schemeClr>
            </a:outerShdw>
          </a:effectLst>
        </a:effectStyle>
        <a:effectStyle>
          <a:effectLst>
            <a:outerShdw blurRad="57150" dist="38100" dir="5400000" algn="ctr" rotWithShape="0">
              <a:schemeClr val="phClr">
                <a:shade val="9000"/>
                <a:alpha val="48000"/>
                <a:satMod val="105000"/>
              </a:schemeClr>
            </a:outerShdw>
          </a:effectLst>
        </a:effectStyle>
        <a:effectStyle>
          <a:effectLst>
            <a:outerShdw blurRad="57150" dist="38100" dir="5400000" algn="ctr" rotWithShape="0">
              <a:schemeClr val="phClr">
                <a:shade val="9000"/>
                <a:alpha val="48000"/>
                <a:satMod val="105000"/>
              </a:schemeClr>
            </a:outerShdw>
          </a:effectLst>
          <a:scene3d>
            <a:camera prst="orthographicFront">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Flow</Template>
  <TotalTime>437</TotalTime>
  <Words>1780</Words>
  <Application>Microsoft Office PowerPoint</Application>
  <PresentationFormat>On-screen Show (4:3)</PresentationFormat>
  <Paragraphs>130</Paragraphs>
  <Slides>34</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34</vt:i4>
      </vt:variant>
    </vt:vector>
  </HeadingPairs>
  <TitlesOfParts>
    <vt:vector size="37" baseType="lpstr">
      <vt:lpstr>Times New Roman</vt:lpstr>
      <vt:lpstr>Wingdings 2</vt:lpstr>
      <vt:lpstr>Flow</vt:lpstr>
      <vt:lpstr>إدارة وإستخدام الشبكات </vt:lpstr>
      <vt:lpstr>اهداف الوحدة : </vt:lpstr>
      <vt:lpstr>المحتويات :</vt:lpstr>
      <vt:lpstr>المحتويات:</vt:lpstr>
      <vt:lpstr>نبذة تاريخية عن أساليب تجميع البيانات اللازمة لإدارة الشبكة  </vt:lpstr>
      <vt:lpstr>PowerPoint Presentation</vt:lpstr>
      <vt:lpstr>PowerPoint Presentation</vt:lpstr>
      <vt:lpstr>PowerPoint Presentation</vt:lpstr>
      <vt:lpstr>PowerPoint Presentation</vt:lpstr>
      <vt:lpstr>بروتوكول الإنترنت Internet Protocol</vt:lpstr>
      <vt:lpstr>استخدام الأمر Ping </vt:lpstr>
      <vt:lpstr>PowerPoint Presentation</vt:lpstr>
      <vt:lpstr> بروتوكول الإنترنت Internet Protocol</vt:lpstr>
      <vt:lpstr>تطوير البروتوكولات القياسية لإدارة الشبكات </vt:lpstr>
      <vt:lpstr>PowerPoint Presentation</vt:lpstr>
      <vt:lpstr>بروتوكول إدارة الشبكة البسيط (الإصدار الأول SNMPv1) </vt:lpstr>
      <vt:lpstr>PowerPoint Presentation</vt:lpstr>
      <vt:lpstr>طريقة عمل نموذج "المدير/الوكيل" </vt:lpstr>
      <vt:lpstr>PowerPoint Presentation</vt:lpstr>
      <vt:lpstr>PowerPoint Presentation</vt:lpstr>
      <vt:lpstr>أنواع الرسائل والحصول على المعلومات وضبطها </vt:lpstr>
      <vt:lpstr>PowerPoint Presentation</vt:lpstr>
      <vt:lpstr>PowerPoint Presentation</vt:lpstr>
      <vt:lpstr>PowerPoint Presentation</vt:lpstr>
      <vt:lpstr>استخدامات الرسائل القياسية لبروتوكول “SNMPv1" </vt:lpstr>
      <vt:lpstr>PowerPoint Presentation</vt:lpstr>
      <vt:lpstr>PowerPoint Presentation</vt:lpstr>
      <vt:lpstr>PowerPoint Presentation</vt:lpstr>
      <vt:lpstr>PowerPoint Presentation</vt:lpstr>
      <vt:lpstr> أنواع رسائل  SNMP Traps والوظيفة التي تؤديها كل رسالة </vt:lpstr>
      <vt:lpstr>PowerPoint Presentation</vt:lpstr>
      <vt:lpstr>PowerPoint Presentation</vt:lpstr>
      <vt:lpstr>بعض مشاكل البروتوكول “SNMPv1"  </vt:lpstr>
      <vt:lpstr> بعض مشاكل البروتوكول “SNMPv1"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mawadaadam@gmail.com</dc:creator>
  <cp:lastModifiedBy>hp</cp:lastModifiedBy>
  <cp:revision>24</cp:revision>
  <dcterms:created xsi:type="dcterms:W3CDTF">2022-06-25T16:03:02Z</dcterms:created>
  <dcterms:modified xsi:type="dcterms:W3CDTF">2024-07-08T13:08:18Z</dcterms:modified>
</cp:coreProperties>
</file>