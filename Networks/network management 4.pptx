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8" r:id="rId1"/>
  </p:sldMasterIdLst>
  <p:sldIdLst>
    <p:sldId id="256" r:id="rId2"/>
    <p:sldId id="266" r:id="rId3"/>
    <p:sldId id="280" r:id="rId4"/>
    <p:sldId id="292"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2" r:id="rId34"/>
    <p:sldId id="291"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3598E33-A2AB-4C76-A064-386F6B304DF9}" type="datetimeFigureOut">
              <a:rPr lang="en-US" smtClean="0"/>
              <a:t>7/25/2022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3598E33-A2AB-4C76-A064-386F6B304DF9}" type="datetimeFigureOut">
              <a:rPr lang="en-US" smtClean="0"/>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7/25/2022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3598E33-A2AB-4C76-A064-386F6B304DF9}" type="datetimeFigureOut">
              <a:rPr lang="en-US" smtClean="0"/>
              <a:t>7/25/2022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3598E33-A2AB-4C76-A064-386F6B304DF9}" type="datetimeFigureOut">
              <a:rPr lang="en-US" smtClean="0"/>
              <a:t>7/25/2022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598E33-A2AB-4C76-A064-386F6B304DF9}" type="datetimeFigureOut">
              <a:rPr lang="en-US" smtClean="0"/>
              <a:t>7/25/2022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3598E33-A2AB-4C76-A064-386F6B304DF9}" type="datetimeFigureOut">
              <a:rPr lang="en-US" smtClean="0"/>
              <a:t>7/25/2022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3598E33-A2AB-4C76-A064-386F6B304DF9}" type="datetimeFigureOut">
              <a:rPr lang="en-US" smtClean="0"/>
              <a:t>7/25/2022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B053F1B-4C28-4940-9DBE-82A684CF08F7}"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3598E33-A2AB-4C76-A064-386F6B304DF9}" type="datetimeFigureOut">
              <a:rPr lang="en-US" smtClean="0"/>
              <a:t>7/25/2022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053F1B-4C28-4940-9DBE-82A684CF08F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3598E33-A2AB-4C76-A064-386F6B304DF9}" type="datetimeFigureOut">
              <a:rPr lang="en-US" smtClean="0"/>
              <a:t>7/25/2022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053F1B-4C28-4940-9DBE-82A684CF08F7}"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6.emf"/></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ar-SA" dirty="0" smtClean="0"/>
              <a:t>إدارة وإستخدام الشبكات </a:t>
            </a:r>
            <a:endParaRPr lang="en-US" dirty="0"/>
          </a:p>
        </p:txBody>
      </p:sp>
      <p:sp>
        <p:nvSpPr>
          <p:cNvPr id="3" name="Subtitle 2"/>
          <p:cNvSpPr>
            <a:spLocks noGrp="1"/>
          </p:cNvSpPr>
          <p:nvPr>
            <p:ph type="subTitle" idx="1"/>
          </p:nvPr>
        </p:nvSpPr>
        <p:spPr>
          <a:xfrm>
            <a:off x="457200" y="3733800"/>
            <a:ext cx="7854696" cy="2590800"/>
          </a:xfrm>
        </p:spPr>
        <p:txBody>
          <a:bodyPr>
            <a:normAutofit fontScale="92500" lnSpcReduction="10000"/>
          </a:bodyPr>
          <a:lstStyle/>
          <a:p>
            <a:pPr algn="ctr" rtl="1"/>
            <a:r>
              <a:rPr lang="ar-SA" b="1" dirty="0"/>
              <a:t> بروتوكول ادارة الشبكات البسيط (الاصدار الثالث)</a:t>
            </a:r>
          </a:p>
          <a:p>
            <a:pPr algn="ctr" rtl="1"/>
            <a:r>
              <a:rPr lang="ar-SA" b="1" dirty="0"/>
              <a:t>نموذج تحكم الوصول لرؤية المعلومات </a:t>
            </a:r>
            <a:r>
              <a:rPr lang="en-US" b="1" dirty="0"/>
              <a:t>VACM</a:t>
            </a:r>
            <a:endParaRPr lang="ar-SA" dirty="0" smtClean="0"/>
          </a:p>
          <a:p>
            <a:pPr algn="ctr" rtl="1"/>
            <a:r>
              <a:rPr lang="ar-SA" dirty="0" smtClean="0"/>
              <a:t>محاضرة رقم (4)</a:t>
            </a:r>
          </a:p>
          <a:p>
            <a:pPr algn="ctr" rtl="1"/>
            <a:endParaRPr lang="ar-SA" dirty="0" smtClean="0"/>
          </a:p>
          <a:p>
            <a:pPr algn="ctr" rtl="1"/>
            <a:r>
              <a:rPr lang="ar-SA" dirty="0" smtClean="0"/>
              <a:t>					اعداد :</a:t>
            </a:r>
          </a:p>
          <a:p>
            <a:pPr algn="l" rtl="1"/>
            <a:r>
              <a:rPr lang="ar-SA" dirty="0" smtClean="0"/>
              <a:t>أ . مودة ادم محمد</a:t>
            </a:r>
            <a:endParaRPr lang="en-US" dirty="0"/>
          </a:p>
        </p:txBody>
      </p:sp>
    </p:spTree>
    <p:extLst>
      <p:ext uri="{BB962C8B-B14F-4D97-AF65-F5344CB8AC3E}">
        <p14:creationId xmlns:p14="http://schemas.microsoft.com/office/powerpoint/2010/main" val="30192309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rmAutofit/>
          </a:bodyPr>
          <a:lstStyle/>
          <a:p>
            <a:pPr algn="r" rtl="1"/>
            <a:r>
              <a:rPr lang="ar-SA" dirty="0" smtClean="0"/>
              <a:t>أهداف الوحدة </a:t>
            </a:r>
            <a:endParaRPr lang="en-US" dirty="0"/>
          </a:p>
        </p:txBody>
      </p:sp>
      <p:sp>
        <p:nvSpPr>
          <p:cNvPr id="3" name="Content Placeholder 2"/>
          <p:cNvSpPr>
            <a:spLocks noGrp="1"/>
          </p:cNvSpPr>
          <p:nvPr>
            <p:ph idx="1"/>
          </p:nvPr>
        </p:nvSpPr>
        <p:spPr>
          <a:xfrm>
            <a:off x="381000" y="1752600"/>
            <a:ext cx="8229600" cy="4953000"/>
          </a:xfrm>
        </p:spPr>
        <p:txBody>
          <a:bodyPr>
            <a:normAutofit lnSpcReduction="10000"/>
          </a:bodyPr>
          <a:lstStyle/>
          <a:p>
            <a:pPr algn="r" rtl="1" fontAlgn="t"/>
            <a:r>
              <a:rPr lang="ar-SA" b="1" dirty="0"/>
              <a:t>.  نموذج تحكم الوصول لرؤية المعلومات </a:t>
            </a:r>
            <a:r>
              <a:rPr lang="en-US" b="1" dirty="0" smtClean="0"/>
              <a:t>VACM</a:t>
            </a:r>
          </a:p>
          <a:p>
            <a:pPr algn="r" rtl="1" fontAlgn="t"/>
            <a:r>
              <a:rPr lang="ar-SA" sz="2800" b="1" dirty="0" smtClean="0"/>
              <a:t>مخزن </a:t>
            </a:r>
            <a:r>
              <a:rPr lang="ar-SA" sz="2800" b="1" dirty="0"/>
              <a:t>البيانات المهيأ محليا</a:t>
            </a:r>
            <a:r>
              <a:rPr lang="en-US" sz="2800" dirty="0"/>
              <a:t/>
            </a:r>
            <a:br>
              <a:rPr lang="en-US" sz="2800" dirty="0"/>
            </a:br>
            <a:r>
              <a:rPr lang="en-US" sz="2800" b="1" dirty="0"/>
              <a:t>Local Configuration Data-store (</a:t>
            </a:r>
            <a:r>
              <a:rPr lang="en-US" sz="2800" b="1" dirty="0" smtClean="0"/>
              <a:t>LCD)  </a:t>
            </a:r>
          </a:p>
          <a:p>
            <a:pPr algn="r" rtl="1" fontAlgn="t"/>
            <a:r>
              <a:rPr lang="ar-SA" sz="2800" b="1" dirty="0" smtClean="0"/>
              <a:t>العناصر </a:t>
            </a:r>
            <a:r>
              <a:rPr lang="ar-SA" sz="2800" b="1" dirty="0"/>
              <a:t>المكونة لنموذج </a:t>
            </a:r>
            <a:r>
              <a:rPr lang="en-US" sz="2800" b="1" dirty="0" smtClean="0"/>
              <a:t>VACM</a:t>
            </a:r>
            <a:endParaRPr lang="en-US" sz="2800" dirty="0" smtClean="0"/>
          </a:p>
          <a:p>
            <a:pPr algn="r" rtl="1" fontAlgn="t"/>
            <a:r>
              <a:rPr lang="ar-SA" sz="2800" b="1" dirty="0"/>
              <a:t>معالجة تحكم الدخول </a:t>
            </a:r>
            <a:r>
              <a:rPr lang="en-US" sz="2800" dirty="0"/>
              <a:t/>
            </a:r>
            <a:br>
              <a:rPr lang="en-US" sz="2800" dirty="0"/>
            </a:br>
            <a:r>
              <a:rPr lang="en-US" sz="2800" b="1" dirty="0"/>
              <a:t>Access Control </a:t>
            </a:r>
            <a:r>
              <a:rPr lang="en-US" sz="2800" b="1" dirty="0" smtClean="0"/>
              <a:t>Processing </a:t>
            </a:r>
          </a:p>
          <a:p>
            <a:pPr algn="r" rtl="1" fontAlgn="t"/>
            <a:r>
              <a:rPr lang="ar-SA" sz="2800" b="1" dirty="0"/>
              <a:t>العمليات المنطقية في نموذج </a:t>
            </a:r>
            <a:r>
              <a:rPr lang="ar-SA" sz="2800" b="1" dirty="0" smtClean="0"/>
              <a:t>"</a:t>
            </a:r>
            <a:r>
              <a:rPr lang="en-US" sz="2800" b="1" dirty="0" smtClean="0"/>
              <a:t>VACM</a:t>
            </a:r>
            <a:r>
              <a:rPr lang="ar-SA" sz="2800" b="1" dirty="0" smtClean="0"/>
              <a:t>“</a:t>
            </a:r>
            <a:r>
              <a:rPr lang="en-US" sz="2800" b="1" dirty="0" smtClean="0"/>
              <a:t> </a:t>
            </a:r>
          </a:p>
          <a:p>
            <a:pPr algn="r" rtl="1" fontAlgn="t"/>
            <a:r>
              <a:rPr lang="ar-SA" sz="2800" b="1" dirty="0"/>
              <a:t>مكونات شكل رسالة "سنمب-- ف3</a:t>
            </a:r>
            <a:r>
              <a:rPr lang="ar-SA" sz="2800" b="1" dirty="0" smtClean="0"/>
              <a:t>"</a:t>
            </a:r>
            <a:endParaRPr lang="en-US" sz="2800" dirty="0" smtClean="0"/>
          </a:p>
          <a:p>
            <a:pPr algn="r" rtl="1" fontAlgn="t"/>
            <a:r>
              <a:rPr lang="en-US" sz="2800" dirty="0"/>
              <a:t/>
            </a:r>
            <a:br>
              <a:rPr lang="en-US" sz="2800" dirty="0"/>
            </a:br>
            <a:r>
              <a:rPr lang="en-US" sz="2800" dirty="0"/>
              <a:t/>
            </a:r>
            <a:br>
              <a:rPr lang="en-US" sz="2800" dirty="0"/>
            </a:br>
            <a:endParaRPr lang="en-US" dirty="0"/>
          </a:p>
        </p:txBody>
      </p:sp>
    </p:spTree>
    <p:extLst>
      <p:ext uri="{BB962C8B-B14F-4D97-AF65-F5344CB8AC3E}">
        <p14:creationId xmlns:p14="http://schemas.microsoft.com/office/powerpoint/2010/main" val="39782814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نموذج تحكم الوصول لرؤية المعلومات </a:t>
            </a:r>
            <a:r>
              <a:rPr lang="en-US" b="1" dirty="0"/>
              <a:t>VACM</a:t>
            </a:r>
            <a:endParaRPr lang="en-US" dirty="0"/>
          </a:p>
        </p:txBody>
      </p:sp>
      <p:sp>
        <p:nvSpPr>
          <p:cNvPr id="3" name="Content Placeholder 2"/>
          <p:cNvSpPr>
            <a:spLocks noGrp="1"/>
          </p:cNvSpPr>
          <p:nvPr>
            <p:ph idx="1"/>
          </p:nvPr>
        </p:nvSpPr>
        <p:spPr/>
        <p:txBody>
          <a:bodyPr>
            <a:normAutofit/>
          </a:bodyPr>
          <a:lstStyle/>
          <a:p>
            <a:pPr algn="r" rtl="1"/>
            <a:r>
              <a:rPr lang="ar-SA" dirty="0" smtClean="0"/>
              <a:t>يستخدم </a:t>
            </a:r>
            <a:r>
              <a:rPr lang="ar-SA" dirty="0"/>
              <a:t>نموذج "فاكم </a:t>
            </a:r>
            <a:r>
              <a:rPr lang="en-US" dirty="0"/>
              <a:t>VACM</a:t>
            </a:r>
            <a:r>
              <a:rPr lang="ar-SA" dirty="0"/>
              <a:t>" للتحكم في الدخول لإدارة العناصر في قاعدة المعلومات الإدارية </a:t>
            </a:r>
            <a:r>
              <a:rPr lang="en-US" dirty="0"/>
              <a:t>MIB</a:t>
            </a:r>
            <a:r>
              <a:rPr lang="ar-SA" dirty="0"/>
              <a:t> . يوجد هذا النموذج داخل النظام الفرعي لتحكم الدخول </a:t>
            </a:r>
            <a:r>
              <a:rPr lang="en-US" dirty="0"/>
              <a:t>Access Control Subsystem</a:t>
            </a:r>
            <a:r>
              <a:rPr lang="ar-SA" dirty="0"/>
              <a:t>. يكون مسئولاً في آلة "سنمب-ف3" عن فحص و سماحية نوع محدد من العناصر لإجراء عملية (كتابة، قراءة أو إعلام). </a:t>
            </a:r>
            <a:endParaRPr lang="en-US" dirty="0" smtClean="0"/>
          </a:p>
        </p:txBody>
      </p:sp>
    </p:spTree>
    <p:extLst>
      <p:ext uri="{BB962C8B-B14F-4D97-AF65-F5344CB8AC3E}">
        <p14:creationId xmlns:p14="http://schemas.microsoft.com/office/powerpoint/2010/main" val="19387391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ويعمل نظام </a:t>
            </a:r>
            <a:r>
              <a:rPr lang="ar-SA" dirty="0" smtClean="0"/>
              <a:t>"</a:t>
            </a:r>
            <a:r>
              <a:rPr lang="en-US" b="1" dirty="0" smtClean="0"/>
              <a:t>VACM</a:t>
            </a:r>
            <a:r>
              <a:rPr lang="ar-SA" dirty="0" smtClean="0"/>
              <a:t>" </a:t>
            </a:r>
            <a:r>
              <a:rPr lang="ar-SA" dirty="0"/>
              <a:t>عندما يقوم "سنمب-ف3" بإجراء عملية استرجاع أو تعديل طلب رسائل من محطة التشغيل </a:t>
            </a:r>
            <a:r>
              <a:rPr lang="en-US" dirty="0"/>
              <a:t>Entity</a:t>
            </a:r>
            <a:r>
              <a:rPr lang="ar-SA" dirty="0"/>
              <a:t> . على سبيل المثال، يقوم تطبيق مستجيب الأمر بتطبيق تحكم الدخول عندما يعالج الطلبات </a:t>
            </a:r>
            <a:r>
              <a:rPr lang="en-US" dirty="0"/>
              <a:t>Requests</a:t>
            </a:r>
            <a:r>
              <a:rPr lang="ar-SA" dirty="0"/>
              <a:t> التي يستقبلها من تطبيق مولد الأمر. تشمل هذه الطلبات أنواع العمليات التالية</a:t>
            </a:r>
            <a:r>
              <a:rPr lang="en-US" dirty="0" err="1"/>
              <a:t>GetRequest</a:t>
            </a:r>
            <a:r>
              <a:rPr lang="en-US" dirty="0"/>
              <a:t>, </a:t>
            </a:r>
            <a:r>
              <a:rPr lang="en-US" dirty="0" err="1"/>
              <a:t>GetNextRequest</a:t>
            </a:r>
            <a:r>
              <a:rPr lang="en-US" dirty="0"/>
              <a:t>, </a:t>
            </a:r>
            <a:r>
              <a:rPr lang="en-US" dirty="0" err="1"/>
              <a:t>GetBulkRequest</a:t>
            </a:r>
            <a:r>
              <a:rPr lang="en-US" dirty="0"/>
              <a:t>, </a:t>
            </a:r>
            <a:r>
              <a:rPr lang="en-US" dirty="0" err="1"/>
              <a:t>SetRequest</a:t>
            </a:r>
            <a:r>
              <a:rPr lang="en-US" dirty="0"/>
              <a:t>)</a:t>
            </a:r>
            <a:r>
              <a:rPr lang="ar-SA" dirty="0"/>
              <a:t> </a:t>
            </a:r>
            <a:endParaRPr lang="en-US" dirty="0"/>
          </a:p>
          <a:p>
            <a:pPr algn="r" rtl="1"/>
            <a:endParaRPr lang="en-US" dirty="0"/>
          </a:p>
        </p:txBody>
      </p:sp>
    </p:spTree>
    <p:extLst>
      <p:ext uri="{BB962C8B-B14F-4D97-AF65-F5344CB8AC3E}">
        <p14:creationId xmlns:p14="http://schemas.microsoft.com/office/powerpoint/2010/main" val="2001444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يعمل نظام تحكم الدخول للمعلومات أيضا داخل محطة تشغيل "سنمب-ف3" ، عندما يتم توليد رسالة إشعار بواسطة تطبيق منشئ الإشعار. وتشتمل هذه الرسائل على أنواع العمليات التالية (</a:t>
            </a:r>
            <a:r>
              <a:rPr lang="en-US" dirty="0" err="1"/>
              <a:t>InformRequest</a:t>
            </a:r>
            <a:r>
              <a:rPr lang="en-US" dirty="0"/>
              <a:t>, SNMPv2-Trap</a:t>
            </a:r>
            <a:r>
              <a:rPr lang="ar-SA" dirty="0"/>
              <a:t>).</a:t>
            </a:r>
            <a:endParaRPr lang="en-US" dirty="0"/>
          </a:p>
          <a:p>
            <a:pPr algn="r" rtl="1"/>
            <a:endParaRPr lang="en-US" dirty="0"/>
          </a:p>
        </p:txBody>
      </p:sp>
    </p:spTree>
    <p:extLst>
      <p:ext uri="{BB962C8B-B14F-4D97-AF65-F5344CB8AC3E}">
        <p14:creationId xmlns:p14="http://schemas.microsoft.com/office/powerpoint/2010/main" val="1617516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r" rtl="1"/>
            <a:r>
              <a:rPr lang="ar-SA" sz="3600" b="1" dirty="0"/>
              <a:t>4 مخزن البيانات المهيأ محليا</a:t>
            </a:r>
            <a:r>
              <a:rPr lang="en-US" sz="3600" dirty="0"/>
              <a:t/>
            </a:r>
            <a:br>
              <a:rPr lang="en-US" sz="3600" dirty="0"/>
            </a:br>
            <a:r>
              <a:rPr lang="en-US" sz="3600" b="1" dirty="0"/>
              <a:t>Local Configuration Data-store (LCD) </a:t>
            </a:r>
            <a:r>
              <a:rPr lang="en-US" sz="3600" dirty="0"/>
              <a:t/>
            </a:r>
            <a:br>
              <a:rPr lang="en-US" sz="3600" dirty="0"/>
            </a:br>
            <a:endParaRPr lang="en-US" sz="3600" dirty="0"/>
          </a:p>
        </p:txBody>
      </p:sp>
      <p:sp>
        <p:nvSpPr>
          <p:cNvPr id="3" name="Content Placeholder 2"/>
          <p:cNvSpPr>
            <a:spLocks noGrp="1"/>
          </p:cNvSpPr>
          <p:nvPr>
            <p:ph idx="1"/>
          </p:nvPr>
        </p:nvSpPr>
        <p:spPr/>
        <p:txBody>
          <a:bodyPr/>
          <a:lstStyle/>
          <a:p>
            <a:pPr algn="r" rtl="1"/>
            <a:r>
              <a:rPr lang="ar-SA" dirty="0" smtClean="0"/>
              <a:t>تحتاج </a:t>
            </a:r>
            <a:r>
              <a:rPr lang="ar-SA" dirty="0"/>
              <a:t>محطة تشغيل "سنمب-ف3" أن تحتفظ بمعلومات عن نظم </a:t>
            </a:r>
            <a:r>
              <a:rPr lang="en-US" dirty="0"/>
              <a:t>policies</a:t>
            </a:r>
            <a:r>
              <a:rPr lang="ar-SA" dirty="0"/>
              <a:t> وحقوق الدخول التي يتطلبها نموذج  "فاكم" ويعمل على تنفيذها. وتكون هذه المعلومات جزءاً من مخزن بيانات مهيأ محليا </a:t>
            </a:r>
            <a:r>
              <a:rPr lang="en-US" dirty="0"/>
              <a:t>LCD</a:t>
            </a:r>
            <a:r>
              <a:rPr lang="ar-SA" dirty="0"/>
              <a:t> لآلة "سنمب-ف3". </a:t>
            </a:r>
            <a:endParaRPr lang="en-US" dirty="0" smtClean="0"/>
          </a:p>
          <a:p>
            <a:pPr algn="r" rtl="1"/>
            <a:r>
              <a:rPr lang="ar-SA" dirty="0" smtClean="0"/>
              <a:t>ولكي </a:t>
            </a:r>
            <a:r>
              <a:rPr lang="ar-SA" dirty="0"/>
              <a:t>يسمح بتهيئة وحدة </a:t>
            </a:r>
            <a:r>
              <a:rPr lang="en-US" dirty="0"/>
              <a:t>LCD</a:t>
            </a:r>
            <a:r>
              <a:rPr lang="ar-SA" dirty="0"/>
              <a:t> عن بعد، فإن جزءاً منها يحتاج أن يكون الدخول إليه ممكناً إذ أنها عناصر إدارية. تشمل هذه العناصر الإدارية: قاعدة المعلومات الإدارية المهيئة لنموذج فاكم، و نموذج قاعدة المعلومات الإدارية </a:t>
            </a:r>
            <a:r>
              <a:rPr lang="en-US" dirty="0"/>
              <a:t>MIB Module</a:t>
            </a:r>
            <a:r>
              <a:rPr lang="ar-SA" dirty="0"/>
              <a:t>. والتي سيتم شرحهما تباعاً في الفقرات التالية. </a:t>
            </a:r>
            <a:endParaRPr lang="en-US" dirty="0"/>
          </a:p>
          <a:p>
            <a:pPr algn="r"/>
            <a:endParaRPr lang="en-US" dirty="0"/>
          </a:p>
        </p:txBody>
      </p:sp>
    </p:spTree>
    <p:extLst>
      <p:ext uri="{BB962C8B-B14F-4D97-AF65-F5344CB8AC3E}">
        <p14:creationId xmlns:p14="http://schemas.microsoft.com/office/powerpoint/2010/main" val="893334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ar-SA" sz="3600" b="1" dirty="0"/>
              <a:t>4  العناصر المكونة لنموذج "فاكم" </a:t>
            </a:r>
            <a:r>
              <a:rPr lang="en-US" sz="3600" b="1" dirty="0"/>
              <a:t>VACM</a:t>
            </a:r>
            <a:r>
              <a:rPr lang="en-US" sz="3600" dirty="0"/>
              <a:t/>
            </a:r>
            <a:br>
              <a:rPr lang="en-US" sz="3600" dirty="0"/>
            </a:br>
            <a:endParaRPr lang="en-US" sz="3600" dirty="0"/>
          </a:p>
        </p:txBody>
      </p:sp>
      <p:sp>
        <p:nvSpPr>
          <p:cNvPr id="3" name="Content Placeholder 2"/>
          <p:cNvSpPr>
            <a:spLocks noGrp="1"/>
          </p:cNvSpPr>
          <p:nvPr>
            <p:ph idx="1"/>
          </p:nvPr>
        </p:nvSpPr>
        <p:spPr/>
        <p:txBody>
          <a:bodyPr>
            <a:normAutofit lnSpcReduction="10000"/>
          </a:bodyPr>
          <a:lstStyle/>
          <a:p>
            <a:pPr algn="r" rtl="1"/>
            <a:r>
              <a:rPr lang="ar-SA" u="sng" dirty="0" smtClean="0"/>
              <a:t>يختص </a:t>
            </a:r>
            <a:r>
              <a:rPr lang="ar-SA" u="sng" dirty="0"/>
              <a:t>نموذج "فاكم" بخاصتين هامتين هما:</a:t>
            </a:r>
            <a:endParaRPr lang="en-US" dirty="0"/>
          </a:p>
          <a:p>
            <a:pPr algn="r" rtl="1"/>
            <a:r>
              <a:rPr lang="ar-SA" dirty="0"/>
              <a:t>أ- أنه يحدد سماحية دخول "مستخدم رئيسي بعيد" لعنصر إداري لقاعدة المعلومات المحلية.</a:t>
            </a:r>
            <a:endParaRPr lang="en-US" dirty="0"/>
          </a:p>
          <a:p>
            <a:pPr algn="r" rtl="1"/>
            <a:r>
              <a:rPr lang="ar-SA" dirty="0"/>
              <a:t>ب- أنه يحدد نظام </a:t>
            </a:r>
            <a:r>
              <a:rPr lang="en-US" dirty="0"/>
              <a:t>Policy</a:t>
            </a:r>
            <a:r>
              <a:rPr lang="ar-SA" dirty="0"/>
              <a:t> تحكم الدخول لوكيل، لإمكانية إجراء التهيئة عن بعد. </a:t>
            </a:r>
            <a:endParaRPr lang="en-US" dirty="0"/>
          </a:p>
          <a:p>
            <a:pPr marL="0" indent="0" algn="r" rtl="1">
              <a:buNone/>
            </a:pPr>
            <a:r>
              <a:rPr lang="ar-SA" dirty="0"/>
              <a:t>وذلك باستخدام قاعدة المعلومات الإدارية </a:t>
            </a:r>
            <a:r>
              <a:rPr lang="en-US" dirty="0"/>
              <a:t>MIB</a:t>
            </a:r>
            <a:r>
              <a:rPr lang="ar-SA" dirty="0"/>
              <a:t>.</a:t>
            </a:r>
            <a:endParaRPr lang="en-US" dirty="0"/>
          </a:p>
          <a:p>
            <a:pPr algn="r" rtl="1"/>
            <a:r>
              <a:rPr lang="ar-SA" b="1" u="sng" dirty="0"/>
              <a:t>لقد تم تعريف خمسة عناصر لتكوين نموذج "فاكم" هي:</a:t>
            </a:r>
            <a:endParaRPr lang="en-US" dirty="0"/>
          </a:p>
          <a:p>
            <a:pPr algn="r" rtl="1"/>
            <a:r>
              <a:rPr lang="ar-SA" dirty="0"/>
              <a:t>- المجموعات </a:t>
            </a:r>
            <a:r>
              <a:rPr lang="en-US" dirty="0"/>
              <a:t>Groups </a:t>
            </a:r>
            <a:r>
              <a:rPr lang="ar-SA" dirty="0"/>
              <a:t>   - مستوى الأمن </a:t>
            </a:r>
            <a:r>
              <a:rPr lang="en-US" dirty="0"/>
              <a:t>Security Level</a:t>
            </a:r>
          </a:p>
          <a:p>
            <a:pPr algn="r" rtl="1"/>
            <a:r>
              <a:rPr lang="ar-SA" dirty="0"/>
              <a:t>- السياق </a:t>
            </a:r>
            <a:r>
              <a:rPr lang="en-US" dirty="0"/>
              <a:t>Context</a:t>
            </a:r>
            <a:r>
              <a:rPr lang="ar-SA" dirty="0"/>
              <a:t> 	- مرئيات قاعدة المعلومات الإدارية </a:t>
            </a:r>
            <a:r>
              <a:rPr lang="en-US" dirty="0"/>
              <a:t>MIB Views</a:t>
            </a:r>
            <a:r>
              <a:rPr lang="ar-SA" dirty="0"/>
              <a:t> </a:t>
            </a:r>
            <a:endParaRPr lang="en-US" dirty="0"/>
          </a:p>
          <a:p>
            <a:pPr algn="r" rtl="1"/>
            <a:r>
              <a:rPr lang="ar-SA" dirty="0"/>
              <a:t>- نظام الدخول </a:t>
            </a:r>
            <a:r>
              <a:rPr lang="en-US" dirty="0"/>
              <a:t>Access Policy</a:t>
            </a:r>
            <a:r>
              <a:rPr lang="ar-SA" dirty="0"/>
              <a:t> .</a:t>
            </a:r>
            <a:endParaRPr lang="en-US" dirty="0"/>
          </a:p>
          <a:p>
            <a:pPr algn="r"/>
            <a:endParaRPr lang="en-US" dirty="0"/>
          </a:p>
        </p:txBody>
      </p:sp>
    </p:spTree>
    <p:extLst>
      <p:ext uri="{BB962C8B-B14F-4D97-AF65-F5344CB8AC3E}">
        <p14:creationId xmlns:p14="http://schemas.microsoft.com/office/powerpoint/2010/main" val="3003840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r" rtl="1"/>
            <a:r>
              <a:rPr lang="ar-SA" b="1" u="sng" dirty="0"/>
              <a:t>أولا: المجموعات </a:t>
            </a:r>
            <a:r>
              <a:rPr lang="en-US" b="1" u="sng" dirty="0"/>
              <a:t>Groups</a:t>
            </a:r>
            <a:r>
              <a:rPr lang="en-US" dirty="0"/>
              <a:t/>
            </a:r>
            <a:br>
              <a:rPr lang="en-US" dirty="0"/>
            </a:b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pPr algn="r" rtl="1"/>
            <a:r>
              <a:rPr lang="ar-SA" dirty="0" smtClean="0"/>
              <a:t>تعرف </a:t>
            </a:r>
            <a:r>
              <a:rPr lang="ar-SA" dirty="0"/>
              <a:t>المجموعة على أنها فئة </a:t>
            </a:r>
            <a:r>
              <a:rPr lang="en-US" dirty="0"/>
              <a:t>set</a:t>
            </a:r>
            <a:r>
              <a:rPr lang="ar-SA" dirty="0"/>
              <a:t> من المستخدمين تتكون من صفرٍ مستخدم أو أكثر، والتي نيابة عنها تستطيع عناصر إدارة "سنمب-ف3" الدخول. يتم تحديد المجموعة باستخدام اسم أمني </a:t>
            </a:r>
            <a:r>
              <a:rPr lang="en-US" dirty="0" err="1"/>
              <a:t>securityName</a:t>
            </a:r>
            <a:r>
              <a:rPr lang="ar-SA" dirty="0"/>
              <a:t>، ونموذج أمني </a:t>
            </a:r>
            <a:r>
              <a:rPr lang="en-US" dirty="0" err="1"/>
              <a:t>securityModel</a:t>
            </a:r>
            <a:r>
              <a:rPr lang="ar-SA" dirty="0"/>
              <a:t>. </a:t>
            </a:r>
            <a:endParaRPr lang="en-US" dirty="0"/>
          </a:p>
          <a:p>
            <a:pPr algn="r" rtl="1"/>
            <a:r>
              <a:rPr lang="ar-SA" dirty="0"/>
              <a:t>يشير الاسم الأمني إلى مستخدم رئيسي </a:t>
            </a:r>
            <a:r>
              <a:rPr lang="en-US" dirty="0"/>
              <a:t>a Principal</a:t>
            </a:r>
            <a:r>
              <a:rPr lang="ar-SA" dirty="0"/>
              <a:t> ، والى حقوق الدخول </a:t>
            </a:r>
            <a:r>
              <a:rPr lang="en-US" dirty="0"/>
              <a:t>Access Rights</a:t>
            </a:r>
            <a:r>
              <a:rPr lang="ar-SA" dirty="0"/>
              <a:t> لكل الرؤساء وذلك لتحديد مجموعة معينة لتكون مطابقة </a:t>
            </a:r>
            <a:r>
              <a:rPr lang="en-US" dirty="0"/>
              <a:t>identical</a:t>
            </a:r>
            <a:r>
              <a:rPr lang="ar-SA" dirty="0"/>
              <a:t>. </a:t>
            </a:r>
            <a:endParaRPr lang="en-US" dirty="0" smtClean="0"/>
          </a:p>
          <a:p>
            <a:pPr algn="r" rtl="1"/>
            <a:r>
              <a:rPr lang="ar-SA" dirty="0" smtClean="0"/>
              <a:t>يتم </a:t>
            </a:r>
            <a:r>
              <a:rPr lang="ar-SA" dirty="0"/>
              <a:t>تخصيص اسم مميز لكل مجموعة </a:t>
            </a:r>
            <a:r>
              <a:rPr lang="en-US" dirty="0" err="1"/>
              <a:t>groupName</a:t>
            </a:r>
            <a:r>
              <a:rPr lang="ar-SA" dirty="0"/>
              <a:t> . تفيد هذه الطريقة في أنها تستخدم كأداة لتصنيف المديرين طبقا لأحقية الدخول. على سبيل المثال، يمكن إعطاء جميع المديرين في مستوى القمة </a:t>
            </a:r>
            <a:r>
              <a:rPr lang="en-US" dirty="0"/>
              <a:t>top-level</a:t>
            </a:r>
            <a:r>
              <a:rPr lang="ar-SA" dirty="0"/>
              <a:t> فئة أحقية دخول واحدة، بينما يمكن إعطاء المديرين في المستوى المتوسط </a:t>
            </a:r>
            <a:r>
              <a:rPr lang="en-US" dirty="0"/>
              <a:t>intermediate-level</a:t>
            </a:r>
            <a:r>
              <a:rPr lang="ar-SA" dirty="0"/>
              <a:t> فئة أحقية دخول مختلفة. </a:t>
            </a:r>
            <a:endParaRPr lang="en-US" dirty="0"/>
          </a:p>
          <a:p>
            <a:pPr algn="r" rtl="1"/>
            <a:r>
              <a:rPr lang="ar-SA" dirty="0"/>
              <a:t>تستطيع مجموعة معينة لها (اسم أمني، ونموذج أمني) أن تنتمي إلى مجموعة واحدة على الأكثر. بمعنى أنه، يعين هذا الوكيل رئيسا </a:t>
            </a:r>
            <a:r>
              <a:rPr lang="en-US" dirty="0"/>
              <a:t>principal</a:t>
            </a:r>
            <a:r>
              <a:rPr lang="ar-SA" dirty="0"/>
              <a:t> تكون اتصالاته محمية بواسطة نموذج الأمن. تستطيع مجموعة واحدة فقط استخدامه. </a:t>
            </a:r>
            <a:endParaRPr lang="en-US" dirty="0"/>
          </a:p>
          <a:p>
            <a:pPr algn="r"/>
            <a:endParaRPr lang="en-US" dirty="0"/>
          </a:p>
        </p:txBody>
      </p:sp>
    </p:spTree>
    <p:extLst>
      <p:ext uri="{BB962C8B-B14F-4D97-AF65-F5344CB8AC3E}">
        <p14:creationId xmlns:p14="http://schemas.microsoft.com/office/powerpoint/2010/main" val="2056235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r" rtl="1"/>
            <a:r>
              <a:rPr lang="ar-SA" b="1" u="sng" dirty="0"/>
              <a:t>ثانيا: مستوى الأمن </a:t>
            </a:r>
            <a:r>
              <a:rPr lang="en-US" b="1" u="sng" dirty="0"/>
              <a:t>Security Level</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ar-SA" dirty="0" smtClean="0"/>
              <a:t>قد </a:t>
            </a:r>
            <a:r>
              <a:rPr lang="ar-SA" dirty="0"/>
              <a:t>تختلف حقوق الدخول لمجموعة، ويعتمد ذلك على المستوى الأمني للرسالة التي يشملها الطلب </a:t>
            </a:r>
            <a:r>
              <a:rPr lang="en-US" dirty="0"/>
              <a:t>request</a:t>
            </a:r>
            <a:r>
              <a:rPr lang="ar-SA" dirty="0"/>
              <a:t>. على سبيل المثال، يمكن السماح لوكيل بإجراء عملية الدخول للقراءة فقط </a:t>
            </a:r>
            <a:r>
              <a:rPr lang="en-US" dirty="0"/>
              <a:t>read-only</a:t>
            </a:r>
            <a:r>
              <a:rPr lang="ar-SA" dirty="0"/>
              <a:t> وذلك لطلب اتصال قادم من رسالة غير موثقة، لكن قد يحتاج هذا الطلب توثيقا لإجراء عملية الدخول للكتابة </a:t>
            </a:r>
            <a:r>
              <a:rPr lang="en-US" dirty="0"/>
              <a:t>write-access</a:t>
            </a:r>
            <a:r>
              <a:rPr lang="ar-SA" dirty="0"/>
              <a:t> . بالإضافة لعناصر حساسة معينة؛ قد يحتاج الوكيل أن تتم عملية اتصال للطلب واستجابته باستعمال خدمة الخصوصية </a:t>
            </a:r>
            <a:r>
              <a:rPr lang="en-US" dirty="0"/>
              <a:t>Privacy Service</a:t>
            </a:r>
            <a:r>
              <a:rPr lang="ar-SA" dirty="0"/>
              <a:t>.</a:t>
            </a:r>
            <a:endParaRPr lang="en-US" dirty="0"/>
          </a:p>
          <a:p>
            <a:pPr algn="r"/>
            <a:endParaRPr lang="en-US" dirty="0"/>
          </a:p>
        </p:txBody>
      </p:sp>
    </p:spTree>
    <p:extLst>
      <p:ext uri="{BB962C8B-B14F-4D97-AF65-F5344CB8AC3E}">
        <p14:creationId xmlns:p14="http://schemas.microsoft.com/office/powerpoint/2010/main" val="155542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r" rtl="1"/>
            <a:r>
              <a:rPr lang="ar-SA" b="1" u="sng" dirty="0"/>
              <a:t>ثالثا: - السياق </a:t>
            </a:r>
            <a:r>
              <a:rPr lang="en-US" b="1" u="sng" dirty="0"/>
              <a:t>Context</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ar-SA" dirty="0" smtClean="0"/>
              <a:t>إن </a:t>
            </a:r>
            <a:r>
              <a:rPr lang="ar-SA" dirty="0"/>
              <a:t>سياق قاعدة المعلومات الإدارية هو اسم لفئة تابعة لمثيلات العناصر </a:t>
            </a:r>
            <a:r>
              <a:rPr lang="en-US" dirty="0"/>
              <a:t>Object Instances</a:t>
            </a:r>
            <a:r>
              <a:rPr lang="ar-SA" dirty="0"/>
              <a:t> داخل قاعدة المعلومات الإدارية المحلية. وهو يتيح وسيلة مفيدة لتصنيف العناصر إلى مجموعات يكون لها أنظمة </a:t>
            </a:r>
            <a:r>
              <a:rPr lang="en-US" dirty="0"/>
              <a:t>Policies</a:t>
            </a:r>
            <a:r>
              <a:rPr lang="ar-SA" dirty="0"/>
              <a:t> دخول مختلفة. حيث إن السياق هو مفهوم </a:t>
            </a:r>
            <a:r>
              <a:rPr lang="en-US" dirty="0"/>
              <a:t>Concept</a:t>
            </a:r>
            <a:r>
              <a:rPr lang="ar-SA" dirty="0"/>
              <a:t> له علاقة بالتحكم في الدخول. مثلاً، عندما يتم الاتصال بين محطة إدارية مع وكيل من أجل الوصول إلى المعلومات الإدارية عند الوكيل، فإنه يحدث اتصال بين الرئيس </a:t>
            </a:r>
            <a:r>
              <a:rPr lang="en-US" dirty="0"/>
              <a:t>Principal</a:t>
            </a:r>
            <a:r>
              <a:rPr lang="ar-SA" dirty="0"/>
              <a:t> الإداري وآلة وكيل "سنمب-ف3"، ويتم تخصيص منح امتيازات </a:t>
            </a:r>
            <a:r>
              <a:rPr lang="en-US" dirty="0"/>
              <a:t>Privileges</a:t>
            </a:r>
            <a:r>
              <a:rPr lang="ar-SA" dirty="0"/>
              <a:t> تحكم الدخول إلى مرئيات </a:t>
            </a:r>
            <a:r>
              <a:rPr lang="en-US" dirty="0"/>
              <a:t>MIB</a:t>
            </a:r>
            <a:r>
              <a:rPr lang="ar-SA" dirty="0"/>
              <a:t> المختص بها الرئيس الإداري لهذا السياق</a:t>
            </a:r>
            <a:endParaRPr lang="en-US" dirty="0"/>
          </a:p>
        </p:txBody>
      </p:sp>
    </p:spTree>
    <p:extLst>
      <p:ext uri="{BB962C8B-B14F-4D97-AF65-F5344CB8AC3E}">
        <p14:creationId xmlns:p14="http://schemas.microsoft.com/office/powerpoint/2010/main" val="3318589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r" rtl="1"/>
            <a:r>
              <a:rPr lang="ar-SA" b="1" u="sng" dirty="0"/>
              <a:t>خصائص السياق</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algn="r" rtl="1"/>
            <a:r>
              <a:rPr lang="ar-SA" u="sng" dirty="0" smtClean="0"/>
              <a:t>يختص </a:t>
            </a:r>
            <a:r>
              <a:rPr lang="ar-SA" u="sng" dirty="0"/>
              <a:t>السياق بعدة خصائص هي:</a:t>
            </a:r>
            <a:endParaRPr lang="en-US" dirty="0"/>
          </a:p>
          <a:p>
            <a:pPr algn="r" rtl="1"/>
            <a:r>
              <a:rPr lang="ar-SA" dirty="0"/>
              <a:t>- يتم تخصيص هوية آلة سياق </a:t>
            </a:r>
            <a:r>
              <a:rPr lang="en-US" dirty="0"/>
              <a:t>a </a:t>
            </a:r>
            <a:r>
              <a:rPr lang="en-US" dirty="0" err="1"/>
              <a:t>contextEngineID</a:t>
            </a:r>
            <a:r>
              <a:rPr lang="ar-SA" dirty="0"/>
              <a:t> مميزة لمحطة تشغيل "سنمب-</a:t>
            </a:r>
            <a:endParaRPr lang="en-US" dirty="0"/>
          </a:p>
          <a:p>
            <a:pPr algn="r" rtl="1"/>
            <a:r>
              <a:rPr lang="ar-SA" dirty="0"/>
              <a:t>  ف3" والتي تحتوي على أكثر من سياق.</a:t>
            </a:r>
            <a:endParaRPr lang="en-US" dirty="0"/>
          </a:p>
          <a:p>
            <a:pPr algn="r" rtl="1"/>
            <a:r>
              <a:rPr lang="ar-SA" dirty="0"/>
              <a:t>- قد يظهر العنصر أو مثيله في أكثر من سياق .</a:t>
            </a:r>
            <a:endParaRPr lang="en-US" dirty="0"/>
          </a:p>
          <a:p>
            <a:pPr algn="r" rtl="1"/>
            <a:r>
              <a:rPr lang="ar-SA" dirty="0"/>
              <a:t>- لكي يتم تحديد مثيل عنصر منفرد  ضمن سياقات متعددة ؛ فإنه ينبغي أن يتـم تحديد</a:t>
            </a:r>
            <a:endParaRPr lang="en-US" dirty="0"/>
          </a:p>
          <a:p>
            <a:pPr algn="r" rtl="1"/>
            <a:r>
              <a:rPr lang="ar-SA" dirty="0"/>
              <a:t>  اسم السياق </a:t>
            </a:r>
            <a:r>
              <a:rPr lang="en-US" dirty="0" err="1"/>
              <a:t>contextName</a:t>
            </a:r>
            <a:r>
              <a:rPr lang="ar-SA" dirty="0"/>
              <a:t>، وهوية آلة السياق </a:t>
            </a:r>
            <a:r>
              <a:rPr lang="en-US" dirty="0" err="1"/>
              <a:t>contextEngineID</a:t>
            </a:r>
            <a:r>
              <a:rPr lang="ar-SA" dirty="0"/>
              <a:t>، بالإضافة إلى:  نوع العنصر مثيل العنصر.</a:t>
            </a:r>
            <a:endParaRPr lang="en-US" dirty="0"/>
          </a:p>
          <a:p>
            <a:pPr algn="r" rtl="1"/>
            <a:r>
              <a:rPr lang="ar-SA" dirty="0"/>
              <a:t> </a:t>
            </a:r>
            <a:endParaRPr lang="en-US" dirty="0"/>
          </a:p>
          <a:p>
            <a:pPr algn="r"/>
            <a:endParaRPr lang="en-US" dirty="0"/>
          </a:p>
        </p:txBody>
      </p:sp>
    </p:spTree>
    <p:extLst>
      <p:ext uri="{BB962C8B-B14F-4D97-AF65-F5344CB8AC3E}">
        <p14:creationId xmlns:p14="http://schemas.microsoft.com/office/powerpoint/2010/main" val="4020939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u="sng" dirty="0"/>
              <a:t>رابعا: مرئيات قاعدة المعلومات الإدارية </a:t>
            </a:r>
            <a:r>
              <a:rPr lang="en-US" b="1" u="sng" dirty="0"/>
              <a:t>MIB </a:t>
            </a:r>
            <a:r>
              <a:rPr lang="en-US" b="1" u="sng" dirty="0" smtClean="0"/>
              <a:t>Views</a:t>
            </a:r>
            <a:endParaRPr lang="en-US" dirty="0"/>
          </a:p>
        </p:txBody>
      </p:sp>
      <p:sp>
        <p:nvSpPr>
          <p:cNvPr id="3" name="Content Placeholder 2"/>
          <p:cNvSpPr>
            <a:spLocks noGrp="1"/>
          </p:cNvSpPr>
          <p:nvPr>
            <p:ph idx="1"/>
          </p:nvPr>
        </p:nvSpPr>
        <p:spPr/>
        <p:txBody>
          <a:bodyPr>
            <a:normAutofit fontScale="92500"/>
          </a:bodyPr>
          <a:lstStyle/>
          <a:p>
            <a:pPr algn="r" rtl="1"/>
            <a:r>
              <a:rPr lang="ar-SA" dirty="0" smtClean="0"/>
              <a:t>هي </a:t>
            </a:r>
            <a:r>
              <a:rPr lang="ar-SA" dirty="0"/>
              <a:t>تمثل الحالة التي نرغب في وضع القيود على الوصول إليها، بواسطة مجموعة  معينة لفئة من العناصر الإدارية عند الوكيل.  لتحقيق هذا الهدف، فإن دخول السياق يتم بواسطة مرئية </a:t>
            </a:r>
            <a:r>
              <a:rPr lang="en-US" dirty="0"/>
              <a:t>MIB</a:t>
            </a:r>
            <a:r>
              <a:rPr lang="ar-SA" dirty="0"/>
              <a:t>، والتي تحدد فئةً محددةً من العناصر الإدارية (ومثيلاتها الاختيارية). يستخدم "فاكم" تقنية قوية ومرنة لتعريف مرئيات </a:t>
            </a:r>
            <a:r>
              <a:rPr lang="en-US" dirty="0"/>
              <a:t>MIB</a:t>
            </a:r>
            <a:r>
              <a:rPr lang="ar-SA" dirty="0"/>
              <a:t> المبنية باستخدام الشجرات الفرعية </a:t>
            </a:r>
            <a:r>
              <a:rPr lang="en-US" dirty="0"/>
              <a:t>sub trees</a:t>
            </a:r>
            <a:r>
              <a:rPr lang="ar-SA" dirty="0"/>
              <a:t> وعائلاتها.</a:t>
            </a:r>
            <a:endParaRPr lang="en-US" dirty="0"/>
          </a:p>
          <a:p>
            <a:pPr algn="r" rtl="1"/>
            <a:r>
              <a:rPr lang="ar-SA" dirty="0"/>
              <a:t>يتم تحديد مرئية </a:t>
            </a:r>
            <a:r>
              <a:rPr lang="en-US" dirty="0"/>
              <a:t>MIB</a:t>
            </a:r>
            <a:r>
              <a:rPr lang="ar-SA" dirty="0"/>
              <a:t> بدلالة المجموعة </a:t>
            </a:r>
            <a:r>
              <a:rPr lang="en-US" dirty="0"/>
              <a:t>Collection</a:t>
            </a:r>
            <a:r>
              <a:rPr lang="ar-SA" dirty="0"/>
              <a:t>، أو العائلة </a:t>
            </a:r>
            <a:r>
              <a:rPr lang="en-US" dirty="0"/>
              <a:t>Family</a:t>
            </a:r>
            <a:r>
              <a:rPr lang="ar-SA" dirty="0"/>
              <a:t>، أو الشجرات الفرعية.</a:t>
            </a:r>
            <a:endParaRPr lang="en-US" dirty="0"/>
          </a:p>
          <a:p>
            <a:pPr algn="r" rtl="1"/>
            <a:r>
              <a:rPr lang="ar-SA" dirty="0"/>
              <a:t>يتم تنظيم العناصر الإدارية في قاعدة البيانات المحلية على شكل هرمي </a:t>
            </a:r>
            <a:r>
              <a:rPr lang="en-US" dirty="0"/>
              <a:t>hierarchical</a:t>
            </a:r>
            <a:r>
              <a:rPr lang="ar-SA" dirty="0"/>
              <a:t>، أو شجرة، بناء على محددات العنصر </a:t>
            </a:r>
            <a:r>
              <a:rPr lang="en-US" dirty="0"/>
              <a:t>Object Identifier</a:t>
            </a:r>
            <a:r>
              <a:rPr lang="ar-SA" dirty="0"/>
              <a:t>. تحتوي قاعدة المعلومات المحلية على فئة فرعية من كل أنواع العناصر المعرفة طبقاً لهيكل المعلومات الإدارية </a:t>
            </a:r>
            <a:r>
              <a:rPr lang="en-US" dirty="0"/>
              <a:t>SMI</a:t>
            </a:r>
            <a:r>
              <a:rPr lang="ar-SA" dirty="0"/>
              <a:t> القياسي للإنترنيت.</a:t>
            </a:r>
            <a:endParaRPr lang="en-US" dirty="0"/>
          </a:p>
          <a:p>
            <a:pPr algn="r"/>
            <a:endParaRPr lang="en-US" dirty="0"/>
          </a:p>
        </p:txBody>
      </p:sp>
    </p:spTree>
    <p:extLst>
      <p:ext uri="{BB962C8B-B14F-4D97-AF65-F5344CB8AC3E}">
        <p14:creationId xmlns:p14="http://schemas.microsoft.com/office/powerpoint/2010/main" val="344238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يستخدم بروتوكول "سنمب- ف3"  تنظيمة الشجرة الفرعية، وهي عبارة عن مركز اتصال (قطب </a:t>
            </a:r>
            <a:r>
              <a:rPr lang="en-US" dirty="0"/>
              <a:t>Node</a:t>
            </a:r>
            <a:r>
              <a:rPr lang="ar-SA" dirty="0"/>
              <a:t>) في المسمى الهرمي لقاعدة المعلومات الإدارية</a:t>
            </a:r>
            <a:r>
              <a:rPr lang="ar-SA" dirty="0" smtClean="0"/>
              <a:t>، </a:t>
            </a:r>
            <a:r>
              <a:rPr lang="ar-SA" dirty="0"/>
              <a:t>بالإضافة إلى جميع العناصر التابعة </a:t>
            </a:r>
            <a:r>
              <a:rPr lang="en-US" dirty="0"/>
              <a:t>Subordinate</a:t>
            </a:r>
            <a:r>
              <a:rPr lang="ar-SA" dirty="0"/>
              <a:t> </a:t>
            </a:r>
            <a:r>
              <a:rPr lang="ar-SA" dirty="0" smtClean="0"/>
              <a:t>لها</a:t>
            </a:r>
            <a:r>
              <a:rPr lang="en-US" dirty="0" smtClean="0"/>
              <a:t>  </a:t>
            </a:r>
          </a:p>
          <a:p>
            <a:pPr algn="r" rtl="1"/>
            <a:r>
              <a:rPr lang="ar-SA" dirty="0"/>
              <a:t>يصاحب كل مدخل في جدول دخول "فاكم" ثلاثة مرئيات </a:t>
            </a:r>
            <a:r>
              <a:rPr lang="en-US" dirty="0"/>
              <a:t>MIB</a:t>
            </a:r>
            <a:r>
              <a:rPr lang="ar-SA" dirty="0"/>
              <a:t> ، هي: مداخل الدخول للقراءة </a:t>
            </a:r>
            <a:r>
              <a:rPr lang="en-US" dirty="0"/>
              <a:t>read</a:t>
            </a:r>
            <a:r>
              <a:rPr lang="ar-SA" dirty="0"/>
              <a:t>، والكتابة </a:t>
            </a:r>
            <a:r>
              <a:rPr lang="en-US" dirty="0"/>
              <a:t> write</a:t>
            </a:r>
            <a:r>
              <a:rPr lang="ar-SA" dirty="0"/>
              <a:t>، والإعلام (أو التبليغ) </a:t>
            </a:r>
            <a:r>
              <a:rPr lang="en-US" dirty="0"/>
              <a:t>notify</a:t>
            </a:r>
            <a:r>
              <a:rPr lang="ar-SA" dirty="0"/>
              <a:t>.  </a:t>
            </a:r>
            <a:endParaRPr lang="en-US" dirty="0"/>
          </a:p>
          <a:p>
            <a:pPr algn="r" rtl="1"/>
            <a:r>
              <a:rPr lang="ar-SA" dirty="0"/>
              <a:t>يتم تخصيص كل شجرة فرعية للمرئية في قاعدة المعلومات الإدارية لتكون إما مشمولة </a:t>
            </a:r>
            <a:r>
              <a:rPr lang="en-US" dirty="0"/>
              <a:t>Included</a:t>
            </a:r>
            <a:r>
              <a:rPr lang="ar-SA" dirty="0"/>
              <a:t>، أو مستبعدة </a:t>
            </a:r>
            <a:r>
              <a:rPr lang="en-US" dirty="0"/>
              <a:t>Excluded</a:t>
            </a:r>
            <a:r>
              <a:rPr lang="ar-SA" dirty="0"/>
              <a:t>. بمعنى أن، مرئية </a:t>
            </a:r>
            <a:r>
              <a:rPr lang="en-US" dirty="0"/>
              <a:t>MIB</a:t>
            </a:r>
            <a:r>
              <a:rPr lang="ar-SA" dirty="0"/>
              <a:t> إما أن تشمل وإما أن تستبعد كل مثيلات العنصر التي تحتويها تلك الشجرة الفرعية</a:t>
            </a:r>
            <a:endParaRPr lang="en-US" dirty="0"/>
          </a:p>
        </p:txBody>
      </p:sp>
    </p:spTree>
    <p:extLst>
      <p:ext uri="{BB962C8B-B14F-4D97-AF65-F5344CB8AC3E}">
        <p14:creationId xmlns:p14="http://schemas.microsoft.com/office/powerpoint/2010/main" val="2412709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en-US" dirty="0"/>
              <a:t> </a:t>
            </a:r>
            <a:r>
              <a:rPr lang="ar-SA" b="1" u="sng" dirty="0"/>
              <a:t>خامسا: نظام الدخول </a:t>
            </a:r>
            <a:r>
              <a:rPr lang="en-US" b="1" u="sng" dirty="0"/>
              <a:t>Access Policy</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lgn="r" rtl="1"/>
            <a:r>
              <a:rPr lang="ar-SA" dirty="0" smtClean="0"/>
              <a:t>يمكن </a:t>
            </a:r>
            <a:r>
              <a:rPr lang="ar-SA" dirty="0"/>
              <a:t>لنموذج </a:t>
            </a:r>
            <a:r>
              <a:rPr lang="ar-SA" dirty="0" smtClean="0"/>
              <a:t>"</a:t>
            </a:r>
            <a:r>
              <a:rPr lang="en-US" b="1" dirty="0" smtClean="0"/>
              <a:t>VACM</a:t>
            </a:r>
            <a:r>
              <a:rPr lang="ar-SA" dirty="0" smtClean="0"/>
              <a:t>" </a:t>
            </a:r>
            <a:r>
              <a:rPr lang="ar-SA" dirty="0"/>
              <a:t>تمكين محطة "سنمب-ف3" وتهيئتها لكي تجبر </a:t>
            </a:r>
            <a:r>
              <a:rPr lang="en-US" dirty="0"/>
              <a:t>Enforce</a:t>
            </a:r>
            <a:r>
              <a:rPr lang="ar-SA" dirty="0"/>
              <a:t> فئة حقوق دخول محددة. يعتمد هذا الدخول على عدة عوامل هي ما يلي:</a:t>
            </a:r>
            <a:endParaRPr lang="en-US" dirty="0"/>
          </a:p>
          <a:p>
            <a:pPr algn="r" rtl="1"/>
            <a:r>
              <a:rPr lang="ar-SA" b="1" dirty="0"/>
              <a:t>- </a:t>
            </a:r>
            <a:r>
              <a:rPr lang="ar-SA" b="1" u="sng" dirty="0"/>
              <a:t>الرئيس </a:t>
            </a:r>
            <a:r>
              <a:rPr lang="en-US" b="1" u="sng" dirty="0"/>
              <a:t>The Principal</a:t>
            </a:r>
            <a:endParaRPr lang="en-US" dirty="0"/>
          </a:p>
          <a:p>
            <a:pPr algn="r" rtl="1"/>
            <a:r>
              <a:rPr lang="ar-SA" dirty="0"/>
              <a:t>الرئيس </a:t>
            </a:r>
            <a:r>
              <a:rPr lang="en-US" dirty="0"/>
              <a:t>The Principal</a:t>
            </a:r>
            <a:r>
              <a:rPr lang="ar-SA" dirty="0"/>
              <a:t> هو الذي يطلب الدخول. من الممكن أن يتيح "فاكم" الإمكانية لوكيلٍ كي يسمح بامتيازات دخول مختلفة لمستخدمين مختلفين. على سبيل المثال، يمكن أن يكون مدير النظام مسئولاً عن تهيئة شبكة إقليمية، والسماح له بتفويضٍ أكثر لتغيير بنودٍ في قاعدة المعلومات الإدارية المحلية. بينما يسمح لمدير آخر بمستوىً متوسطٍ لمسئولية الرصد </a:t>
            </a:r>
            <a:r>
              <a:rPr lang="en-US" dirty="0"/>
              <a:t>Monitoring</a:t>
            </a:r>
            <a:r>
              <a:rPr lang="ar-SA" dirty="0"/>
              <a:t>، وذلك لإجراء الدخول للقراءة فقط، والدخول المحدود فقط لفئةٍ فرعيةٍ من قاعدة المعلومات الإدارية المحلية. وكما تم شرحه سابقاً، فإن الرؤساء </a:t>
            </a:r>
            <a:r>
              <a:rPr lang="en-US" dirty="0"/>
              <a:t>Principals</a:t>
            </a:r>
            <a:r>
              <a:rPr lang="ar-SA" dirty="0"/>
              <a:t> يتم تخصيصها إلى المجموعات، وأن نظام الدخول يتم تحديده طبقا للمجموعات.</a:t>
            </a:r>
            <a:endParaRPr lang="en-US" dirty="0"/>
          </a:p>
          <a:p>
            <a:pPr algn="r" rtl="1"/>
            <a:r>
              <a:rPr lang="ar-SA" dirty="0"/>
              <a:t> </a:t>
            </a:r>
            <a:r>
              <a:rPr lang="ar-SA" dirty="0" smtClean="0"/>
              <a:t>كتابة).</a:t>
            </a:r>
            <a:endParaRPr lang="en-US" dirty="0"/>
          </a:p>
        </p:txBody>
      </p:sp>
    </p:spTree>
    <p:extLst>
      <p:ext uri="{BB962C8B-B14F-4D97-AF65-F5344CB8AC3E}">
        <p14:creationId xmlns:p14="http://schemas.microsoft.com/office/powerpoint/2010/main" val="1498021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r" rtl="1"/>
            <a:endParaRPr lang="en-US" dirty="0"/>
          </a:p>
          <a:p>
            <a:pPr algn="r" rtl="1"/>
            <a:r>
              <a:rPr lang="ar-SA" dirty="0"/>
              <a:t>-</a:t>
            </a:r>
            <a:r>
              <a:rPr lang="ar-SA" b="1" dirty="0"/>
              <a:t> </a:t>
            </a:r>
            <a:r>
              <a:rPr lang="ar-SA" b="1" u="sng" dirty="0"/>
              <a:t>مستوى الأمن </a:t>
            </a:r>
            <a:r>
              <a:rPr lang="en-US" b="1" u="sng" dirty="0"/>
              <a:t>Security Level</a:t>
            </a:r>
            <a:endParaRPr lang="en-US" dirty="0"/>
          </a:p>
          <a:p>
            <a:pPr algn="r" rtl="1"/>
            <a:r>
              <a:rPr lang="ar-SA" dirty="0"/>
              <a:t>يكون مستوى الأمن هو الذي يتم بواسطة اتصال طلب من رسالة "سنمب-ف3" . ثم يطلب الوكيل استخدام التوثيق للرسائل التي تحتوي على طلب إعداد </a:t>
            </a:r>
            <a:r>
              <a:rPr lang="en-US" dirty="0"/>
              <a:t>set request</a:t>
            </a:r>
            <a:r>
              <a:rPr lang="ar-SA" dirty="0"/>
              <a:t> (مثلا: عملية </a:t>
            </a:r>
            <a:r>
              <a:rPr lang="ar-SA" dirty="0" smtClean="0"/>
              <a:t>كتابة)</a:t>
            </a:r>
            <a:endParaRPr lang="en-US" b="1" dirty="0" smtClean="0"/>
          </a:p>
          <a:p>
            <a:pPr algn="r" rtl="1"/>
            <a:r>
              <a:rPr lang="ar-SA" b="1" dirty="0" smtClean="0"/>
              <a:t>- </a:t>
            </a:r>
            <a:r>
              <a:rPr lang="ar-SA" b="1" u="sng" dirty="0"/>
              <a:t>نموذج الأمن </a:t>
            </a:r>
            <a:r>
              <a:rPr lang="en-US" b="1" u="sng" dirty="0"/>
              <a:t>Security Model</a:t>
            </a:r>
            <a:r>
              <a:rPr lang="ar-SA" dirty="0"/>
              <a:t> </a:t>
            </a:r>
            <a:endParaRPr lang="en-US" dirty="0"/>
          </a:p>
          <a:p>
            <a:pPr algn="r" rtl="1"/>
            <a:r>
              <a:rPr lang="ar-SA" dirty="0"/>
              <a:t>يستخدم نموذج الأمن لمعالجة طلب الرسالة. عندما يتم تنفيذ نماذج أمن عديدة عند الوكيل، ربما يتم تهيئته لكي يتيح مستويات دخول مختلفة لطلبات الاتصال، وذلك بواسطة معالجة الرسائل باستخدام نماذج أمن مختلفة.  على سبيل المثال، يمكن السماح بدخول بنود معينة ، إذا كان طلب الرسالة قادما من خلال نموذج الأمن </a:t>
            </a:r>
            <a:r>
              <a:rPr lang="en-US" dirty="0"/>
              <a:t>USM</a:t>
            </a:r>
            <a:r>
              <a:rPr lang="ar-SA" dirty="0"/>
              <a:t>، وغير مسموح الدخول عندما يكون نموذج الأمن قادما من بروتوكول "سنمب-ف1". </a:t>
            </a:r>
            <a:endParaRPr lang="en-US" dirty="0"/>
          </a:p>
          <a:p>
            <a:endParaRPr lang="en-US" dirty="0"/>
          </a:p>
        </p:txBody>
      </p:sp>
    </p:spTree>
    <p:extLst>
      <p:ext uri="{BB962C8B-B14F-4D97-AF65-F5344CB8AC3E}">
        <p14:creationId xmlns:p14="http://schemas.microsoft.com/office/powerpoint/2010/main" val="641573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dirty="0"/>
              <a:t>- </a:t>
            </a:r>
            <a:r>
              <a:rPr lang="ar-SA" b="1" u="sng" dirty="0"/>
              <a:t>سياق قاعدة المعلومات الإدارية </a:t>
            </a:r>
            <a:r>
              <a:rPr lang="en-US" b="1" u="sng" dirty="0"/>
              <a:t>MIB context</a:t>
            </a:r>
            <a:r>
              <a:rPr lang="ar-SA" b="1" u="sng" dirty="0"/>
              <a:t> للطلب</a:t>
            </a:r>
            <a:r>
              <a:rPr lang="ar-SA" dirty="0"/>
              <a:t>.</a:t>
            </a:r>
            <a:endParaRPr lang="en-US" dirty="0"/>
          </a:p>
          <a:p>
            <a:pPr algn="r" rtl="1"/>
            <a:r>
              <a:rPr lang="ar-SA" b="1" dirty="0"/>
              <a:t>- </a:t>
            </a:r>
            <a:r>
              <a:rPr lang="ar-SA" b="1" u="sng" dirty="0"/>
              <a:t>مثيل العنصر </a:t>
            </a:r>
            <a:r>
              <a:rPr lang="en-US" b="1" u="sng" dirty="0"/>
              <a:t>Object Instance</a:t>
            </a:r>
            <a:endParaRPr lang="en-US" dirty="0"/>
          </a:p>
          <a:p>
            <a:pPr algn="r" rtl="1"/>
            <a:r>
              <a:rPr lang="ar-SA" dirty="0"/>
              <a:t>هو مثيل لعنصر محدد يتم طلب الدخول إليه. إن بعض العناصر تحتوي معلومات حرجة أو حساسة أكثر من غيرها، لذلك فإن نظام الدخول ينبغي أن يعتمد على أنه يتم طلب هذا المثيل بذاته. </a:t>
            </a:r>
            <a:endParaRPr lang="en-US" dirty="0"/>
          </a:p>
          <a:p>
            <a:pPr algn="r" rtl="1"/>
            <a:r>
              <a:rPr lang="ar-SA" b="1" dirty="0"/>
              <a:t>- </a:t>
            </a:r>
            <a:r>
              <a:rPr lang="ar-SA" b="1" u="sng" dirty="0"/>
              <a:t>نوع الدخول </a:t>
            </a:r>
            <a:r>
              <a:rPr lang="en-US" b="1" u="sng" dirty="0"/>
              <a:t>Access Type</a:t>
            </a:r>
            <a:r>
              <a:rPr lang="ar-SA" b="1" dirty="0"/>
              <a:t> </a:t>
            </a:r>
            <a:endParaRPr lang="en-US" dirty="0"/>
          </a:p>
          <a:p>
            <a:pPr algn="r" rtl="1"/>
            <a:r>
              <a:rPr lang="ar-SA" dirty="0"/>
              <a:t>تنقسم أنواع طلبات الدخول إلى ثلاثة هي: قراءة، كتابة ، إشعار. وهي عمليات إدارية متميزة </a:t>
            </a:r>
            <a:r>
              <a:rPr lang="en-US" dirty="0"/>
              <a:t>Distinct</a:t>
            </a:r>
            <a:r>
              <a:rPr lang="ar-SA" dirty="0"/>
              <a:t> ، وربما تُطبق نظمَ تحكُّمِ دخولٍ مختلفةٍ لكل عملية من هذه العمليات</a:t>
            </a:r>
            <a:endParaRPr lang="en-US" dirty="0"/>
          </a:p>
          <a:p>
            <a:endParaRPr lang="en-US" dirty="0"/>
          </a:p>
        </p:txBody>
      </p:sp>
    </p:spTree>
    <p:extLst>
      <p:ext uri="{BB962C8B-B14F-4D97-AF65-F5344CB8AC3E}">
        <p14:creationId xmlns:p14="http://schemas.microsoft.com/office/powerpoint/2010/main" val="278268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معالجة تحكم الدخول </a:t>
            </a:r>
            <a:r>
              <a:rPr lang="en-US" dirty="0"/>
              <a:t/>
            </a:r>
            <a:br>
              <a:rPr lang="en-US" dirty="0"/>
            </a:br>
            <a:r>
              <a:rPr lang="en-US" b="1" dirty="0"/>
              <a:t>Access Control </a:t>
            </a:r>
            <a:r>
              <a:rPr lang="en-US" b="1" dirty="0" smtClean="0"/>
              <a:t>Processing</a:t>
            </a:r>
            <a:endParaRPr lang="en-US" dirty="0"/>
          </a:p>
        </p:txBody>
      </p:sp>
      <p:sp>
        <p:nvSpPr>
          <p:cNvPr id="3" name="Content Placeholder 2"/>
          <p:cNvSpPr>
            <a:spLocks noGrp="1"/>
          </p:cNvSpPr>
          <p:nvPr>
            <p:ph idx="1"/>
          </p:nvPr>
        </p:nvSpPr>
        <p:spPr/>
        <p:txBody>
          <a:bodyPr>
            <a:normAutofit/>
          </a:bodyPr>
          <a:lstStyle/>
          <a:p>
            <a:pPr algn="r" rtl="1"/>
            <a:r>
              <a:rPr lang="ar-SA" dirty="0" smtClean="0"/>
              <a:t>يقوم </a:t>
            </a:r>
            <a:r>
              <a:rPr lang="ar-SA" dirty="0"/>
              <a:t>تطبيق "سنمب-ف3" ببدء تشغيل </a:t>
            </a:r>
            <a:r>
              <a:rPr lang="en-US" dirty="0"/>
              <a:t>invoke</a:t>
            </a:r>
            <a:r>
              <a:rPr lang="ar-SA" dirty="0"/>
              <a:t> نموذج "فاكم" من خلال الدالة </a:t>
            </a:r>
            <a:r>
              <a:rPr lang="en-US" dirty="0" err="1"/>
              <a:t>isAccessAllowed</a:t>
            </a:r>
            <a:r>
              <a:rPr lang="ar-SA" dirty="0"/>
              <a:t> ، </a:t>
            </a:r>
            <a:r>
              <a:rPr lang="ar-SA" u="sng" dirty="0"/>
              <a:t>ومعاملات الإدخال التالية:</a:t>
            </a:r>
            <a:endParaRPr lang="en-US" dirty="0"/>
          </a:p>
          <a:p>
            <a:pPr algn="r" rtl="1"/>
            <a:r>
              <a:rPr lang="ar-SA" dirty="0"/>
              <a:t>أ- اسم السياق   </a:t>
            </a:r>
            <a:r>
              <a:rPr lang="en-US" dirty="0" err="1"/>
              <a:t>contextName</a:t>
            </a:r>
            <a:r>
              <a:rPr lang="ar-SA" dirty="0"/>
              <a:t>  .</a:t>
            </a:r>
            <a:endParaRPr lang="en-US" dirty="0"/>
          </a:p>
          <a:p>
            <a:pPr algn="r" rtl="1"/>
            <a:r>
              <a:rPr lang="ar-SA" dirty="0"/>
              <a:t>ب- نموذج الأمن  </a:t>
            </a:r>
            <a:r>
              <a:rPr lang="en-US" dirty="0" err="1"/>
              <a:t>securityModel</a:t>
            </a:r>
            <a:r>
              <a:rPr lang="ar-SA" dirty="0"/>
              <a:t> .</a:t>
            </a:r>
            <a:endParaRPr lang="en-US" dirty="0"/>
          </a:p>
          <a:p>
            <a:pPr algn="r" rtl="1"/>
            <a:r>
              <a:rPr lang="ar-SA" dirty="0"/>
              <a:t>ج- اسم الأمن    </a:t>
            </a:r>
            <a:r>
              <a:rPr lang="en-US" dirty="0" err="1"/>
              <a:t>securityName</a:t>
            </a:r>
            <a:r>
              <a:rPr lang="en-US" dirty="0"/>
              <a:t> </a:t>
            </a:r>
            <a:r>
              <a:rPr lang="ar-SA" dirty="0"/>
              <a:t>. </a:t>
            </a:r>
            <a:endParaRPr lang="en-US" dirty="0"/>
          </a:p>
          <a:p>
            <a:pPr algn="r" rtl="1"/>
            <a:r>
              <a:rPr lang="ar-SA" dirty="0"/>
              <a:t>د- مستوى الأمن </a:t>
            </a:r>
            <a:r>
              <a:rPr lang="en-US" dirty="0" err="1"/>
              <a:t>securityLevel</a:t>
            </a:r>
            <a:r>
              <a:rPr lang="ar-SA" dirty="0"/>
              <a:t> .</a:t>
            </a:r>
            <a:endParaRPr lang="en-US" dirty="0"/>
          </a:p>
          <a:p>
            <a:pPr algn="r" rtl="1"/>
            <a:r>
              <a:rPr lang="ar-SA" dirty="0"/>
              <a:t>هـ- نوع المرئية   </a:t>
            </a:r>
            <a:r>
              <a:rPr lang="en-US" dirty="0" err="1"/>
              <a:t>viewType</a:t>
            </a:r>
            <a:r>
              <a:rPr lang="ar-SA" dirty="0"/>
              <a:t>  .</a:t>
            </a:r>
            <a:endParaRPr lang="en-US" dirty="0"/>
          </a:p>
          <a:p>
            <a:pPr algn="r" rtl="1"/>
            <a:r>
              <a:rPr lang="ar-SA" dirty="0"/>
              <a:t>و- اسم المتغير   </a:t>
            </a:r>
            <a:r>
              <a:rPr lang="en-US" dirty="0" err="1"/>
              <a:t>variableName</a:t>
            </a:r>
            <a:r>
              <a:rPr lang="ar-SA" dirty="0"/>
              <a:t> .</a:t>
            </a:r>
            <a:endParaRPr lang="en-US" dirty="0"/>
          </a:p>
          <a:p>
            <a:pPr algn="r"/>
            <a:endParaRPr lang="en-US" dirty="0"/>
          </a:p>
        </p:txBody>
      </p:sp>
    </p:spTree>
    <p:extLst>
      <p:ext uri="{BB962C8B-B14F-4D97-AF65-F5344CB8AC3E}">
        <p14:creationId xmlns:p14="http://schemas.microsoft.com/office/powerpoint/2010/main" val="3456306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143000"/>
          </a:xfrm>
        </p:spPr>
        <p:txBody>
          <a:bodyPr>
            <a:normAutofit fontScale="90000"/>
          </a:bodyPr>
          <a:lstStyle/>
          <a:p>
            <a:pPr algn="r" rtl="1"/>
            <a:r>
              <a:rPr lang="ar-SA" b="1" dirty="0" smtClean="0"/>
              <a:t>العمليات </a:t>
            </a:r>
            <a:r>
              <a:rPr lang="ar-SA" b="1" dirty="0"/>
              <a:t>المنطقية في نموذج "فاكم"</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ar-SA" dirty="0" smtClean="0"/>
              <a:t>إن </a:t>
            </a:r>
            <a:r>
              <a:rPr lang="ar-SA" dirty="0"/>
              <a:t>جميع المعاملات السابقة يتم الاحتياج إليها من أجل اتخاذ قرار تحكم الدخول. يوضح الشكل2.11 خريطة سير العمليات المنطقية التي يعمل بها نموذج "فاكم" ، ويمكن تلخيصها فيما يلي</a:t>
            </a:r>
            <a:endParaRPr lang="en-US" dirty="0"/>
          </a:p>
        </p:txBody>
      </p:sp>
    </p:spTree>
    <p:extLst>
      <p:ext uri="{BB962C8B-B14F-4D97-AF65-F5344CB8AC3E}">
        <p14:creationId xmlns:p14="http://schemas.microsoft.com/office/powerpoint/2010/main" val="3361660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661046"/>
            <a:ext cx="5375385" cy="5968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4198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524000"/>
            <a:ext cx="8229600" cy="4800600"/>
          </a:xfrm>
        </p:spPr>
        <p:txBody>
          <a:bodyPr>
            <a:normAutofit fontScale="92500"/>
          </a:bodyPr>
          <a:lstStyle/>
          <a:p>
            <a:pPr algn="r" rtl="1"/>
            <a:r>
              <a:rPr lang="ar-SA" dirty="0"/>
              <a:t>أ- يشير </a:t>
            </a:r>
            <a:r>
              <a:rPr lang="ar-SA" b="1" dirty="0"/>
              <a:t>اسم السياق</a:t>
            </a:r>
            <a:r>
              <a:rPr lang="ar-SA" dirty="0"/>
              <a:t> إلى مسمى فئة فرعية في عناصر قاعدة المعلومات الإدارية عند الوكيل. يفحص "فاكم" إن كان يوجد مدخل </a:t>
            </a:r>
            <a:r>
              <a:rPr lang="en-US" dirty="0"/>
              <a:t>Entry</a:t>
            </a:r>
            <a:r>
              <a:rPr lang="ar-SA" dirty="0"/>
              <a:t> في "جدول سياق فاكم" لاسم السياق المطلوب. إذا وجد المدخل، فإنه يكون قد تم معرفة السياق لآلة سنمب-ف3. إذا لم يوجد المدخل، فإنه يتم إرجاع رسالة بيان خطأ </a:t>
            </a:r>
            <a:r>
              <a:rPr lang="en-US" dirty="0" err="1"/>
              <a:t>errorIndication</a:t>
            </a:r>
            <a:r>
              <a:rPr lang="ar-SA" dirty="0"/>
              <a:t> إلى الراسل لتبين أنه لا يوجد هذا السياق </a:t>
            </a:r>
            <a:r>
              <a:rPr lang="en-US" dirty="0" err="1"/>
              <a:t>noSuchContext</a:t>
            </a:r>
            <a:r>
              <a:rPr lang="ar-SA" dirty="0"/>
              <a:t>. </a:t>
            </a:r>
            <a:endParaRPr lang="ar-SA" dirty="0" smtClean="0"/>
          </a:p>
          <a:p>
            <a:pPr marL="0" indent="0" algn="r" rtl="1">
              <a:buNone/>
            </a:pPr>
            <a:endParaRPr lang="en-US" dirty="0"/>
          </a:p>
          <a:p>
            <a:pPr algn="r" rtl="1"/>
            <a:r>
              <a:rPr lang="ar-SA" dirty="0"/>
              <a:t>ب- كل عملية يقوم بها الرئيس تتم </a:t>
            </a:r>
            <a:r>
              <a:rPr lang="ar-SA" b="1" dirty="0"/>
              <a:t>لنموذج أمني</a:t>
            </a:r>
            <a:r>
              <a:rPr lang="ar-SA" dirty="0"/>
              <a:t> معلوم، لمجموعة واحدة على الأكثر، وتحدد التهيئة امتيازات الدخول على أساس المجموعة. يفحص "فاكم" "جدول مجموعة أمن فاكم" لتحديد ما إذا كان تم طلب تخصيص مجموعة. إذا تم ذلك، فإن هذا الرئيس يقوم بالعمل تحت نموذج الأمن المعطى، ويكون عضواً في المجموعة المهيأة عند آلة سنمب-ف3 هذه. إذا لم يتم، فإنه يتم إرجاع إشارة بيان خطأ تبين أنه لا يوجد اسم للمجموعة.</a:t>
            </a:r>
            <a:endParaRPr lang="en-US" dirty="0"/>
          </a:p>
          <a:p>
            <a:pPr algn="r"/>
            <a:endParaRPr lang="en-US" dirty="0"/>
          </a:p>
        </p:txBody>
      </p:sp>
    </p:spTree>
    <p:extLst>
      <p:ext uri="{BB962C8B-B14F-4D97-AF65-F5344CB8AC3E}">
        <p14:creationId xmlns:p14="http://schemas.microsoft.com/office/powerpoint/2010/main" val="3599647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ar-SA" dirty="0"/>
              <a:t>ج- يستفسر نموذج </a:t>
            </a:r>
            <a:r>
              <a:rPr lang="ar-SA" dirty="0" smtClean="0"/>
              <a:t>"</a:t>
            </a:r>
            <a:r>
              <a:rPr lang="en-US" b="1" dirty="0" smtClean="0"/>
              <a:t>VACM</a:t>
            </a:r>
            <a:r>
              <a:rPr lang="ar-SA" dirty="0" smtClean="0"/>
              <a:t>" </a:t>
            </a:r>
            <a:r>
              <a:rPr lang="ar-SA" dirty="0"/>
              <a:t>بعد ذلك من "جدول دخول فاكم" باسم المجموعة، واسم السياق، ونموذج الأمن، </a:t>
            </a:r>
            <a:r>
              <a:rPr lang="ar-SA" b="1" dirty="0"/>
              <a:t>ومستوى الأمن</a:t>
            </a:r>
            <a:r>
              <a:rPr lang="ar-SA" dirty="0"/>
              <a:t> (الذي يبين التوثيق، والتوثيق مع الخصوصية، أو ليس أي منهما) وتستخدم هذه المتغيرات ككشافات </a:t>
            </a:r>
            <a:r>
              <a:rPr lang="en-US" dirty="0"/>
              <a:t>indices</a:t>
            </a:r>
            <a:r>
              <a:rPr lang="ar-SA" dirty="0"/>
              <a:t> معينة في البحث. عندما يوجد مدخل، فإن نظام تحكم الدخول يكون قد تم تحديده بواسطة اسم المجموعة التي تعمل عند نموذج الأمن المعطى في هذا المستوى الأمني. إذا لم يتم إيجاد مدخل، فإنه يتم إرسال إشارة بيان خطأ، تبين عدم وجود مدخل للدخول </a:t>
            </a:r>
            <a:r>
              <a:rPr lang="en-US" dirty="0" err="1"/>
              <a:t>noAccessEntry</a:t>
            </a:r>
            <a:r>
              <a:rPr lang="ar-SA" dirty="0"/>
              <a:t>.</a:t>
            </a:r>
            <a:endParaRPr lang="en-US" dirty="0"/>
          </a:p>
          <a:p>
            <a:pPr algn="r"/>
            <a:endParaRPr lang="en-US" dirty="0"/>
          </a:p>
        </p:txBody>
      </p:sp>
    </p:spTree>
    <p:extLst>
      <p:ext uri="{BB962C8B-B14F-4D97-AF65-F5344CB8AC3E}">
        <p14:creationId xmlns:p14="http://schemas.microsoft.com/office/powerpoint/2010/main" val="2171137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د- إن مرئية قاعدة المعلومات الإدارية هي عبارة عن هيكل لفئة فرعية من السياق. يحدد "فاكم" ما إذا كان "مدخل جدول دخول فاكم" يشتمل على مرجعية إلى </a:t>
            </a:r>
            <a:r>
              <a:rPr lang="ar-SA" b="1" dirty="0"/>
              <a:t>مرئية </a:t>
            </a:r>
            <a:r>
              <a:rPr lang="en-US" b="1" dirty="0"/>
              <a:t>MIB</a:t>
            </a:r>
            <a:r>
              <a:rPr lang="ar-SA" dirty="0"/>
              <a:t> ونوع مرئية (قراءة – كتابة – إبلاغ </a:t>
            </a:r>
            <a:r>
              <a:rPr lang="en-US" dirty="0"/>
              <a:t>notify</a:t>
            </a:r>
            <a:r>
              <a:rPr lang="ar-SA" dirty="0"/>
              <a:t>). إذا كان الأمر كذلك، يكون هذا المدخل محتوياً على اسم المرئية  </a:t>
            </a:r>
            <a:r>
              <a:rPr lang="en-US" dirty="0" err="1"/>
              <a:t>viewName</a:t>
            </a:r>
            <a:r>
              <a:rPr lang="ar-SA" dirty="0"/>
              <a:t> لهذا </a:t>
            </a:r>
            <a:r>
              <a:rPr lang="ar-SA" u="sng" dirty="0"/>
              <a:t>الاتحاد المتكون من</a:t>
            </a:r>
            <a:r>
              <a:rPr lang="ar-SA" dirty="0"/>
              <a:t>:</a:t>
            </a:r>
            <a:endParaRPr lang="en-US" dirty="0"/>
          </a:p>
          <a:p>
            <a:pPr algn="r" rtl="1"/>
            <a:r>
              <a:rPr lang="ar-SA" dirty="0"/>
              <a:t>اسم المجموعة </a:t>
            </a:r>
            <a:r>
              <a:rPr lang="en-US" dirty="0" err="1"/>
              <a:t>groupName</a:t>
            </a:r>
            <a:r>
              <a:rPr lang="ar-SA" dirty="0"/>
              <a:t>، اسم السياق </a:t>
            </a:r>
            <a:r>
              <a:rPr lang="en-US" dirty="0" err="1"/>
              <a:t>contextName</a:t>
            </a:r>
            <a:r>
              <a:rPr lang="ar-SA" dirty="0"/>
              <a:t>، نموذج الأمن </a:t>
            </a:r>
            <a:r>
              <a:rPr lang="en-US" dirty="0" err="1"/>
              <a:t>securityModel</a:t>
            </a:r>
            <a:r>
              <a:rPr lang="ar-SA" dirty="0"/>
              <a:t> ، مستوى الأمن </a:t>
            </a:r>
            <a:r>
              <a:rPr lang="en-US" dirty="0" err="1"/>
              <a:t>securityLevel</a:t>
            </a:r>
            <a:r>
              <a:rPr lang="ar-SA" dirty="0"/>
              <a:t> ، نوع المرئية  </a:t>
            </a:r>
            <a:r>
              <a:rPr lang="en-US" dirty="0" err="1"/>
              <a:t>viewType</a:t>
            </a:r>
            <a:r>
              <a:rPr lang="ar-SA" dirty="0"/>
              <a:t>.</a:t>
            </a:r>
            <a:endParaRPr lang="en-US" dirty="0"/>
          </a:p>
          <a:p>
            <a:pPr algn="r" rtl="1"/>
            <a:r>
              <a:rPr lang="ar-SA" dirty="0"/>
              <a:t>إذا لم يكن الأمر كذلك، يتم إرجاع بيان خطأ ليوضح عدم إيجاد هذه المرئية </a:t>
            </a:r>
            <a:r>
              <a:rPr lang="en-US" dirty="0" err="1"/>
              <a:t>noSuchView</a:t>
            </a:r>
            <a:r>
              <a:rPr lang="ar-SA" dirty="0"/>
              <a:t>.</a:t>
            </a:r>
            <a:endParaRPr lang="en-US" dirty="0"/>
          </a:p>
          <a:p>
            <a:endParaRPr lang="en-US" dirty="0"/>
          </a:p>
        </p:txBody>
      </p:sp>
    </p:spTree>
    <p:extLst>
      <p:ext uri="{BB962C8B-B14F-4D97-AF65-F5344CB8AC3E}">
        <p14:creationId xmlns:p14="http://schemas.microsoft.com/office/powerpoint/2010/main" val="4083864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dirty="0"/>
              <a:t>هـ- يستخدم اسم المرئية (من الخطوة السابقة) كشافا </a:t>
            </a:r>
            <a:r>
              <a:rPr lang="en-US" dirty="0"/>
              <a:t>index</a:t>
            </a:r>
            <a:r>
              <a:rPr lang="ar-SA" dirty="0"/>
              <a:t> في "جدول عائلة شجرة المرئية" . إذا وجدت مرئية </a:t>
            </a:r>
            <a:r>
              <a:rPr lang="en-US" dirty="0"/>
              <a:t>MIB</a:t>
            </a:r>
            <a:r>
              <a:rPr lang="ar-SA" dirty="0"/>
              <a:t> ، يكون قد تم تهيئتها لاسم المرئية المعطى. إذا لم توجد المرئية، يتم إرجاع بيان خطأ يوضح عدم وجود هذه المرئية </a:t>
            </a:r>
            <a:r>
              <a:rPr lang="en-US" dirty="0" err="1"/>
              <a:t>noSuchView</a:t>
            </a:r>
            <a:r>
              <a:rPr lang="ar-SA" dirty="0"/>
              <a:t>. </a:t>
            </a:r>
            <a:endParaRPr lang="en-US" dirty="0"/>
          </a:p>
          <a:p>
            <a:pPr algn="r" rtl="1"/>
            <a:r>
              <a:rPr lang="ar-SA" dirty="0"/>
              <a:t>و- يفحص "فاكم" </a:t>
            </a:r>
            <a:r>
              <a:rPr lang="ar-SA" b="1" dirty="0"/>
              <a:t>اسم المتغير</a:t>
            </a:r>
            <a:r>
              <a:rPr lang="ar-SA" dirty="0"/>
              <a:t> </a:t>
            </a:r>
            <a:r>
              <a:rPr lang="en-US" dirty="0" err="1"/>
              <a:t>variableName</a:t>
            </a:r>
            <a:r>
              <a:rPr lang="ar-SA" dirty="0"/>
              <a:t> مقابل مرئية </a:t>
            </a:r>
            <a:r>
              <a:rPr lang="en-US" dirty="0"/>
              <a:t>MIB</a:t>
            </a:r>
            <a:r>
              <a:rPr lang="ar-SA" dirty="0"/>
              <a:t> التي تم اختيارها. إذا شملت المرئية على هذا المتغير، يتم إرجاع بيان حالة </a:t>
            </a:r>
            <a:r>
              <a:rPr lang="en-US" dirty="0" err="1"/>
              <a:t>statusInformation</a:t>
            </a:r>
            <a:r>
              <a:rPr lang="ar-SA" dirty="0"/>
              <a:t> ليوضح سماحية الدخول</a:t>
            </a:r>
            <a:r>
              <a:rPr lang="en-US" dirty="0"/>
              <a:t> </a:t>
            </a:r>
            <a:r>
              <a:rPr lang="en-US" dirty="0" err="1"/>
              <a:t>accessAllowed</a:t>
            </a:r>
            <a:r>
              <a:rPr lang="ar-SA" dirty="0"/>
              <a:t>. إذا لم تحتوي المرئية على هذا المتغير، يتم إرجاع بيان خطأ ليوضح عدم وجود هذا المتغير في المرئية </a:t>
            </a:r>
            <a:r>
              <a:rPr lang="en-US" dirty="0" err="1"/>
              <a:t>notInView</a:t>
            </a:r>
            <a:r>
              <a:rPr lang="ar-SA" dirty="0"/>
              <a:t>. </a:t>
            </a:r>
            <a:endParaRPr lang="en-US" dirty="0"/>
          </a:p>
        </p:txBody>
      </p:sp>
    </p:spTree>
    <p:extLst>
      <p:ext uri="{BB962C8B-B14F-4D97-AF65-F5344CB8AC3E}">
        <p14:creationId xmlns:p14="http://schemas.microsoft.com/office/powerpoint/2010/main" val="4197091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تحقيق العمليات المنطقية داخل نظام "فاكم"</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r" rtl="1"/>
            <a:r>
              <a:rPr lang="ar-SA" b="1" dirty="0"/>
              <a:t> </a:t>
            </a:r>
            <a:endParaRPr lang="en-US" dirty="0"/>
          </a:p>
          <a:p>
            <a:pPr algn="r" rtl="1"/>
            <a:r>
              <a:rPr lang="ar-SA" dirty="0"/>
              <a:t>يمكن شرح تحقيق العمليات المنطقية داخل نظام "فاكم</a:t>
            </a:r>
            <a:r>
              <a:rPr lang="ar-SA" b="1" dirty="0"/>
              <a:t>"، </a:t>
            </a:r>
            <a:r>
              <a:rPr lang="ar-SA" dirty="0"/>
              <a:t>بطريقة سهلة، يتم تحديدها بواسطة النظام الفرعي </a:t>
            </a:r>
            <a:r>
              <a:rPr lang="en-US" dirty="0"/>
              <a:t>subsystem</a:t>
            </a:r>
            <a:r>
              <a:rPr lang="ar-SA" dirty="0"/>
              <a:t> للتحكم في الدخول. ويتم ذلك بتوفير أداة مرنة جدا لتهيئة تحكم الدخول عند الوكيل، وذلك بتقسيم مكونات قرار تحكم الدخول إلى ستة متغيرات منفصلة. يوضح الشكل2.12 هذه الطريقة، حيث يتم إدخال متغيرات الدخول منفصلة إلى جداول مختلفة في قاعدة المعلومات الإدارية لنموذج "فاكم" تعين في اتخاذ قرار الدخول. وتشمل هذه المتغيرات ما يلي</a:t>
            </a:r>
            <a:r>
              <a:rPr lang="ar-SA" dirty="0" smtClean="0"/>
              <a:t>:</a:t>
            </a:r>
            <a:endParaRPr lang="en-US" dirty="0"/>
          </a:p>
        </p:txBody>
      </p:sp>
    </p:spTree>
    <p:extLst>
      <p:ext uri="{BB962C8B-B14F-4D97-AF65-F5344CB8AC3E}">
        <p14:creationId xmlns:p14="http://schemas.microsoft.com/office/powerpoint/2010/main" val="2422288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r" rtl="1"/>
            <a:r>
              <a:rPr lang="ar-SA" b="1" u="sng" dirty="0"/>
              <a:t>من </a:t>
            </a:r>
            <a:r>
              <a:rPr lang="en-US" b="1" u="sng" dirty="0"/>
              <a:t>who</a:t>
            </a:r>
            <a:r>
              <a:rPr lang="ar-SA" b="1" u="sng" dirty="0"/>
              <a:t>: (تحديد المجموعة)</a:t>
            </a:r>
            <a:endParaRPr lang="en-US" dirty="0"/>
          </a:p>
          <a:p>
            <a:pPr algn="r" rtl="1"/>
            <a:r>
              <a:rPr lang="ar-SA" dirty="0"/>
              <a:t>يتم تحديد العملية "من" باتحاد كل من اسم الأمن، ونموذج الأمن . يتم تحديد رئيس معطى تكون اتصالاته محمية بواسطة نموذج الأمن المعطى. وهذا الاتحاد </a:t>
            </a:r>
            <a:r>
              <a:rPr lang="en-US" dirty="0"/>
              <a:t>combination</a:t>
            </a:r>
            <a:r>
              <a:rPr lang="ar-SA" dirty="0"/>
              <a:t> ينتمي على الأغلب إلى مجموعة واحدة عند آلة سنمب-ف3.</a:t>
            </a:r>
          </a:p>
          <a:p>
            <a:pPr algn="r" rtl="1"/>
            <a:r>
              <a:rPr lang="ar-SA" b="1" u="sng" dirty="0"/>
              <a:t>أين </a:t>
            </a:r>
            <a:r>
              <a:rPr lang="en-US" b="1" u="sng" dirty="0"/>
              <a:t>where</a:t>
            </a:r>
            <a:r>
              <a:rPr lang="ar-SA" b="1" u="sng" dirty="0"/>
              <a:t>: (تحديد المكان)</a:t>
            </a:r>
            <a:endParaRPr lang="en-US" dirty="0"/>
          </a:p>
          <a:p>
            <a:pPr algn="r" rtl="1"/>
            <a:r>
              <a:rPr lang="ar-SA" dirty="0"/>
              <a:t>يحدد اسم السياق أين نجد العنصر الإداري المرغوب. يحتوي "جدول سياق فاكم" على قائمة بأسماء السياقات التي يمكن التعرف عليها. </a:t>
            </a:r>
            <a:endParaRPr lang="en-US" dirty="0"/>
          </a:p>
          <a:p>
            <a:pPr algn="r" rtl="1"/>
            <a:r>
              <a:rPr lang="ar-SA" b="1" u="sng" dirty="0"/>
              <a:t>كيف </a:t>
            </a:r>
            <a:r>
              <a:rPr lang="en-US" b="1" u="sng" dirty="0"/>
              <a:t>how </a:t>
            </a:r>
            <a:r>
              <a:rPr lang="ar-SA" b="1" u="sng" dirty="0"/>
              <a:t>:(مدى السرية/الحماية)</a:t>
            </a:r>
            <a:endParaRPr lang="en-US" dirty="0"/>
          </a:p>
          <a:p>
            <a:pPr algn="r" rtl="1"/>
            <a:r>
              <a:rPr lang="ar-SA" dirty="0"/>
              <a:t>بواسطة اتحاد كل من مستوى الأمن، ونموذج الأمن يتم تحديد كيفية حماية الطلب القادم، أو رسالة إعلام وحدة </a:t>
            </a:r>
            <a:r>
              <a:rPr lang="en-US" dirty="0"/>
              <a:t>PDU</a:t>
            </a:r>
            <a:r>
              <a:rPr lang="ar-SA" dirty="0"/>
              <a:t> قادمة، وأن الاتحاد الثلاثي بين "من" ، "أين" ، و "كيف" يحدد المدخل صفراً، وهو مدخل واحد إلى "جدول دخول فاكم".</a:t>
            </a:r>
            <a:endParaRPr lang="en-US" dirty="0"/>
          </a:p>
          <a:p>
            <a:endParaRPr lang="en-US" dirty="0"/>
          </a:p>
        </p:txBody>
      </p:sp>
    </p:spTree>
    <p:extLst>
      <p:ext uri="{BB962C8B-B14F-4D97-AF65-F5344CB8AC3E}">
        <p14:creationId xmlns:p14="http://schemas.microsoft.com/office/powerpoint/2010/main" val="24972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r" rtl="1"/>
            <a:r>
              <a:rPr lang="ar-SA" b="1" u="sng" dirty="0"/>
              <a:t>لماذا </a:t>
            </a:r>
            <a:r>
              <a:rPr lang="en-US" b="1" u="sng" dirty="0"/>
              <a:t>why</a:t>
            </a:r>
            <a:r>
              <a:rPr lang="ar-SA" b="1" u="sng" dirty="0"/>
              <a:t>: (تحديد هدف الدخول) </a:t>
            </a:r>
            <a:endParaRPr lang="en-US" dirty="0"/>
          </a:p>
          <a:p>
            <a:pPr algn="r" rtl="1"/>
            <a:r>
              <a:rPr lang="ar-SA" dirty="0"/>
              <a:t>يحدد "نوع المرئية" لماذا تم طلب الدخول: لأجل عملية قراءة، كتابة، أم تبليغ </a:t>
            </a:r>
            <a:r>
              <a:rPr lang="en-US" dirty="0"/>
              <a:t>notify</a:t>
            </a:r>
            <a:r>
              <a:rPr lang="ar-SA" dirty="0"/>
              <a:t>. يحتوي المدخل الذي تم اختياره في "جدول دخول فاكم" اسم مرئية قاعدة معلومات إدارية واحدة لكل ثلاثة أنواع من هذه العمليات، ويستخدم نوع المرئية لاختيار اسم مرئية محدد. يحدد "اسم المرئية" مرئية قاعدة المعلومات الإدارية المناسبة من "جدول عائلة شجرة مرئية فاكم". </a:t>
            </a:r>
            <a:endParaRPr lang="en-US" dirty="0"/>
          </a:p>
          <a:p>
            <a:pPr algn="r"/>
            <a:endParaRPr lang="en-US" dirty="0"/>
          </a:p>
        </p:txBody>
      </p:sp>
    </p:spTree>
    <p:extLst>
      <p:ext uri="{BB962C8B-B14F-4D97-AF65-F5344CB8AC3E}">
        <p14:creationId xmlns:p14="http://schemas.microsoft.com/office/powerpoint/2010/main" val="1610757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b="1" u="sng" dirty="0"/>
              <a:t>ما </a:t>
            </a:r>
            <a:r>
              <a:rPr lang="en-US" b="1" u="sng" dirty="0"/>
              <a:t>what </a:t>
            </a:r>
            <a:r>
              <a:rPr lang="ar-SA" b="1" u="sng" dirty="0"/>
              <a:t>:(تحديد نوع العنصر)</a:t>
            </a:r>
            <a:endParaRPr lang="en-US" dirty="0"/>
          </a:p>
          <a:p>
            <a:pPr algn="r" rtl="1"/>
            <a:r>
              <a:rPr lang="ar-SA" dirty="0"/>
              <a:t>يحدد اسم المتغير </a:t>
            </a:r>
            <a:r>
              <a:rPr lang="en-US" dirty="0" err="1"/>
              <a:t>variableName</a:t>
            </a:r>
            <a:r>
              <a:rPr lang="ar-SA" dirty="0"/>
              <a:t> عنصراً محدداً، الذي تحدد بادئُتهُ </a:t>
            </a:r>
            <a:r>
              <a:rPr lang="en-US" dirty="0"/>
              <a:t>prefix</a:t>
            </a:r>
            <a:r>
              <a:rPr lang="ar-SA" dirty="0"/>
              <a:t> نوعَ العنصر، وتحدد لاحقتُه </a:t>
            </a:r>
            <a:r>
              <a:rPr lang="en-US" dirty="0"/>
              <a:t>suffix</a:t>
            </a:r>
            <a:r>
              <a:rPr lang="ar-SA" dirty="0"/>
              <a:t> مثيل العنصر. يبين نوع العنصر ما هية نوع المعلومات الإدارية المطلوبة.</a:t>
            </a:r>
            <a:endParaRPr lang="en-US" dirty="0"/>
          </a:p>
          <a:p>
            <a:pPr algn="r" rtl="1"/>
            <a:r>
              <a:rPr lang="ar-SA" b="1" u="sng" dirty="0"/>
              <a:t>أي </a:t>
            </a:r>
            <a:r>
              <a:rPr lang="en-US" b="1" u="sng" dirty="0"/>
              <a:t>which</a:t>
            </a:r>
            <a:r>
              <a:rPr lang="ar-SA" b="1" u="sng" dirty="0"/>
              <a:t>: (تحديد مثيل العنصر)</a:t>
            </a:r>
            <a:endParaRPr lang="en-US" dirty="0"/>
          </a:p>
          <a:p>
            <a:pPr algn="r" rtl="1"/>
            <a:r>
              <a:rPr lang="ar-SA" dirty="0"/>
              <a:t>يبين مثيل العنصر </a:t>
            </a:r>
            <a:r>
              <a:rPr lang="en-US" dirty="0"/>
              <a:t>object instance</a:t>
            </a:r>
            <a:r>
              <a:rPr lang="ar-SA" dirty="0"/>
              <a:t> أية بند محدد من المعلومات تم طلبه. أخيرا يتم مقارنة اسم المتغير</a:t>
            </a:r>
            <a:r>
              <a:rPr lang="en-US" dirty="0"/>
              <a:t> </a:t>
            </a:r>
            <a:r>
              <a:rPr lang="en-US" dirty="0" err="1"/>
              <a:t>varaibleName</a:t>
            </a:r>
            <a:r>
              <a:rPr lang="ar-SA" dirty="0"/>
              <a:t>، ومرئية قاعدة المعلومات الإدارية </a:t>
            </a:r>
            <a:r>
              <a:rPr lang="en-US" dirty="0"/>
              <a:t>MIB view</a:t>
            </a:r>
            <a:r>
              <a:rPr lang="ar-SA" dirty="0"/>
              <a:t> التي تم استرجاعها. عندما يحدث توافق بين اسم المتغير والعنصر الموجود في المرئية، بعد ذلك يتم منح الدخول.</a:t>
            </a:r>
            <a:endParaRPr lang="en-US" dirty="0"/>
          </a:p>
          <a:p>
            <a:endParaRPr lang="en-US" dirty="0"/>
          </a:p>
        </p:txBody>
      </p:sp>
    </p:spTree>
    <p:extLst>
      <p:ext uri="{BB962C8B-B14F-4D97-AF65-F5344CB8AC3E}">
        <p14:creationId xmlns:p14="http://schemas.microsoft.com/office/powerpoint/2010/main" val="2334360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8042629" cy="5834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1875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مكونات شكل رسالة "سنمب-- ف3"</a:t>
            </a:r>
            <a:r>
              <a:rPr lang="en-US" dirty="0"/>
              <a:t/>
            </a:r>
            <a:br>
              <a:rPr lang="en-US" dirty="0"/>
            </a:br>
            <a:endParaRPr lang="en-US" dirty="0"/>
          </a:p>
        </p:txBody>
      </p:sp>
      <p:sp>
        <p:nvSpPr>
          <p:cNvPr id="3" name="Content Placeholder 2"/>
          <p:cNvSpPr>
            <a:spLocks noGrp="1"/>
          </p:cNvSpPr>
          <p:nvPr>
            <p:ph idx="1"/>
          </p:nvPr>
        </p:nvSpPr>
        <p:spPr>
          <a:xfrm>
            <a:off x="457200" y="1295400"/>
            <a:ext cx="8229600" cy="5029200"/>
          </a:xfrm>
        </p:spPr>
        <p:txBody>
          <a:bodyPr/>
          <a:lstStyle/>
          <a:p>
            <a:pPr algn="r" rtl="1"/>
            <a:r>
              <a:rPr lang="ar-SA" dirty="0"/>
              <a:t>يوضح الشكل2.13 مكونات شكل رسالة بروتوكول "سنمب- ف3"، وهي تتكون من أربعة أجزاء </a:t>
            </a:r>
            <a:r>
              <a:rPr lang="ar-SA" u="sng" dirty="0"/>
              <a:t>رئيسية هي كما يلي:</a:t>
            </a:r>
            <a:endParaRPr lang="en-US" dirty="0"/>
          </a:p>
          <a:p>
            <a:pPr algn="r" rtl="1"/>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667000"/>
            <a:ext cx="7620256" cy="3900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8385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ar-SA" b="1" dirty="0"/>
              <a:t>مكونات شكل رسالة "سنمب-- ف3</a:t>
            </a:r>
            <a:r>
              <a:rPr lang="ar-SA" b="1" dirty="0" smtClean="0"/>
              <a:t>"</a:t>
            </a:r>
            <a:endParaRPr lang="en-US" dirty="0"/>
          </a:p>
        </p:txBody>
      </p:sp>
      <p:sp>
        <p:nvSpPr>
          <p:cNvPr id="3" name="Content Placeholder 2"/>
          <p:cNvSpPr>
            <a:spLocks noGrp="1"/>
          </p:cNvSpPr>
          <p:nvPr>
            <p:ph idx="1"/>
          </p:nvPr>
        </p:nvSpPr>
        <p:spPr/>
        <p:txBody>
          <a:bodyPr>
            <a:normAutofit fontScale="92500" lnSpcReduction="20000"/>
          </a:bodyPr>
          <a:lstStyle/>
          <a:p>
            <a:pPr algn="r" rtl="1"/>
            <a:r>
              <a:rPr lang="ar-SA" u="sng" dirty="0"/>
              <a:t>أ- </a:t>
            </a:r>
            <a:r>
              <a:rPr lang="ar-SA" b="1" u="sng" dirty="0"/>
              <a:t>البيانات العامة</a:t>
            </a:r>
            <a:r>
              <a:rPr lang="ar-SA" dirty="0"/>
              <a:t> </a:t>
            </a:r>
            <a:r>
              <a:rPr lang="en-US" dirty="0"/>
              <a:t>Common Data</a:t>
            </a:r>
            <a:r>
              <a:rPr lang="ar-SA" dirty="0"/>
              <a:t>، وتكون موجودة في كل رسائل "سنمب- ف3". وتتكون من خمسة عناصر هي: نوع الإصدار </a:t>
            </a:r>
            <a:r>
              <a:rPr lang="en-US" dirty="0" err="1"/>
              <a:t>msgVersion</a:t>
            </a:r>
            <a:r>
              <a:rPr lang="ar-SA" dirty="0"/>
              <a:t>، ورقم الرسالة </a:t>
            </a:r>
            <a:r>
              <a:rPr lang="en-US" dirty="0" err="1"/>
              <a:t>msgID</a:t>
            </a:r>
            <a:r>
              <a:rPr lang="en-US" dirty="0"/>
              <a:t> </a:t>
            </a:r>
            <a:r>
              <a:rPr lang="ar-SA" dirty="0"/>
              <a:t>، وأقصي حجم للرسالة </a:t>
            </a:r>
            <a:r>
              <a:rPr lang="en-US" dirty="0" err="1"/>
              <a:t>msgMaxSize</a:t>
            </a:r>
            <a:r>
              <a:rPr lang="ar-SA" dirty="0"/>
              <a:t>، وأعلام الرسالة </a:t>
            </a:r>
            <a:r>
              <a:rPr lang="en-US" dirty="0" err="1"/>
              <a:t>msgFlags</a:t>
            </a:r>
            <a:r>
              <a:rPr lang="ar-SA" dirty="0"/>
              <a:t>، وأمن الرسالة </a:t>
            </a:r>
            <a:r>
              <a:rPr lang="en-US" dirty="0" err="1"/>
              <a:t>msgSecurity</a:t>
            </a:r>
            <a:r>
              <a:rPr lang="ar-SA" dirty="0"/>
              <a:t> . </a:t>
            </a:r>
            <a:endParaRPr lang="en-US" dirty="0"/>
          </a:p>
          <a:p>
            <a:pPr algn="r" rtl="1"/>
            <a:r>
              <a:rPr lang="ar-SA" u="sng" dirty="0"/>
              <a:t>ب</a:t>
            </a:r>
            <a:r>
              <a:rPr lang="ar-SA" b="1" u="sng" dirty="0"/>
              <a:t>- بيانات نموذج الأمن</a:t>
            </a:r>
            <a:r>
              <a:rPr lang="ar-SA" dirty="0"/>
              <a:t> </a:t>
            </a:r>
            <a:r>
              <a:rPr lang="en-US" dirty="0"/>
              <a:t>Security Model Data</a:t>
            </a:r>
            <a:r>
              <a:rPr lang="ar-SA" dirty="0"/>
              <a:t>، وتشمل ثلاثة أجزاء، هي: جزء عام، وجزء خاص بالتوثيق، وجزء يحدد البيانات الخصوصية</a:t>
            </a:r>
            <a:r>
              <a:rPr lang="en-US" dirty="0"/>
              <a:t> Privacy Data </a:t>
            </a:r>
            <a:r>
              <a:rPr lang="ar-SA" dirty="0"/>
              <a:t>. </a:t>
            </a:r>
            <a:endParaRPr lang="en-US" dirty="0"/>
          </a:p>
          <a:p>
            <a:pPr algn="r" rtl="1"/>
            <a:r>
              <a:rPr lang="ar-SA" u="sng" dirty="0"/>
              <a:t>يتكون الجزء العام من أربعة مكونات هي</a:t>
            </a:r>
            <a:r>
              <a:rPr lang="ar-SA" dirty="0"/>
              <a:t>:</a:t>
            </a:r>
            <a:endParaRPr lang="en-US" dirty="0"/>
          </a:p>
          <a:p>
            <a:pPr algn="r" rtl="1"/>
            <a:r>
              <a:rPr lang="ar-SA" dirty="0"/>
              <a:t>هوية الآلة </a:t>
            </a:r>
            <a:r>
              <a:rPr lang="en-US" dirty="0" err="1"/>
              <a:t>EngineID</a:t>
            </a:r>
            <a:r>
              <a:rPr lang="ar-SA" dirty="0"/>
              <a:t>، تشغيلات الآلة </a:t>
            </a:r>
            <a:r>
              <a:rPr lang="en-US" dirty="0" err="1"/>
              <a:t>EngineBoots</a:t>
            </a:r>
            <a:r>
              <a:rPr lang="ar-SA" dirty="0"/>
              <a:t>، زمن الآلة </a:t>
            </a:r>
            <a:r>
              <a:rPr lang="en-US" dirty="0" err="1"/>
              <a:t>EngineTime</a:t>
            </a:r>
            <a:r>
              <a:rPr lang="ar-SA" dirty="0"/>
              <a:t> ، اسم المستخدم </a:t>
            </a:r>
            <a:r>
              <a:rPr lang="en-US" dirty="0" err="1"/>
              <a:t>UserName</a:t>
            </a:r>
            <a:r>
              <a:rPr lang="ar-SA" dirty="0"/>
              <a:t> .</a:t>
            </a:r>
            <a:endParaRPr lang="en-US" dirty="0"/>
          </a:p>
          <a:p>
            <a:pPr algn="r" rtl="1"/>
            <a:r>
              <a:rPr lang="ar-SA" u="sng" dirty="0"/>
              <a:t>يتكون الجزء الخاص بالتوثيق</a:t>
            </a:r>
            <a:r>
              <a:rPr lang="ar-SA" dirty="0"/>
              <a:t> من: رسالة الاستيعاب </a:t>
            </a:r>
            <a:r>
              <a:rPr lang="en-US" dirty="0"/>
              <a:t>MD5</a:t>
            </a:r>
            <a:r>
              <a:rPr lang="ar-SA" dirty="0"/>
              <a:t>، وخوارزم الأمن </a:t>
            </a:r>
            <a:r>
              <a:rPr lang="en-US" dirty="0"/>
              <a:t>SHA</a:t>
            </a:r>
            <a:r>
              <a:rPr lang="ar-SA" dirty="0"/>
              <a:t> .</a:t>
            </a:r>
            <a:endParaRPr lang="en-US" dirty="0"/>
          </a:p>
          <a:p>
            <a:pPr algn="r" rtl="1"/>
            <a:r>
              <a:rPr lang="ar-SA" dirty="0"/>
              <a:t>ويعتمد جزء البيانات الخاص بالخصوصية على مفتاح التشفير </a:t>
            </a:r>
            <a:r>
              <a:rPr lang="en-US" dirty="0"/>
              <a:t>DES Key</a:t>
            </a:r>
          </a:p>
        </p:txBody>
      </p:sp>
    </p:spTree>
    <p:extLst>
      <p:ext uri="{BB962C8B-B14F-4D97-AF65-F5344CB8AC3E}">
        <p14:creationId xmlns:p14="http://schemas.microsoft.com/office/powerpoint/2010/main" val="3103972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r" rtl="1"/>
            <a:r>
              <a:rPr lang="ar-SA" u="sng" dirty="0"/>
              <a:t>ج- </a:t>
            </a:r>
            <a:r>
              <a:rPr lang="ar-SA" b="1" u="sng" dirty="0"/>
              <a:t>السياق (أو الحوار)  </a:t>
            </a:r>
            <a:r>
              <a:rPr lang="en-US" b="1" u="sng" dirty="0"/>
              <a:t>Context</a:t>
            </a:r>
            <a:endParaRPr lang="en-US" dirty="0"/>
          </a:p>
          <a:p>
            <a:pPr algn="r" rtl="1"/>
            <a:r>
              <a:rPr lang="ar-SA" dirty="0"/>
              <a:t>يستخدم لتوفير السياق الصحيح الذي ينبغي أن تقوم بمعالجته وحدة البيانات البروتوكولية </a:t>
            </a:r>
            <a:r>
              <a:rPr lang="en-US" dirty="0"/>
              <a:t>Protocol Data Unit (PDU)</a:t>
            </a:r>
            <a:r>
              <a:rPr lang="ar-SA" dirty="0"/>
              <a:t>. ويتكون من: اسم السياق </a:t>
            </a:r>
            <a:r>
              <a:rPr lang="en-US" dirty="0" err="1"/>
              <a:t>contextName</a:t>
            </a:r>
            <a:r>
              <a:rPr lang="ar-SA" dirty="0"/>
              <a:t>، وهوية السياق </a:t>
            </a:r>
            <a:r>
              <a:rPr lang="en-US" dirty="0" err="1"/>
              <a:t>contextEngineID</a:t>
            </a:r>
            <a:r>
              <a:rPr lang="ar-SA" dirty="0"/>
              <a:t>. </a:t>
            </a:r>
            <a:endParaRPr lang="en-US" dirty="0"/>
          </a:p>
          <a:p>
            <a:pPr algn="r" rtl="1"/>
            <a:r>
              <a:rPr lang="ar-SA" u="sng" dirty="0"/>
              <a:t>د</a:t>
            </a:r>
            <a:r>
              <a:rPr lang="ar-SA" b="1" u="sng" dirty="0"/>
              <a:t>- وحدة بيانات البروتوكول </a:t>
            </a:r>
            <a:r>
              <a:rPr lang="en-US" b="1" u="sng" dirty="0"/>
              <a:t>PDU</a:t>
            </a:r>
            <a:endParaRPr lang="en-US" dirty="0"/>
          </a:p>
          <a:p>
            <a:pPr algn="r" rtl="1"/>
            <a:r>
              <a:rPr lang="ar-SA" dirty="0"/>
              <a:t>وهي تحتوي على وحدة بيانات البروتوكول الخاصة بالبروتوكول "سنمب-ف3" . وتتكون من أعلام الرسالة </a:t>
            </a:r>
            <a:r>
              <a:rPr lang="en-US" dirty="0" err="1"/>
              <a:t>msgFlags</a:t>
            </a:r>
            <a:r>
              <a:rPr lang="ar-SA" dirty="0"/>
              <a:t>. </a:t>
            </a:r>
            <a:endParaRPr lang="en-US" dirty="0"/>
          </a:p>
          <a:p>
            <a:pPr algn="r"/>
            <a:endParaRPr lang="en-US" dirty="0"/>
          </a:p>
        </p:txBody>
      </p:sp>
    </p:spTree>
    <p:extLst>
      <p:ext uri="{BB962C8B-B14F-4D97-AF65-F5344CB8AC3E}">
        <p14:creationId xmlns:p14="http://schemas.microsoft.com/office/powerpoint/2010/main" val="5198886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416706413"/>
              </p:ext>
            </p:extLst>
          </p:nvPr>
        </p:nvGraphicFramePr>
        <p:xfrm>
          <a:off x="381000" y="228600"/>
          <a:ext cx="8610600" cy="6629400"/>
        </p:xfrm>
        <a:graphic>
          <a:graphicData uri="http://schemas.openxmlformats.org/presentationml/2006/ole">
            <mc:AlternateContent xmlns:mc="http://schemas.openxmlformats.org/markup-compatibility/2006">
              <mc:Choice xmlns:v="urn:schemas-microsoft-com:vml" Requires="v">
                <p:oleObj spid="_x0000_s4109" name="Document" r:id="rId3" imgW="5469826" imgH="6592398" progId="Word.Document.12">
                  <p:embed/>
                </p:oleObj>
              </mc:Choice>
              <mc:Fallback>
                <p:oleObj name="Document" r:id="rId3" imgW="5469826" imgH="6592398" progId="Word.Document.12">
                  <p:embed/>
                  <p:pic>
                    <p:nvPicPr>
                      <p:cNvPr id="0" name=""/>
                      <p:cNvPicPr/>
                      <p:nvPr/>
                    </p:nvPicPr>
                    <p:blipFill>
                      <a:blip r:embed="rId4"/>
                      <a:stretch>
                        <a:fillRect/>
                      </a:stretch>
                    </p:blipFill>
                    <p:spPr>
                      <a:xfrm>
                        <a:off x="381000" y="228600"/>
                        <a:ext cx="8610600" cy="6629400"/>
                      </a:xfrm>
                      <a:prstGeom prst="rect">
                        <a:avLst/>
                      </a:prstGeom>
                    </p:spPr>
                  </p:pic>
                </p:oleObj>
              </mc:Fallback>
            </mc:AlternateContent>
          </a:graphicData>
        </a:graphic>
      </p:graphicFrame>
    </p:spTree>
    <p:extLst>
      <p:ext uri="{BB962C8B-B14F-4D97-AF65-F5344CB8AC3E}">
        <p14:creationId xmlns:p14="http://schemas.microsoft.com/office/powerpoint/2010/main" val="33626444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3828651350"/>
              </p:ext>
            </p:extLst>
          </p:nvPr>
        </p:nvGraphicFramePr>
        <p:xfrm>
          <a:off x="914400" y="62297"/>
          <a:ext cx="7543800" cy="7024303"/>
        </p:xfrm>
        <a:graphic>
          <a:graphicData uri="http://schemas.openxmlformats.org/presentationml/2006/ole">
            <mc:AlternateContent xmlns:mc="http://schemas.openxmlformats.org/markup-compatibility/2006">
              <mc:Choice xmlns:v="urn:schemas-microsoft-com:vml" Requires="v">
                <p:oleObj spid="_x0000_s5133" name="Document" r:id="rId3" imgW="5469826" imgH="7369671" progId="Word.Document.12">
                  <p:embed/>
                </p:oleObj>
              </mc:Choice>
              <mc:Fallback>
                <p:oleObj name="Document" r:id="rId3" imgW="5469826" imgH="7369671" progId="Word.Document.12">
                  <p:embed/>
                  <p:pic>
                    <p:nvPicPr>
                      <p:cNvPr id="0" name=""/>
                      <p:cNvPicPr/>
                      <p:nvPr/>
                    </p:nvPicPr>
                    <p:blipFill>
                      <a:blip r:embed="rId4"/>
                      <a:stretch>
                        <a:fillRect/>
                      </a:stretch>
                    </p:blipFill>
                    <p:spPr>
                      <a:xfrm>
                        <a:off x="914400" y="62297"/>
                        <a:ext cx="7543800" cy="7024303"/>
                      </a:xfrm>
                      <a:prstGeom prst="rect">
                        <a:avLst/>
                      </a:prstGeom>
                    </p:spPr>
                  </p:pic>
                </p:oleObj>
              </mc:Fallback>
            </mc:AlternateContent>
          </a:graphicData>
        </a:graphic>
      </p:graphicFrame>
    </p:spTree>
    <p:extLst>
      <p:ext uri="{BB962C8B-B14F-4D97-AF65-F5344CB8AC3E}">
        <p14:creationId xmlns:p14="http://schemas.microsoft.com/office/powerpoint/2010/main" val="2715510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r" rtl="1"/>
            <a:r>
              <a:rPr lang="ar-SA" b="1" dirty="0"/>
              <a:t> بعض مشاكل البروتوكول </a:t>
            </a:r>
            <a:r>
              <a:rPr lang="ar-SA" b="1" dirty="0" smtClean="0"/>
              <a:t>“</a:t>
            </a:r>
            <a:r>
              <a:rPr lang="en-US" b="1" dirty="0" smtClean="0"/>
              <a:t>SNMPv1</a:t>
            </a:r>
            <a:r>
              <a:rPr lang="ar-SA" b="1" dirty="0" smtClean="0"/>
              <a:t>" </a:t>
            </a:r>
            <a:endParaRPr lang="en-US" dirty="0"/>
          </a:p>
        </p:txBody>
      </p:sp>
      <p:sp>
        <p:nvSpPr>
          <p:cNvPr id="3" name="Content Placeholder 2"/>
          <p:cNvSpPr>
            <a:spLocks noGrp="1"/>
          </p:cNvSpPr>
          <p:nvPr>
            <p:ph idx="1"/>
          </p:nvPr>
        </p:nvSpPr>
        <p:spPr/>
        <p:txBody>
          <a:bodyPr/>
          <a:lstStyle/>
          <a:p>
            <a:pPr marL="0" indent="0" algn="r" rtl="1">
              <a:buNone/>
            </a:pPr>
            <a:endParaRPr lang="en-US" dirty="0"/>
          </a:p>
          <a:p>
            <a:pPr algn="r" rtl="1"/>
            <a:r>
              <a:rPr lang="ar-SA" dirty="0"/>
              <a:t>على الرغم من كفاءة البروتوكول </a:t>
            </a:r>
            <a:r>
              <a:rPr lang="ar-SA" dirty="0" smtClean="0"/>
              <a:t>"</a:t>
            </a:r>
            <a:r>
              <a:rPr lang="en-US" b="1" dirty="0"/>
              <a:t> SNMPv1 </a:t>
            </a:r>
            <a:r>
              <a:rPr lang="ar-SA" dirty="0" smtClean="0"/>
              <a:t>" </a:t>
            </a:r>
            <a:r>
              <a:rPr lang="ar-SA" dirty="0"/>
              <a:t>في إدارة الشبكة، لكن يوجد به ثلاث مشاكل هي:</a:t>
            </a:r>
            <a:endParaRPr lang="en-US" dirty="0"/>
          </a:p>
          <a:p>
            <a:pPr algn="r" rtl="1"/>
            <a:r>
              <a:rPr lang="ar-SA" dirty="0"/>
              <a:t>-  بروتوكول قياسي للاستخدام، فقط لشبكات </a:t>
            </a:r>
            <a:r>
              <a:rPr lang="en-US" dirty="0"/>
              <a:t>IP</a:t>
            </a:r>
            <a:r>
              <a:rPr lang="ar-SA" dirty="0"/>
              <a:t>. </a:t>
            </a:r>
            <a:endParaRPr lang="en-US" dirty="0"/>
          </a:p>
          <a:p>
            <a:pPr algn="r" rtl="1"/>
            <a:r>
              <a:rPr lang="ar-SA" dirty="0"/>
              <a:t>-  غير كفء في حالة استرجاع المعلومات من الجداول الكبيرة.</a:t>
            </a:r>
            <a:endParaRPr lang="en-US" dirty="0"/>
          </a:p>
          <a:p>
            <a:pPr algn="r" rtl="1"/>
            <a:r>
              <a:rPr lang="ar-SA" dirty="0"/>
              <a:t>-  يستخدم كلمات نصية واضحة للأمن، مما يجعلها نسبيا غير آمنة.</a:t>
            </a:r>
            <a:endParaRPr lang="en-US" dirty="0"/>
          </a:p>
          <a:p>
            <a:pPr algn="r"/>
            <a:endParaRPr lang="en-US" dirty="0"/>
          </a:p>
        </p:txBody>
      </p:sp>
      <p:pic>
        <p:nvPicPr>
          <p:cNvPr id="4" name="Picture 4" descr="C:\Users\mawada\Downloads\2.png"/>
          <p:cNvPicPr>
            <a:picLocks noChangeAspect="1" noChangeArrowheads="1"/>
          </p:cNvPicPr>
          <p:nvPr/>
        </p:nvPicPr>
        <p:blipFill>
          <a:blip r:embed="rId2"/>
          <a:srcRect/>
          <a:stretch>
            <a:fillRect/>
          </a:stretch>
        </p:blipFill>
        <p:spPr bwMode="auto">
          <a:xfrm>
            <a:off x="0" y="0"/>
            <a:ext cx="9144000" cy="6324600"/>
          </a:xfrm>
          <a:prstGeom prst="rect">
            <a:avLst/>
          </a:prstGeom>
          <a:noFill/>
        </p:spPr>
      </p:pic>
    </p:spTree>
    <p:extLst>
      <p:ext uri="{BB962C8B-B14F-4D97-AF65-F5344CB8AC3E}">
        <p14:creationId xmlns:p14="http://schemas.microsoft.com/office/powerpoint/2010/main" val="292082253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ustom 1">
      <a:majorFont>
        <a:latin typeface="Times New Roman"/>
        <a:ea typeface=""/>
        <a:cs typeface=""/>
      </a:majorFont>
      <a:minorFont>
        <a:latin typeface="Times New Roman"/>
        <a:ea typeface=""/>
        <a:cs typeface=""/>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2254</TotalTime>
  <Words>2467</Words>
  <Application>Microsoft Office PowerPoint</Application>
  <PresentationFormat>On-screen Show (4:3)</PresentationFormat>
  <Paragraphs>123</Paragraphs>
  <Slides>34</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36" baseType="lpstr">
      <vt:lpstr>Flow</vt:lpstr>
      <vt:lpstr>Document</vt:lpstr>
      <vt:lpstr>إدارة وإستخدام الشبكات </vt:lpstr>
      <vt:lpstr>أهداف الوحدة </vt:lpstr>
      <vt:lpstr>.  نموذج تحكم الوصول لرؤية المعلومات VACM</vt:lpstr>
      <vt:lpstr>PowerPoint Presentation</vt:lpstr>
      <vt:lpstr>PowerPoint Presentation</vt:lpstr>
      <vt:lpstr>4 مخزن البيانات المهيأ محليا Local Configuration Data-store (LCD)  </vt:lpstr>
      <vt:lpstr>4  العناصر المكونة لنموذج "فاكم" VACM </vt:lpstr>
      <vt:lpstr>أولا: المجموعات Groups </vt:lpstr>
      <vt:lpstr>ثانيا: مستوى الأمن Security Level </vt:lpstr>
      <vt:lpstr>ثالثا: - السياق Context </vt:lpstr>
      <vt:lpstr>خصائص السياق </vt:lpstr>
      <vt:lpstr>رابعا: مرئيات قاعدة المعلومات الإدارية MIB Views</vt:lpstr>
      <vt:lpstr>PowerPoint Presentation</vt:lpstr>
      <vt:lpstr> خامسا: نظام الدخول Access Policy </vt:lpstr>
      <vt:lpstr>PowerPoint Presentation</vt:lpstr>
      <vt:lpstr>PowerPoint Presentation</vt:lpstr>
      <vt:lpstr>معالجة تحكم الدخول  Access Control Processing</vt:lpstr>
      <vt:lpstr>العمليات المنطقية في نموذج "فاكم" </vt:lpstr>
      <vt:lpstr>PowerPoint Presentation</vt:lpstr>
      <vt:lpstr>PowerPoint Presentation</vt:lpstr>
      <vt:lpstr>PowerPoint Presentation</vt:lpstr>
      <vt:lpstr>PowerPoint Presentation</vt:lpstr>
      <vt:lpstr>PowerPoint Presentation</vt:lpstr>
      <vt:lpstr>تحقيق العمليات المنطقية داخل نظام "فاكم" </vt:lpstr>
      <vt:lpstr>PowerPoint Presentation</vt:lpstr>
      <vt:lpstr>PowerPoint Presentation</vt:lpstr>
      <vt:lpstr>PowerPoint Presentation</vt:lpstr>
      <vt:lpstr>PowerPoint Presentation</vt:lpstr>
      <vt:lpstr>مكونات شكل رسالة "سنمب-- ف3" </vt:lpstr>
      <vt:lpstr>مكونات شكل رسالة "سنمب-- ف3"</vt:lpstr>
      <vt:lpstr>PowerPoint Presentation</vt:lpstr>
      <vt:lpstr>PowerPoint Presentation</vt:lpstr>
      <vt:lpstr>PowerPoint Presentation</vt:lpstr>
      <vt:lpstr> بعض مشاكل البروتوكول “SNMPv1"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mawadaadam@gmail.com</dc:creator>
  <cp:lastModifiedBy>mawadaadam@gmail.com</cp:lastModifiedBy>
  <cp:revision>35</cp:revision>
  <dcterms:created xsi:type="dcterms:W3CDTF">2022-06-25T16:03:02Z</dcterms:created>
  <dcterms:modified xsi:type="dcterms:W3CDTF">2022-07-25T11:36:12Z</dcterms:modified>
</cp:coreProperties>
</file>