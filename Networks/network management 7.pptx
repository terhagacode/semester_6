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38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312" r:id="rId8"/>
    <p:sldId id="297" r:id="rId9"/>
    <p:sldId id="298" r:id="rId10"/>
    <p:sldId id="299" r:id="rId11"/>
    <p:sldId id="313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4" r:id="rId25"/>
    <p:sldId id="29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598E33-A2AB-4C76-A064-386F6B304DF9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053F1B-4C28-4940-9DBE-82A684CF08F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 smtClean="0"/>
              <a:t>إدارة وإستخدام الشبكات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733800"/>
            <a:ext cx="7854696" cy="2590800"/>
          </a:xfrm>
        </p:spPr>
        <p:txBody>
          <a:bodyPr>
            <a:normAutofit/>
          </a:bodyPr>
          <a:lstStyle/>
          <a:p>
            <a:pPr algn="ctr" rtl="1"/>
            <a:r>
              <a:rPr lang="ar-SA" b="1" dirty="0" smtClean="0"/>
              <a:t>قواعد</a:t>
            </a:r>
            <a:r>
              <a:rPr lang="ar-SA" b="1" dirty="0"/>
              <a:t> </a:t>
            </a:r>
            <a:r>
              <a:rPr lang="ar-SA" b="1" dirty="0" smtClean="0"/>
              <a:t>معلومات ادارة الشبكات </a:t>
            </a:r>
            <a:r>
              <a:rPr lang="en-US" dirty="0"/>
              <a:t/>
            </a:r>
            <a:br>
              <a:rPr lang="en-US" dirty="0"/>
            </a:br>
            <a:r>
              <a:rPr lang="ar-SA" dirty="0" smtClean="0"/>
              <a:t>محاضرة رقم (</a:t>
            </a:r>
            <a:r>
              <a:rPr lang="en-US" dirty="0" smtClean="0"/>
              <a:t>7</a:t>
            </a:r>
            <a:r>
              <a:rPr lang="ar-SA" dirty="0" smtClean="0"/>
              <a:t>)</a:t>
            </a:r>
          </a:p>
          <a:p>
            <a:pPr algn="ctr" rtl="1"/>
            <a:endParaRPr lang="ar-SA" dirty="0" smtClean="0"/>
          </a:p>
          <a:p>
            <a:pPr algn="ctr" rtl="1"/>
            <a:r>
              <a:rPr lang="ar-SA" dirty="0" smtClean="0"/>
              <a:t>					اعداد :</a:t>
            </a:r>
          </a:p>
          <a:p>
            <a:pPr algn="l" rtl="1"/>
            <a:r>
              <a:rPr lang="ar-SA" dirty="0" smtClean="0"/>
              <a:t>أ . مودة ادم محمد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30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818" y="1066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ar-SA" b="1" dirty="0"/>
              <a:t>. الهيكل البنائي لقاعدة المعلومات الإدارية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 smtClean="0"/>
              <a:t>يستخدم </a:t>
            </a:r>
            <a:r>
              <a:rPr lang="ar-SA" dirty="0"/>
              <a:t>التركيب الهرمي </a:t>
            </a:r>
            <a:r>
              <a:rPr lang="en-US" dirty="0"/>
              <a:t>Hierarchical</a:t>
            </a:r>
            <a:r>
              <a:rPr lang="ar-SA" dirty="0"/>
              <a:t> و الشكل الهيكلي </a:t>
            </a:r>
            <a:r>
              <a:rPr lang="en-US" dirty="0"/>
              <a:t>Structure Format</a:t>
            </a:r>
            <a:r>
              <a:rPr lang="ar-SA" dirty="0"/>
              <a:t> في بناء قاعدة المعلومات الإدارية </a:t>
            </a:r>
            <a:r>
              <a:rPr lang="en-US" dirty="0"/>
              <a:t>MIB</a:t>
            </a:r>
            <a:r>
              <a:rPr lang="ar-SA" dirty="0"/>
              <a:t>. لكي يقوم بروتوكول إدارة الشبكة القياسي بتمثيل كل جهاز في الشبكة، فإنه ينبغي أن يستخدم الأشكال الخاصة بعرض المعلومات التي يتم تحديدها بواسطة قاعدة المعلومات الإدارية</a:t>
            </a:r>
            <a:r>
              <a:rPr lang="ar-SA" dirty="0" smtClean="0"/>
              <a:t>.</a:t>
            </a:r>
            <a:endParaRPr lang="en-US" dirty="0" smtClean="0"/>
          </a:p>
          <a:p>
            <a:pPr algn="r" rtl="1"/>
            <a:r>
              <a:rPr lang="ar-SA" dirty="0" smtClean="0"/>
              <a:t> </a:t>
            </a:r>
            <a:r>
              <a:rPr lang="ar-SA" dirty="0"/>
              <a:t>يوجد مجموعة كبيرة من التوصيات </a:t>
            </a:r>
            <a:r>
              <a:rPr lang="en-US" dirty="0" smtClean="0"/>
              <a:t> </a:t>
            </a:r>
            <a:r>
              <a:rPr lang="ar-SA" dirty="0" smtClean="0"/>
              <a:t>التي </a:t>
            </a:r>
            <a:r>
              <a:rPr lang="ar-SA" dirty="0"/>
              <a:t>تصف نوع وقواعد المعلومات المتاحة في قاعدة المعلومات الإدارية، التي تستخدم لإدارة شبكات من النوع </a:t>
            </a:r>
            <a:r>
              <a:rPr lang="en-US" dirty="0"/>
              <a:t>TCP/IP</a:t>
            </a:r>
            <a:r>
              <a:rPr lang="ar-SA" dirty="0"/>
              <a:t>، و التي يطلق عليها "المعلومات الإدارية لتحديد الهيكلية </a:t>
            </a:r>
            <a:r>
              <a:rPr lang="en-US" dirty="0"/>
              <a:t>SMI</a:t>
            </a:r>
            <a:r>
              <a:rPr lang="ar-SA" dirty="0"/>
              <a:t>". وقد تم تطوير وتحديث هيكلية المعلومات الإدارية </a:t>
            </a:r>
            <a:r>
              <a:rPr lang="en-US" dirty="0"/>
              <a:t>SMI</a:t>
            </a:r>
            <a:r>
              <a:rPr lang="ar-SA" dirty="0"/>
              <a:t> بعدة توصيات قياسية حديثة. 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6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تستخدم قواعد المعلومات الإدارية </a:t>
            </a:r>
            <a:r>
              <a:rPr lang="en-US" dirty="0"/>
              <a:t>MIB</a:t>
            </a:r>
            <a:r>
              <a:rPr lang="ar-SA" dirty="0"/>
              <a:t>، القواعد النحوية </a:t>
            </a:r>
            <a:r>
              <a:rPr lang="en-US" dirty="0"/>
              <a:t>Syntax </a:t>
            </a:r>
            <a:r>
              <a:rPr lang="ar-SA" dirty="0"/>
              <a:t> التي اقترحتها الهيئة الدولية للقياسات </a:t>
            </a:r>
            <a:r>
              <a:rPr lang="en-US" dirty="0"/>
              <a:t>ISO</a:t>
            </a:r>
            <a:r>
              <a:rPr lang="ar-SA" dirty="0"/>
              <a:t> وتعرف باسم "</a:t>
            </a:r>
            <a:r>
              <a:rPr lang="ar-SA" b="1" dirty="0"/>
              <a:t>الرموز النحوية المثالية الأولى</a:t>
            </a:r>
            <a:r>
              <a:rPr lang="ar-SA" dirty="0"/>
              <a:t>": </a:t>
            </a:r>
            <a:r>
              <a:rPr lang="en-US" dirty="0"/>
              <a:t>Abstract Syntax Notation One  “</a:t>
            </a:r>
            <a:r>
              <a:rPr lang="en-US" b="1" i="1" dirty="0"/>
              <a:t>ASN.1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268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u="sng" dirty="0"/>
              <a:t>محدد العنصر </a:t>
            </a:r>
            <a:r>
              <a:rPr lang="en-US" b="1" u="sng" dirty="0"/>
              <a:t>Object Identifier (OID)</a:t>
            </a:r>
            <a:r>
              <a:rPr lang="ar-SA" b="1" u="sng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 smtClean="0"/>
              <a:t>يستخدم </a:t>
            </a:r>
            <a:r>
              <a:rPr lang="ar-SA" dirty="0"/>
              <a:t>البناء الشجري </a:t>
            </a:r>
            <a:r>
              <a:rPr lang="en-US" dirty="0"/>
              <a:t>Tree Architecture</a:t>
            </a:r>
            <a:r>
              <a:rPr lang="ar-SA" dirty="0"/>
              <a:t> لتنظيم جميع المعلومات المتاحة في قاعدة المعلومات الإدارية. يمثل كل جزء من المعلومات في الشجرة </a:t>
            </a:r>
            <a:r>
              <a:rPr lang="ar-SA" b="1" i="1" dirty="0"/>
              <a:t>قطباً</a:t>
            </a:r>
            <a:r>
              <a:rPr lang="ar-SA" dirty="0"/>
              <a:t> بعلامة</a:t>
            </a:r>
            <a:r>
              <a:rPr lang="ar-SA" b="1" i="1" dirty="0"/>
              <a:t> </a:t>
            </a:r>
            <a:r>
              <a:rPr lang="en-US" b="1" i="1" dirty="0"/>
              <a:t>Labeled Node</a:t>
            </a:r>
            <a:r>
              <a:rPr lang="ar-SA" dirty="0"/>
              <a:t>. يحتوي كل قطب بعلامة على </a:t>
            </a:r>
            <a:r>
              <a:rPr lang="ar-SA" b="1" i="1" dirty="0"/>
              <a:t>محدد للعنصر</a:t>
            </a:r>
            <a:r>
              <a:rPr lang="ar-SA" dirty="0"/>
              <a:t> ، ووصف نصي مختصر. </a:t>
            </a:r>
            <a:endParaRPr lang="en-US" dirty="0" smtClean="0"/>
          </a:p>
          <a:p>
            <a:pPr algn="r" rtl="1"/>
            <a:r>
              <a:rPr lang="ar-SA" dirty="0" smtClean="0"/>
              <a:t>يتكون </a:t>
            </a:r>
            <a:r>
              <a:rPr lang="ar-SA" dirty="0"/>
              <a:t>محدد العنصر من سلسلة من الأعداد الصحيحة، يفصلها </a:t>
            </a:r>
            <a:r>
              <a:rPr lang="ar-SA" b="1" i="1" dirty="0" smtClean="0"/>
              <a:t>نقط </a:t>
            </a:r>
            <a:r>
              <a:rPr lang="en-US" b="1" i="1" dirty="0" smtClean="0"/>
              <a:t>periods</a:t>
            </a:r>
            <a:r>
              <a:rPr lang="ar-SA" dirty="0" smtClean="0"/>
              <a:t>، وذلك لتسمية القطب </a:t>
            </a:r>
            <a:r>
              <a:rPr lang="en-US" dirty="0" smtClean="0"/>
              <a:t>node</a:t>
            </a:r>
            <a:r>
              <a:rPr lang="ar-SA" dirty="0" smtClean="0"/>
              <a:t> وترميز الجانب العرضي للشجرة بدقة</a:t>
            </a:r>
            <a:r>
              <a:rPr lang="ar-SA" dirty="0"/>
              <a:t>. يمكن أن يتفرع من القطب شجيرات فرعية أخرى لأقطاب ملصقات أخرى. يتم ترقيم كل قطب في الشجيرات الفرعية </a:t>
            </a:r>
            <a:r>
              <a:rPr lang="en-US" dirty="0"/>
              <a:t>Sub Trees</a:t>
            </a:r>
            <a:r>
              <a:rPr lang="ar-SA" dirty="0"/>
              <a:t> تصاعديا </a:t>
            </a:r>
            <a:r>
              <a:rPr lang="en-US" dirty="0"/>
              <a:t>Ascending Order </a:t>
            </a:r>
            <a:r>
              <a:rPr lang="ar-SA" dirty="0"/>
              <a:t> . ويستخدم هذا المعجم </a:t>
            </a:r>
            <a:r>
              <a:rPr lang="en-US" dirty="0" err="1"/>
              <a:t>Lexigraphical</a:t>
            </a:r>
            <a:r>
              <a:rPr lang="ar-SA" dirty="0"/>
              <a:t> في ترقيم كل العناصر الموجودة في شجرة قواعد إدارة المعلومات. 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34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عندما لا يوجد شجيرات فرعية لقطبٍ بعلامة، أو أقطاب ورقية </a:t>
            </a:r>
            <a:r>
              <a:rPr lang="en-US" dirty="0"/>
              <a:t>Leaf Nodes</a:t>
            </a:r>
            <a:r>
              <a:rPr lang="ar-SA" dirty="0"/>
              <a:t> ، في هذه الحالة يحتوي القطب على قيمة تعرف </a:t>
            </a:r>
            <a:r>
              <a:rPr lang="ar-SA" b="1" i="1" dirty="0"/>
              <a:t>باسم العنصر </a:t>
            </a:r>
            <a:r>
              <a:rPr lang="en-US" b="1" i="1" dirty="0"/>
              <a:t>object</a:t>
            </a:r>
            <a:r>
              <a:rPr lang="ar-SA" dirty="0"/>
              <a:t>. يوضح الشكل4.1  مثالاً لشجرة قاعدة معلومات إدارية، مع ما يقابلها من ترقيم رموز </a:t>
            </a:r>
            <a:r>
              <a:rPr lang="ar-SA" dirty="0" smtClean="0"/>
              <a:t>نحوية.</a:t>
            </a:r>
            <a:endParaRPr lang="en-US" dirty="0" smtClean="0"/>
          </a:p>
          <a:p>
            <a:pPr algn="r" rtl="1"/>
            <a:r>
              <a:rPr lang="ar-SA" dirty="0" smtClean="0"/>
              <a:t> </a:t>
            </a:r>
            <a:r>
              <a:rPr lang="ar-SA" dirty="0"/>
              <a:t>يكون ترقيم ترتيب المعجم </a:t>
            </a:r>
            <a:r>
              <a:rPr lang="en-US" dirty="0" err="1"/>
              <a:t>Lexigraphical</a:t>
            </a:r>
            <a:r>
              <a:rPr lang="ar-SA" dirty="0"/>
              <a:t> لشجرة قاعدة المعلومات الإدارية هو: </a:t>
            </a:r>
            <a:endParaRPr lang="en-US" dirty="0"/>
          </a:p>
          <a:p>
            <a:pPr algn="r" rtl="1"/>
            <a:r>
              <a:rPr lang="en-US" dirty="0"/>
              <a:t>1, 1.1, 1.1.1, 1.2, 1.2.1, 1.2.1.1, 1.2.2, 2.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54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286000"/>
            <a:ext cx="6896994" cy="326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6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r" rtl="1" eaLnBrk="0" fontAlgn="base" hangingPunct="0">
              <a:spcAft>
                <a:spcPct val="0"/>
              </a:spcAft>
            </a:pPr>
            <a:r>
              <a:rPr lang="ar-SA" altLang="en-US" sz="4000" b="1" dirty="0">
                <a:solidFill>
                  <a:srgbClr val="000000"/>
                </a:solidFill>
                <a:latin typeface="Traditional Arabic"/>
                <a:ea typeface="Times New Roman" panose="02020603050405020304" pitchFamily="18" charset="0"/>
                <a:cs typeface="Arial" panose="020B0604020202020204" pitchFamily="34" charset="0"/>
              </a:rPr>
              <a:t>الشجرة المستعرضة </a:t>
            </a:r>
            <a:r>
              <a:rPr lang="en-US" altLang="en-US" sz="4000" dirty="0">
                <a:solidFill>
                  <a:srgbClr val="000000"/>
                </a:solidFill>
                <a:ea typeface="Times New Roman" panose="02020603050405020304" pitchFamily="18" charset="0"/>
                <a:cs typeface="Traditional Arabic"/>
              </a:rPr>
              <a:t>Traversal</a:t>
            </a:r>
            <a:r>
              <a:rPr lang="en-US" altLang="en-US" sz="4000" dirty="0">
                <a:solidFill>
                  <a:srgbClr val="000000"/>
                </a:solidFill>
                <a:latin typeface="Traditional Arabic"/>
                <a:ea typeface="Times New Roman" panose="02020603050405020304" pitchFamily="18" charset="0"/>
                <a:cs typeface="Simplified Arabic"/>
              </a:rPr>
              <a:t> </a:t>
            </a:r>
            <a:r>
              <a:rPr lang="ar-SA" altLang="en-US" sz="4000" b="1" dirty="0">
                <a:solidFill>
                  <a:srgbClr val="000000"/>
                </a:solidFill>
                <a:latin typeface="Traditional Arabic"/>
                <a:ea typeface="Times New Roman" panose="02020603050405020304" pitchFamily="18" charset="0"/>
                <a:cs typeface="Arial" panose="020B0604020202020204" pitchFamily="34" charset="0"/>
              </a:rPr>
              <a:t>وتطبيقاتها</a:t>
            </a:r>
            <a:endParaRPr lang="en-US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Low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ar-SA" altLang="en-US" sz="2800" dirty="0" smtClean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يوضح 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الشكل4.2 البناء الهيكلي للشجرة المستعرضة لقاعدة المعلومات الإدارية من القمة. نلاحظ أن الجذر القطبي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Root Node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في الشجرة، لا يحتوي على اسم أو رقم ولكنه يحتوي على ثلاث شجيرات فرعية هي:</a:t>
            </a:r>
            <a:endParaRPr lang="en-US" altLang="en-US" sz="1200" dirty="0"/>
          </a:p>
          <a:p>
            <a:pPr marL="0" lvl="0" indent="0" algn="justLow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أ- 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ccitt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 (0)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implified Arabic"/>
              </a:rPr>
              <a:t>  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والتي يتم إدارتها بواسطة الهيئة الدولية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CCITT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altLang="en-US" sz="1200" dirty="0"/>
          </a:p>
          <a:p>
            <a:pPr marL="0" lvl="0" indent="0" algn="justLow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ب-  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iso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 (1)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 والتي يتم إدارتها بواسطة الهيئة الدولية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ISO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altLang="en-US" sz="1200" dirty="0"/>
          </a:p>
          <a:p>
            <a:pPr marL="0" lvl="0" indent="0" algn="justLow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ج-  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joint-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iso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-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ccitt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(2)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 والتي يتم إدارتها مشاركة بواسطة الهيئة الدولية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CCITT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والهيئة الدولية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ISO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ar-SA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8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89" y="1275588"/>
            <a:ext cx="7161022" cy="458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95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/>
              <a:t>يستخدم الرمز </a:t>
            </a:r>
            <a:r>
              <a:rPr lang="en-US" b="1" i="1" dirty="0" err="1"/>
              <a:t>ccitt</a:t>
            </a:r>
            <a:r>
              <a:rPr lang="en-US" b="1" i="1" dirty="0"/>
              <a:t> (0)</a:t>
            </a:r>
            <a:r>
              <a:rPr lang="ar-SA" dirty="0"/>
              <a:t> ليرمز إلى قطب ملصق يسمى </a:t>
            </a:r>
            <a:r>
              <a:rPr lang="en-US" dirty="0" err="1"/>
              <a:t>ccitt</a:t>
            </a:r>
            <a:r>
              <a:rPr lang="en-US" dirty="0"/>
              <a:t> </a:t>
            </a:r>
            <a:r>
              <a:rPr lang="ar-SA" dirty="0"/>
              <a:t>، له رقم محدد عنصر هو </a:t>
            </a:r>
            <a:r>
              <a:rPr lang="en-US" dirty="0"/>
              <a:t>(0)</a:t>
            </a:r>
            <a:r>
              <a:rPr lang="ar-SA" dirty="0"/>
              <a:t> عند هذا المستوى من شجرة قاعدة المعلومات الإدارية. بالإضافة إلى ذلك، يوجد عديد من الشجيرات الفرعية الأخرى متفرعة تحت القطب </a:t>
            </a:r>
            <a:r>
              <a:rPr lang="en-US" b="1" i="1" dirty="0" err="1"/>
              <a:t>iso</a:t>
            </a:r>
            <a:r>
              <a:rPr lang="en-US" b="1" i="1" dirty="0"/>
              <a:t> (1)</a:t>
            </a:r>
            <a:r>
              <a:rPr lang="ar-SA" dirty="0"/>
              <a:t>، منها الشجرة الفرعية المحددة بواسطة هيئة </a:t>
            </a:r>
            <a:r>
              <a:rPr lang="en-US" dirty="0"/>
              <a:t>ISO</a:t>
            </a:r>
            <a:r>
              <a:rPr lang="ar-SA" dirty="0"/>
              <a:t> لمنظمات أخرى مثل </a:t>
            </a:r>
            <a:r>
              <a:rPr lang="en-US" b="1" i="1" dirty="0"/>
              <a:t>org(3</a:t>
            </a:r>
            <a:r>
              <a:rPr lang="en-US" dirty="0"/>
              <a:t>)</a:t>
            </a:r>
            <a:r>
              <a:rPr lang="ar-SA" dirty="0"/>
              <a:t>. يتفرع تحت الشجرة الفرعية </a:t>
            </a:r>
            <a:r>
              <a:rPr lang="en-US" b="1" i="1" dirty="0"/>
              <a:t>org(3)</a:t>
            </a:r>
            <a:r>
              <a:rPr lang="ar-SA" dirty="0"/>
              <a:t>  قطب يستخدم من قبل وزارة الدفاع  الأمريكية هو </a:t>
            </a:r>
            <a:r>
              <a:rPr lang="en-US" b="1" i="1" dirty="0" err="1"/>
              <a:t>dod</a:t>
            </a:r>
            <a:r>
              <a:rPr lang="en-US" b="1" i="1" dirty="0"/>
              <a:t>(6)</a:t>
            </a:r>
            <a:r>
              <a:rPr lang="ar-SA" dirty="0"/>
              <a:t>.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5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إن كل المعلومات المجمعة من أجهزة الاتصال بواسطة بروتوكول </a:t>
            </a:r>
            <a:r>
              <a:rPr lang="en-US" dirty="0"/>
              <a:t>DOD</a:t>
            </a:r>
            <a:r>
              <a:rPr lang="ar-SA" dirty="0"/>
              <a:t> مثل بروتوكول </a:t>
            </a:r>
            <a:r>
              <a:rPr lang="en-US" dirty="0"/>
              <a:t>TCP/IP</a:t>
            </a:r>
            <a:r>
              <a:rPr lang="ar-SA" dirty="0"/>
              <a:t>، تقيم في الشجرة الفرعية التي لها محدد عنصر مكتمل </a:t>
            </a:r>
            <a:r>
              <a:rPr lang="en-US" dirty="0"/>
              <a:t>Complete Object Identifier</a:t>
            </a:r>
            <a:r>
              <a:rPr lang="ar-SA" dirty="0"/>
              <a:t> هو </a:t>
            </a:r>
            <a:r>
              <a:rPr lang="en-US" dirty="0"/>
              <a:t>1.3.6.1</a:t>
            </a:r>
            <a:r>
              <a:rPr lang="ar-SA" dirty="0"/>
              <a:t>، ويعرف محدد العنصر هذا باسم </a:t>
            </a:r>
            <a:r>
              <a:rPr lang="en-US" b="1" i="1" dirty="0"/>
              <a:t>internet</a:t>
            </a:r>
            <a:r>
              <a:rPr lang="ar-SA" dirty="0"/>
              <a:t>. يكون الوصف النصي لهذا المحدد هو: </a:t>
            </a:r>
            <a:r>
              <a:rPr lang="en-US" b="1" i="1" dirty="0" err="1"/>
              <a:t>iso</a:t>
            </a:r>
            <a:r>
              <a:rPr lang="en-US" b="1" i="1" dirty="0"/>
              <a:t> org(3) </a:t>
            </a:r>
            <a:r>
              <a:rPr lang="en-US" b="1" i="1" dirty="0" err="1"/>
              <a:t>dod</a:t>
            </a:r>
            <a:r>
              <a:rPr lang="en-US" b="1" i="1" dirty="0"/>
              <a:t>(6)</a:t>
            </a:r>
            <a:r>
              <a:rPr lang="ar-SA" dirty="0"/>
              <a:t>، يوجد أربعة شجيرات فرعية - كما مبين في الشكل4.2- تحت محدد عنصر </a:t>
            </a:r>
            <a:r>
              <a:rPr lang="en-US" b="1" i="1" dirty="0"/>
              <a:t>internet(1)</a:t>
            </a:r>
            <a:r>
              <a:rPr lang="ar-SA" dirty="0"/>
              <a:t> هي:</a:t>
            </a:r>
            <a:endParaRPr lang="en-US" dirty="0"/>
          </a:p>
          <a:p>
            <a:pPr algn="r" rtl="1"/>
            <a:r>
              <a:rPr lang="en-US" b="1" i="1" dirty="0"/>
              <a:t>directory(1), </a:t>
            </a:r>
            <a:r>
              <a:rPr lang="en-US" b="1" i="1" dirty="0" err="1"/>
              <a:t>mgmt</a:t>
            </a:r>
            <a:r>
              <a:rPr lang="en-US" b="1" i="1" dirty="0"/>
              <a:t>(2), experimental(3), private(4)</a:t>
            </a:r>
            <a:r>
              <a:rPr lang="en-US" dirty="0"/>
              <a:t>.</a:t>
            </a:r>
          </a:p>
          <a:p>
            <a:pPr algn="r" rtl="1"/>
            <a:r>
              <a:rPr lang="ar-SA" dirty="0"/>
              <a:t>يكون الوصف النصي لقطب الدليل </a:t>
            </a:r>
            <a:r>
              <a:rPr lang="en-US" dirty="0"/>
              <a:t>directory node</a:t>
            </a:r>
            <a:r>
              <a:rPr lang="ar-SA" dirty="0"/>
              <a:t> هو </a:t>
            </a:r>
            <a:r>
              <a:rPr lang="en-US" dirty="0"/>
              <a:t>{internet 1}</a:t>
            </a:r>
            <a:r>
              <a:rPr lang="ar-SA" dirty="0"/>
              <a:t>، والقطب </a:t>
            </a:r>
            <a:r>
              <a:rPr lang="en-US" dirty="0" err="1"/>
              <a:t>mgmt</a:t>
            </a:r>
            <a:r>
              <a:rPr lang="en-US" dirty="0"/>
              <a:t>, </a:t>
            </a:r>
            <a:r>
              <a:rPr lang="ar-SA" dirty="0"/>
              <a:t> هو </a:t>
            </a:r>
            <a:r>
              <a:rPr lang="en-US" dirty="0"/>
              <a:t>{internet 2}</a:t>
            </a:r>
            <a:r>
              <a:rPr lang="ar-SA" dirty="0"/>
              <a:t> ، والقطب </a:t>
            </a:r>
            <a:r>
              <a:rPr lang="en-US" dirty="0"/>
              <a:t>experimental</a:t>
            </a:r>
            <a:r>
              <a:rPr lang="ar-SA" dirty="0"/>
              <a:t> هو  </a:t>
            </a:r>
            <a:r>
              <a:rPr lang="en-US" dirty="0"/>
              <a:t>{internet 3}</a:t>
            </a:r>
            <a:r>
              <a:rPr lang="ar-SA" dirty="0"/>
              <a:t>، والقطب </a:t>
            </a:r>
            <a:r>
              <a:rPr lang="en-US" dirty="0"/>
              <a:t>private</a:t>
            </a:r>
            <a:r>
              <a:rPr lang="ar-SA" dirty="0"/>
              <a:t> هو  </a:t>
            </a:r>
            <a:r>
              <a:rPr lang="en-US" dirty="0"/>
              <a:t>{internet 4}</a:t>
            </a:r>
            <a:r>
              <a:rPr lang="ar-SA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6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22860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ar-SA" altLang="en-US" sz="2800" b="1" u="sng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الشجرة الفرعية للدليل  </a:t>
            </a:r>
            <a:r>
              <a:rPr lang="en-US" altLang="en-US" sz="2800" b="1" i="1" u="sng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directory(1)</a:t>
            </a:r>
            <a:r>
              <a:rPr lang="ar-SA" altLang="en-US" sz="2800" b="1" u="sng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en-US" sz="1200" dirty="0"/>
          </a:p>
          <a:p>
            <a:pPr marL="0" lvl="0" indent="22860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يتم الاحتفاظ بالشجرة الفرعية للدليل 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directory(1)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للاستخدامات المستقبلية. وهي تحتوي على معلومات عن خدمات الدليل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OSI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التي تنظمها مجموعة التوصيات القياسية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X.500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التي تحدد توزيع صيانة الملفات والأدلة.</a:t>
            </a:r>
            <a:endParaRPr lang="en-US" altLang="en-US" sz="1200" dirty="0"/>
          </a:p>
          <a:p>
            <a:pPr marL="0" lvl="0" indent="22860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ar-SA" altLang="en-US" sz="2800" b="1" u="sng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الشجرة الفرعية</a:t>
            </a:r>
            <a:r>
              <a:rPr lang="ar-SA" altLang="en-US" sz="2800" b="1" u="sng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z="2800" b="1" i="1" u="sng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implified Arabic"/>
              </a:rPr>
              <a:t>mgmt</a:t>
            </a:r>
            <a:r>
              <a:rPr lang="en-US" altLang="en-US" sz="2800" b="1" i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implified Arabic"/>
              </a:rPr>
              <a:t>(2)</a:t>
            </a:r>
            <a:r>
              <a:rPr lang="en-US" altLang="en-US" sz="2800" b="1" u="sng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Simplified Arabic"/>
              </a:rPr>
              <a:t> </a:t>
            </a:r>
            <a:r>
              <a:rPr lang="ar-SA" altLang="en-US" sz="2800" b="1" u="sng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en-US" sz="1200" dirty="0"/>
          </a:p>
          <a:p>
            <a:pPr marL="0" lvl="0" indent="22860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يبين الشكل4.3</a:t>
            </a:r>
            <a:r>
              <a:rPr lang="ar-SA" altLang="en-US" sz="2800" dirty="0">
                <a:solidFill>
                  <a:srgbClr val="FF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البناء الهيكلي للشجرة الفرعية 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mgmt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(2)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، وتشمل بعض العناصر من خلال كل مصنف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category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. وهي تستخدم لتخصيص المعلومات الإدارية للبروتوكول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DOD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. تعتبر العناصر المكونة لهذه الشجرة الفرعية أكثر العناصر واسعة التنفيذ. وقد تم تخصيص محدد العنصر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1.3.6.1.2.1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أو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{</a:t>
            </a:r>
            <a:r>
              <a:rPr lang="en-US" altLang="en-US" sz="2800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mib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(1)}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لهذه الشجرة. تحتوي الشجرة الفرعية </a:t>
            </a:r>
            <a:r>
              <a:rPr lang="en-US" altLang="en-US" sz="2800" b="1" i="1" dirty="0" err="1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mgmt</a:t>
            </a:r>
            <a:r>
              <a:rPr lang="en-US" altLang="en-US" sz="2800" b="1" i="1" dirty="0">
                <a:solidFill>
                  <a:srgbClr val="000000"/>
                </a:solidFill>
                <a:ea typeface="Times New Roman" panose="02020603050405020304" pitchFamily="18" charset="0"/>
                <a:cs typeface="Simplified Arabic"/>
              </a:rPr>
              <a:t>(2)</a:t>
            </a:r>
            <a:r>
              <a:rPr lang="en-US" altLang="en-US" sz="2800" b="1" i="1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Simplified Arabic"/>
              </a:rPr>
              <a:t> </a:t>
            </a:r>
            <a:r>
              <a:rPr lang="ar-SA" altLang="en-US" sz="2800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على العناصر المستخدمة للحصول على معلومات محددة من أجهزة الشبكة. وتنقسم هذه العناصر إلى أحد عشر قسما، كما هو موضح في الجدول</a:t>
            </a:r>
            <a:r>
              <a:rPr lang="ar-SA" altLang="en-US" sz="2800" b="1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4.1.</a:t>
            </a:r>
            <a:endParaRPr lang="en-US" altLang="en-US" sz="1200" dirty="0"/>
          </a:p>
          <a:p>
            <a:pPr marL="0" lvl="0" indent="228600"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457200" algn="l"/>
              </a:tabLst>
            </a:pPr>
            <a:r>
              <a:rPr lang="ar-SA" altLang="en-US" sz="2800" b="1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الجدول4.1</a:t>
            </a:r>
            <a:r>
              <a:rPr lang="ar-SA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ar-SA" altLang="en-US" sz="2800" b="1" dirty="0">
                <a:solidFill>
                  <a:srgbClr val="000000"/>
                </a:solidFill>
                <a:latin typeface="Simplified Arabic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ar-SA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3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04088"/>
            <a:ext cx="7708558" cy="531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52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تقوم فئة ترجمة العنوان </a:t>
            </a:r>
            <a:r>
              <a:rPr lang="en-US" dirty="0"/>
              <a:t>address translation (3)</a:t>
            </a:r>
            <a:r>
              <a:rPr lang="ar-SA" dirty="0"/>
              <a:t> بتحويل عناوين </a:t>
            </a:r>
            <a:r>
              <a:rPr lang="en-US" dirty="0"/>
              <a:t>IP </a:t>
            </a:r>
            <a:r>
              <a:rPr lang="ar-SA" dirty="0"/>
              <a:t> إلى عناوين </a:t>
            </a:r>
            <a:r>
              <a:rPr lang="en-US" dirty="0"/>
              <a:t>Ethernet</a:t>
            </a:r>
            <a:r>
              <a:rPr lang="ar-SA" dirty="0"/>
              <a:t>. على الرغم من أن قواعد المعلومات الإدارية </a:t>
            </a:r>
            <a:r>
              <a:rPr lang="en-US" dirty="0"/>
              <a:t>MIB</a:t>
            </a:r>
            <a:r>
              <a:rPr lang="ar-SA" dirty="0"/>
              <a:t> كان القصد منها هو تخصيص معلومات إدارية للبروتوكولات خلاف </a:t>
            </a:r>
            <a:r>
              <a:rPr lang="en-US" dirty="0"/>
              <a:t>IP</a:t>
            </a:r>
            <a:r>
              <a:rPr lang="ar-SA" dirty="0"/>
              <a:t> (مثل بروتوكول الشبكة المعتمد على </a:t>
            </a:r>
            <a:r>
              <a:rPr lang="en-US" dirty="0"/>
              <a:t>OSI</a:t>
            </a:r>
            <a:r>
              <a:rPr lang="ar-SA" dirty="0"/>
              <a:t>)، فقد أوصت وثيقة </a:t>
            </a:r>
            <a:r>
              <a:rPr lang="en-US" dirty="0"/>
              <a:t>RFC 1213</a:t>
            </a:r>
            <a:r>
              <a:rPr lang="ar-SA" dirty="0"/>
              <a:t> بحذف هذه الفئة، كي تحدث عملية ترجمة العناوين لكل البروتوكولات الموجودة في الشجرة الفرعية. يوضح الشكل4.3 البناء الهيكلي للشجرة الفرعية </a:t>
            </a:r>
            <a:r>
              <a:rPr lang="en-US" dirty="0" err="1"/>
              <a:t>mgmt</a:t>
            </a:r>
            <a:r>
              <a:rPr lang="en-US" dirty="0"/>
              <a:t>(2)</a:t>
            </a:r>
            <a:r>
              <a:rPr lang="ar-SA" dirty="0"/>
              <a:t> . </a:t>
            </a:r>
            <a:endParaRPr lang="en-US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0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06" y="2058542"/>
            <a:ext cx="8229600" cy="4389120"/>
          </a:xfrm>
        </p:spPr>
        <p:txBody>
          <a:bodyPr/>
          <a:lstStyle/>
          <a:p>
            <a:pPr algn="r" rtl="1"/>
            <a:endParaRPr lang="en-US" dirty="0" smtClean="0"/>
          </a:p>
          <a:p>
            <a:pPr algn="r" rtl="1"/>
            <a:endParaRPr lang="en-US" dirty="0"/>
          </a:p>
          <a:p>
            <a:pPr algn="r" rtl="1"/>
            <a:endParaRPr lang="en-US" dirty="0" smtClean="0"/>
          </a:p>
          <a:p>
            <a:pPr algn="r" rtl="1"/>
            <a:endParaRPr lang="en-US" dirty="0"/>
          </a:p>
          <a:p>
            <a:pPr algn="r" rtl="1"/>
            <a:endParaRPr lang="en-US" dirty="0" smtClean="0"/>
          </a:p>
          <a:p>
            <a:pPr algn="r" rtl="1"/>
            <a:endParaRPr lang="en-US" dirty="0"/>
          </a:p>
          <a:p>
            <a:pPr algn="r" rtl="1"/>
            <a:endParaRPr lang="en-US" dirty="0" smtClean="0"/>
          </a:p>
          <a:p>
            <a:pPr algn="r" rtl="1"/>
            <a:r>
              <a:rPr lang="ar-SA" dirty="0" smtClean="0"/>
              <a:t>الشكل4.3 </a:t>
            </a:r>
            <a:r>
              <a:rPr lang="ar-SA" dirty="0"/>
              <a:t>البناء الهيكلي للشجرة الفرعية </a:t>
            </a:r>
            <a:r>
              <a:rPr lang="en-US" b="1" i="1" dirty="0" err="1"/>
              <a:t>mgmt</a:t>
            </a:r>
            <a:r>
              <a:rPr lang="en-US" b="1" i="1" dirty="0"/>
              <a:t>(2)</a:t>
            </a:r>
            <a:r>
              <a:rPr lang="ar-SA" dirty="0"/>
              <a:t> .</a:t>
            </a:r>
            <a:endParaRPr lang="en-US" dirty="0"/>
          </a:p>
          <a:p>
            <a:pPr algn="r" rtl="1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165" y="457200"/>
            <a:ext cx="6323670" cy="465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46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r" rtl="1"/>
            <a:r>
              <a:rPr lang="ar-SA" b="1" u="sng" dirty="0"/>
              <a:t>الشجرة الفرعية  </a:t>
            </a:r>
            <a:r>
              <a:rPr lang="en-US" b="1" i="1" u="sng" dirty="0"/>
              <a:t>Experimental(3)</a:t>
            </a:r>
            <a:r>
              <a:rPr lang="ar-SA" b="1" i="1" u="sng" dirty="0"/>
              <a:t>:</a:t>
            </a:r>
            <a:r>
              <a:rPr lang="ar-SA" b="1" u="sng" dirty="0"/>
              <a:t>   </a:t>
            </a:r>
            <a:endParaRPr lang="en-US" dirty="0"/>
          </a:p>
          <a:p>
            <a:pPr algn="r" rtl="1"/>
            <a:r>
              <a:rPr lang="ar-SA" dirty="0"/>
              <a:t>إن القصد من البروتوكولات التجريبية </a:t>
            </a:r>
            <a:r>
              <a:rPr lang="en-US" dirty="0"/>
              <a:t>Experimental Protocols</a:t>
            </a:r>
            <a:r>
              <a:rPr lang="ar-SA" dirty="0"/>
              <a:t> وتطوير قاعدة إدارة المعلومات هو الدخول إلى الجانب القياسي، لهذا الغرض تستخدم الشجرة الفرعية الثالثة وهي</a:t>
            </a:r>
            <a:r>
              <a:rPr lang="en-US" dirty="0"/>
              <a:t>.experimental(3)</a:t>
            </a:r>
          </a:p>
          <a:p>
            <a:pPr algn="r" rtl="1"/>
            <a:r>
              <a:rPr lang="ar-SA" dirty="0"/>
              <a:t>إن جميع عناصر البروتوكول </a:t>
            </a:r>
            <a:r>
              <a:rPr lang="en-US" dirty="0" err="1"/>
              <a:t>dod</a:t>
            </a:r>
            <a:r>
              <a:rPr lang="ar-SA" dirty="0"/>
              <a:t> المتفرعة من هذه الشجرة الفرعية خصص لها الأرقام التي تحدد عناصرها، والتي تبدأ بالرقم الصحيح </a:t>
            </a:r>
            <a:r>
              <a:rPr lang="en-US" dirty="0"/>
              <a:t>1.3.6.1.3</a:t>
            </a:r>
            <a:r>
              <a:rPr lang="ar-SA" dirty="0"/>
              <a:t> . يمكن تخصيص قواعد معلومات إدارية </a:t>
            </a:r>
            <a:r>
              <a:rPr lang="en-US" dirty="0"/>
              <a:t>MIB</a:t>
            </a:r>
            <a:r>
              <a:rPr lang="ar-SA" dirty="0"/>
              <a:t> لتجارب جديدة ، يتم تحديد الرقم </a:t>
            </a:r>
            <a:r>
              <a:rPr lang="en-US" dirty="0"/>
              <a:t>10</a:t>
            </a:r>
            <a:r>
              <a:rPr lang="ar-SA" dirty="0"/>
              <a:t> لها، وهذا يقابل محدد عنصر هو </a:t>
            </a:r>
            <a:r>
              <a:rPr lang="en-US" dirty="0"/>
              <a:t>{experimental 10}</a:t>
            </a:r>
            <a:r>
              <a:rPr lang="ar-SA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21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89120"/>
          </a:xfrm>
        </p:spPr>
        <p:txBody>
          <a:bodyPr>
            <a:normAutofit/>
          </a:bodyPr>
          <a:lstStyle/>
          <a:p>
            <a:pPr lvl="0" algn="r" rtl="1"/>
            <a:r>
              <a:rPr lang="ar-SA" b="1" u="sng" dirty="0"/>
              <a:t>الشجرة الفرعية الخاصة </a:t>
            </a:r>
            <a:r>
              <a:rPr lang="en-US" b="1" i="1" u="sng" dirty="0"/>
              <a:t>private(4)</a:t>
            </a:r>
            <a:r>
              <a:rPr lang="en-US" b="1" u="sng" dirty="0"/>
              <a:t> </a:t>
            </a:r>
            <a:r>
              <a:rPr lang="ar-SA" b="1" u="sng" dirty="0"/>
              <a:t>:</a:t>
            </a:r>
            <a:endParaRPr lang="en-US" dirty="0"/>
          </a:p>
          <a:p>
            <a:pPr algn="r" rtl="1"/>
            <a:r>
              <a:rPr lang="ar-SA" dirty="0"/>
              <a:t>تستخدم الشجرة الفرعية الخاصة </a:t>
            </a:r>
            <a:r>
              <a:rPr lang="en-US" dirty="0"/>
              <a:t>private(4)</a:t>
            </a:r>
            <a:r>
              <a:rPr lang="ar-SA" dirty="0"/>
              <a:t> لتحديد العناصر </a:t>
            </a:r>
            <a:r>
              <a:rPr lang="ar-SA" smtClean="0"/>
              <a:t>الأحادية في </a:t>
            </a:r>
            <a:r>
              <a:rPr lang="ar-SA" dirty="0"/>
              <a:t>نظم إدارة الشبكات، حيث إن الجزء الذي يتم الدخول إليه غالباً لهذه الشجرة الفرعية هو أقطاب خاصة </a:t>
            </a:r>
            <a:r>
              <a:rPr lang="en-US" dirty="0"/>
              <a:t>{private 1} </a:t>
            </a:r>
            <a:r>
              <a:rPr lang="ar-SA" dirty="0"/>
              <a:t> أو أقطاب مؤسسة تجارية </a:t>
            </a:r>
            <a:r>
              <a:rPr lang="en-US" dirty="0"/>
              <a:t>enterprises(1)</a:t>
            </a:r>
            <a:r>
              <a:rPr lang="ar-SA" dirty="0"/>
              <a:t>. يعرف قطب المؤسسة </a:t>
            </a:r>
            <a:r>
              <a:rPr lang="en-US" dirty="0"/>
              <a:t>enterprise node</a:t>
            </a:r>
            <a:r>
              <a:rPr lang="ar-SA" dirty="0"/>
              <a:t> بأنه هيئة لها سجلاتها الخاصة ذات امتداد محدد في قاعدة المعلومات الإدارية. كل فرع من هذه الشجرة الفرعية يتم تخصيصه لمؤسسة تجارية بمفردها. تستطيع المؤسسة التجارية بعد ذلك إنشاء خصائص </a:t>
            </a:r>
            <a:r>
              <a:rPr lang="en-US" dirty="0"/>
              <a:t>attributes</a:t>
            </a:r>
            <a:r>
              <a:rPr lang="ar-SA" dirty="0"/>
              <a:t> تتفرع من هذه الشجرة الفرعية لتحديد منتجاتها </a:t>
            </a:r>
            <a:r>
              <a:rPr lang="en-US" dirty="0"/>
              <a:t>products</a:t>
            </a:r>
            <a:r>
              <a:rPr lang="ar-SA" dirty="0"/>
              <a:t>. ويوجد قواعد المعلومات الإدارية المحددة للمورد في هذا المكان على شكل هرمي </a:t>
            </a:r>
            <a:r>
              <a:rPr lang="en-US" dirty="0"/>
              <a:t>hierarchical</a:t>
            </a:r>
            <a:r>
              <a:rPr lang="ar-SA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9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ar-SA" dirty="0"/>
              <a:t>.</a:t>
            </a:r>
            <a:r>
              <a:rPr lang="ar-SA" b="1" dirty="0"/>
              <a:t> قاعدة المعلومات الإدارية  </a:t>
            </a:r>
            <a:r>
              <a:rPr lang="en-US" dirty="0"/>
              <a:t>MIB-I</a:t>
            </a:r>
            <a:r>
              <a:rPr lang="ar-SA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ar-SA" dirty="0" smtClean="0"/>
              <a:t>تستخدم </a:t>
            </a:r>
            <a:r>
              <a:rPr lang="ar-SA" dirty="0"/>
              <a:t>قاعدة المعلومات الإدارية </a:t>
            </a:r>
            <a:r>
              <a:rPr lang="en-US" dirty="0"/>
              <a:t>MIB-I </a:t>
            </a:r>
            <a:r>
              <a:rPr lang="ar-SA" dirty="0"/>
              <a:t>في </a:t>
            </a:r>
            <a:r>
              <a:rPr lang="ar-SA" dirty="0" smtClean="0"/>
              <a:t>بروتوكول“</a:t>
            </a:r>
            <a:r>
              <a:rPr lang="en-US" dirty="0" smtClean="0"/>
              <a:t>snmpv1</a:t>
            </a:r>
            <a:r>
              <a:rPr lang="ar-SA" dirty="0" smtClean="0"/>
              <a:t>". </a:t>
            </a:r>
            <a:r>
              <a:rPr lang="ar-SA" dirty="0"/>
              <a:t>يبين الجدول4.2 نوع المعلومات الإدارية المستخدمة في </a:t>
            </a:r>
            <a:r>
              <a:rPr lang="ar-SA" dirty="0" smtClean="0"/>
              <a:t>البروتوكول“</a:t>
            </a:r>
            <a:r>
              <a:rPr lang="en-US" dirty="0" smtClean="0"/>
              <a:t>snmpv2</a:t>
            </a:r>
            <a:r>
              <a:rPr lang="ar-SA" dirty="0" smtClean="0"/>
              <a:t>"، </a:t>
            </a:r>
            <a:r>
              <a:rPr lang="ar-SA" dirty="0"/>
              <a:t>التي تحددها توصيات </a:t>
            </a:r>
            <a:r>
              <a:rPr lang="en-US" dirty="0"/>
              <a:t>RFC</a:t>
            </a:r>
            <a:r>
              <a:rPr lang="ar-SA" dirty="0"/>
              <a:t>. كما هو مبين في جدول4.2، فإن قاعدة معلومات </a:t>
            </a:r>
            <a:r>
              <a:rPr lang="ar-SA" dirty="0" smtClean="0"/>
              <a:t>“</a:t>
            </a:r>
            <a:r>
              <a:rPr lang="en-US" dirty="0" smtClean="0"/>
              <a:t>snmpv1</a:t>
            </a:r>
            <a:r>
              <a:rPr lang="ar-SA" dirty="0" smtClean="0"/>
              <a:t>" </a:t>
            </a:r>
            <a:r>
              <a:rPr lang="ar-SA" dirty="0"/>
              <a:t>تحتوي على ستة عناصر هي: عنوان الشبكة، </a:t>
            </a:r>
            <a:endParaRPr lang="en-US" dirty="0" smtClean="0"/>
          </a:p>
          <a:p>
            <a:pPr algn="r" rtl="1"/>
            <a:r>
              <a:rPr lang="ar-SA" dirty="0" smtClean="0"/>
              <a:t>وعنوان </a:t>
            </a:r>
            <a:r>
              <a:rPr lang="ar-SA" dirty="0"/>
              <a:t>بروتوكول الربط </a:t>
            </a:r>
            <a:r>
              <a:rPr lang="en-US" dirty="0"/>
              <a:t>IP</a:t>
            </a:r>
            <a:r>
              <a:rPr lang="ar-SA" dirty="0" smtClean="0"/>
              <a:t>،</a:t>
            </a:r>
            <a:endParaRPr lang="en-US" dirty="0" smtClean="0"/>
          </a:p>
          <a:p>
            <a:pPr algn="r" rtl="1"/>
            <a:r>
              <a:rPr lang="ar-SA" dirty="0" smtClean="0"/>
              <a:t> </a:t>
            </a:r>
            <a:r>
              <a:rPr lang="ar-SA" dirty="0"/>
              <a:t>وعداد موجب يتزايد فقط من 1 إلى </a:t>
            </a:r>
            <a:r>
              <a:rPr lang="en-US" dirty="0"/>
              <a:t>2^32-1</a:t>
            </a:r>
            <a:r>
              <a:rPr lang="ar-SA" dirty="0"/>
              <a:t> وطوله 32 معلومة</a:t>
            </a:r>
            <a:r>
              <a:rPr lang="ar-SA" dirty="0" smtClean="0"/>
              <a:t>،</a:t>
            </a:r>
            <a:endParaRPr lang="en-US" dirty="0" smtClean="0"/>
          </a:p>
          <a:p>
            <a:pPr algn="r" rtl="1"/>
            <a:r>
              <a:rPr lang="ar-SA" dirty="0" smtClean="0"/>
              <a:t> </a:t>
            </a:r>
            <a:r>
              <a:rPr lang="ar-SA" dirty="0"/>
              <a:t>وعداد آخر يسمى </a:t>
            </a:r>
            <a:r>
              <a:rPr lang="en-US" dirty="0"/>
              <a:t>Gauge</a:t>
            </a:r>
            <a:r>
              <a:rPr lang="ar-SA" dirty="0"/>
              <a:t> موجب يتزايد أو ينقص وقيمته العظمي </a:t>
            </a:r>
            <a:r>
              <a:rPr lang="en-US" dirty="0"/>
              <a:t>2^32-1</a:t>
            </a:r>
            <a:r>
              <a:rPr lang="ar-SA" dirty="0"/>
              <a:t>، وعداد الزمن </a:t>
            </a:r>
            <a:r>
              <a:rPr lang="en-US" dirty="0" err="1"/>
              <a:t>TimeTicks</a:t>
            </a:r>
            <a:r>
              <a:rPr lang="ar-SA" dirty="0"/>
              <a:t>، </a:t>
            </a:r>
            <a:endParaRPr lang="en-US" dirty="0" smtClean="0"/>
          </a:p>
          <a:p>
            <a:pPr algn="r" rtl="1"/>
            <a:r>
              <a:rPr lang="ar-SA" dirty="0" smtClean="0"/>
              <a:t>وقواعد </a:t>
            </a:r>
            <a:r>
              <a:rPr lang="ar-SA" dirty="0"/>
              <a:t>نحوية اختيارية يطلق عليها اسم </a:t>
            </a:r>
            <a:r>
              <a:rPr lang="en-US" dirty="0"/>
              <a:t>Opaque</a:t>
            </a:r>
            <a:r>
              <a:rPr lang="ar-SA" dirty="0"/>
              <a:t> تستخدم لوصف البيانات النصية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66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02" y="228600"/>
            <a:ext cx="6648995" cy="631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08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dirty="0"/>
              <a:t>قاعدة المعلومات الإدارية لبروتوكول </a:t>
            </a:r>
            <a:r>
              <a:rPr lang="en-US" b="1" dirty="0" smtClean="0"/>
              <a:t>snmpv2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r" rtl="1"/>
            <a:r>
              <a:rPr lang="ar-SA" u="sng" dirty="0" smtClean="0"/>
              <a:t>تنقسم </a:t>
            </a:r>
            <a:r>
              <a:rPr lang="ar-SA" u="sng" dirty="0"/>
              <a:t>قاعدة المعلومات الإدارية لبروتوكول سنمب-ف2 إلى ثلاثة أقسام هي:</a:t>
            </a:r>
            <a:endParaRPr lang="en-US" dirty="0"/>
          </a:p>
          <a:p>
            <a:pPr algn="r" rtl="1"/>
            <a:r>
              <a:rPr lang="ar-SA" dirty="0"/>
              <a:t>أ- قواعد المعلومات الإدارية التي يستخدمها البروتوكول </a:t>
            </a:r>
            <a:r>
              <a:rPr lang="ar-SA" dirty="0" smtClean="0"/>
              <a:t>“</a:t>
            </a:r>
            <a:r>
              <a:rPr lang="en-US" dirty="0" smtClean="0"/>
              <a:t>snmpv2</a:t>
            </a:r>
            <a:r>
              <a:rPr lang="ar-SA" dirty="0" smtClean="0"/>
              <a:t>".</a:t>
            </a:r>
            <a:endParaRPr lang="en-US" dirty="0"/>
          </a:p>
          <a:p>
            <a:pPr algn="r" rtl="1"/>
            <a:r>
              <a:rPr lang="ar-SA" dirty="0"/>
              <a:t>ب- قواعد معلومات إدارية من مدير لآخر، </a:t>
            </a:r>
            <a:r>
              <a:rPr lang="en-US" dirty="0"/>
              <a:t>Manage-to-Manager MIB</a:t>
            </a:r>
            <a:r>
              <a:rPr lang="ar-SA" dirty="0"/>
              <a:t>.</a:t>
            </a:r>
            <a:endParaRPr lang="en-US" dirty="0"/>
          </a:p>
          <a:p>
            <a:pPr algn="r" rtl="1"/>
            <a:r>
              <a:rPr lang="ar-SA" dirty="0"/>
              <a:t>ج- قواعد معلومات إدارية لطرفي الاتصال</a:t>
            </a:r>
            <a:r>
              <a:rPr lang="en-US" dirty="0"/>
              <a:t>Party MIB</a:t>
            </a:r>
            <a:r>
              <a:rPr lang="ar-SA" dirty="0"/>
              <a:t> . </a:t>
            </a:r>
            <a:endParaRPr lang="en-US" dirty="0"/>
          </a:p>
          <a:p>
            <a:pPr algn="r" rtl="1"/>
            <a:r>
              <a:rPr lang="en-US" dirty="0"/>
              <a:t> </a:t>
            </a:r>
          </a:p>
          <a:p>
            <a:pPr algn="r" rtl="1"/>
            <a:r>
              <a:rPr lang="ar-SA" b="1" dirty="0"/>
              <a:t>1.3  قواعد المعلومات الإدارية المستخدمة</a:t>
            </a:r>
            <a:r>
              <a:rPr lang="ar-SA" dirty="0"/>
              <a:t> في</a:t>
            </a:r>
            <a:r>
              <a:rPr lang="ar-SA" b="1" dirty="0"/>
              <a:t> </a:t>
            </a:r>
            <a:r>
              <a:rPr lang="ar-SA" b="1" dirty="0" smtClean="0"/>
              <a:t>“</a:t>
            </a:r>
            <a:r>
              <a:rPr lang="en-US" b="1" dirty="0" smtClean="0"/>
              <a:t>snmpv2</a:t>
            </a:r>
            <a:r>
              <a:rPr lang="ar-SA" b="1" dirty="0" smtClean="0"/>
              <a:t>"</a:t>
            </a:r>
            <a:endParaRPr lang="en-US" dirty="0"/>
          </a:p>
          <a:p>
            <a:pPr algn="r" rtl="1"/>
            <a:r>
              <a:rPr lang="ar-SA" dirty="0"/>
              <a:t> </a:t>
            </a:r>
            <a:endParaRPr lang="en-US" dirty="0"/>
          </a:p>
          <a:p>
            <a:pPr algn="r" rtl="1"/>
            <a:r>
              <a:rPr lang="ar-SA" u="sng" dirty="0"/>
              <a:t>تنقسم </a:t>
            </a:r>
            <a:r>
              <a:rPr lang="ar-SA" dirty="0"/>
              <a:t>قواعد المعلومات الإدارية التي يستخدمها البروتوكول </a:t>
            </a:r>
            <a:r>
              <a:rPr lang="ar-SA" dirty="0" smtClean="0"/>
              <a:t>“</a:t>
            </a:r>
            <a:r>
              <a:rPr lang="en-US" dirty="0" smtClean="0"/>
              <a:t>snmpv2</a:t>
            </a:r>
            <a:r>
              <a:rPr lang="ar-SA" dirty="0" smtClean="0"/>
              <a:t>" </a:t>
            </a:r>
            <a:r>
              <a:rPr lang="ar-SA" dirty="0"/>
              <a:t>؛ كما موضح في الشكل4.4 ؛</a:t>
            </a:r>
            <a:r>
              <a:rPr lang="ar-SA" u="sng" dirty="0"/>
              <a:t> إلى خمسة مجموعات هي: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0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73243"/>
            <a:ext cx="7269572" cy="299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5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r" rtl="1"/>
            <a:r>
              <a:rPr lang="ar-SA" dirty="0"/>
              <a:t>أ-  مجموعة إحصاءات الإصدار الثاني </a:t>
            </a:r>
            <a:r>
              <a:rPr lang="en-US" dirty="0"/>
              <a:t>SNMPv2 Statistics Group</a:t>
            </a:r>
            <a:r>
              <a:rPr lang="ar-SA" dirty="0"/>
              <a:t>. </a:t>
            </a:r>
            <a:endParaRPr lang="en-US" dirty="0"/>
          </a:p>
          <a:p>
            <a:pPr algn="r" rtl="1"/>
            <a:r>
              <a:rPr lang="ar-SA" dirty="0"/>
              <a:t>ب- مجموعة إحصاءات الإصدار الأول </a:t>
            </a:r>
            <a:r>
              <a:rPr lang="en-US" dirty="0"/>
              <a:t>SNMPv1 Statistics Group</a:t>
            </a:r>
            <a:r>
              <a:rPr lang="ar-SA" dirty="0"/>
              <a:t>. </a:t>
            </a:r>
            <a:endParaRPr lang="en-US" dirty="0"/>
          </a:p>
          <a:p>
            <a:pPr algn="r" rtl="1"/>
            <a:r>
              <a:rPr lang="ar-SA" dirty="0"/>
              <a:t>ج- مجموعة مصادر العناصر  </a:t>
            </a:r>
            <a:r>
              <a:rPr lang="en-US" dirty="0"/>
              <a:t>Object Resource Group</a:t>
            </a:r>
            <a:r>
              <a:rPr lang="ar-SA" dirty="0"/>
              <a:t>.</a:t>
            </a:r>
            <a:endParaRPr lang="en-US" dirty="0"/>
          </a:p>
          <a:p>
            <a:pPr algn="r" rtl="1"/>
            <a:r>
              <a:rPr lang="ar-SA" dirty="0"/>
              <a:t>د- مجموعة رسائل المصيدة  </a:t>
            </a:r>
            <a:r>
              <a:rPr lang="en-US" dirty="0"/>
              <a:t>Traps Group</a:t>
            </a:r>
            <a:r>
              <a:rPr lang="ar-SA" dirty="0"/>
              <a:t>.</a:t>
            </a:r>
            <a:endParaRPr lang="en-US" dirty="0"/>
          </a:p>
          <a:p>
            <a:pPr algn="r" rtl="1"/>
            <a:r>
              <a:rPr lang="ar-SA" dirty="0"/>
              <a:t>هـ - مجموعة التشغيل </a:t>
            </a:r>
            <a:r>
              <a:rPr lang="en-US" dirty="0"/>
              <a:t>Set Group</a:t>
            </a:r>
            <a:r>
              <a:rPr lang="ar-SA" dirty="0"/>
              <a:t>.</a:t>
            </a:r>
            <a:endParaRPr lang="en-US" dirty="0"/>
          </a:p>
          <a:p>
            <a:pPr algn="r" rtl="1"/>
            <a:r>
              <a:rPr lang="en-US" dirty="0"/>
              <a:t> </a:t>
            </a:r>
          </a:p>
          <a:p>
            <a:pPr algn="r" rtl="1"/>
            <a:r>
              <a:rPr lang="ar-SA" dirty="0"/>
              <a:t>وقد تم تعريف وتوصيف هذه المعلومات الإدارية في التوصيات </a:t>
            </a:r>
            <a:r>
              <a:rPr lang="en-US" dirty="0"/>
              <a:t>RFC</a:t>
            </a:r>
            <a:r>
              <a:rPr lang="ar-SA" dirty="0"/>
              <a:t>. وفيما يلي شرحٌ لهذه الوظائف.</a:t>
            </a:r>
            <a:endParaRPr lang="en-US" dirty="0"/>
          </a:p>
          <a:p>
            <a:pPr algn="r" rtl="1"/>
            <a:r>
              <a:rPr lang="ar-SA" b="1" u="sng" dirty="0"/>
              <a:t>أولا: مجموعة إحصاءات الإصدار </a:t>
            </a:r>
            <a:r>
              <a:rPr lang="en-US" b="1" u="sng" dirty="0"/>
              <a:t>SNMPv2</a:t>
            </a:r>
            <a:endParaRPr lang="en-US" dirty="0"/>
          </a:p>
          <a:p>
            <a:pPr algn="r" rtl="1"/>
            <a:r>
              <a:rPr lang="ar-SA" dirty="0"/>
              <a:t>وهى توضح العناصر التي تقوم بتوفير الإحصائيات عن المدير والوكيل للبروتوكول "سنمب-ف2". وهي توفر بالتحديد معلومات عن الرسائل التي لم يتم استطاعة معالجتها. وهي تماثل في وظائفها مجموعة قواعد المعلومات الإدارية </a:t>
            </a:r>
            <a:r>
              <a:rPr lang="en-US" dirty="0"/>
              <a:t>MIB-II</a:t>
            </a:r>
            <a:r>
              <a:rPr lang="ar-SA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7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ar-SA" dirty="0"/>
              <a:t> </a:t>
            </a:r>
            <a:r>
              <a:rPr lang="ar-SA" b="1" u="sng" dirty="0"/>
              <a:t>ثانيا: مجموعة إحصاءات الإصدار </a:t>
            </a:r>
            <a:r>
              <a:rPr lang="en-US" b="1" u="sng" dirty="0"/>
              <a:t>SNMPv1</a:t>
            </a:r>
            <a:endParaRPr lang="en-US" dirty="0"/>
          </a:p>
          <a:p>
            <a:pPr algn="r" rtl="1"/>
            <a:r>
              <a:rPr lang="ar-SA" dirty="0"/>
              <a:t>وهي توفر العناصر التي تعطي إحصاءات عن المدير أو الوكيل </a:t>
            </a:r>
            <a:r>
              <a:rPr lang="en-US" dirty="0"/>
              <a:t>SNMPv2 </a:t>
            </a:r>
            <a:r>
              <a:rPr lang="ar-SA" dirty="0"/>
              <a:t> التي تتصل أيضا مع البروتوكول </a:t>
            </a:r>
            <a:r>
              <a:rPr lang="en-US" dirty="0"/>
              <a:t>SNMPv1</a:t>
            </a:r>
            <a:r>
              <a:rPr lang="ar-SA" dirty="0"/>
              <a:t>. على سبيل المثال، فإن العنصر الموجود في مجموعة هذه المعلومات </a:t>
            </a:r>
            <a:r>
              <a:rPr lang="en-US" dirty="0"/>
              <a:t>MIB</a:t>
            </a:r>
            <a:r>
              <a:rPr lang="ar-SA" dirty="0"/>
              <a:t> يقوم بعد </a:t>
            </a:r>
            <a:r>
              <a:rPr lang="en-US" dirty="0"/>
              <a:t>count</a:t>
            </a:r>
            <a:r>
              <a:rPr lang="ar-SA" dirty="0"/>
              <a:t> عدد الرسائل التي بها "حروف مشاركة </a:t>
            </a:r>
            <a:r>
              <a:rPr lang="en-US" dirty="0"/>
              <a:t>Community Strings</a:t>
            </a:r>
            <a:r>
              <a:rPr lang="ar-SA" dirty="0"/>
              <a:t>" خطأ</a:t>
            </a:r>
            <a:r>
              <a:rPr lang="ar-SA" dirty="0" smtClean="0"/>
              <a:t>.</a:t>
            </a:r>
            <a:endParaRPr lang="en-US" dirty="0" smtClean="0"/>
          </a:p>
          <a:p>
            <a:pPr algn="r" rtl="1"/>
            <a:r>
              <a:rPr lang="ar-SA" b="1" u="sng" dirty="0"/>
              <a:t>ثالثا: مجموعة مصادر العناصر </a:t>
            </a:r>
            <a:r>
              <a:rPr lang="en-US" b="1" u="sng" dirty="0"/>
              <a:t>Object Resources </a:t>
            </a:r>
            <a:endParaRPr lang="en-US" dirty="0"/>
          </a:p>
          <a:p>
            <a:pPr algn="r" rtl="1"/>
            <a:r>
              <a:rPr lang="ar-SA" dirty="0"/>
              <a:t>وهي توفر المعلومات التي تحدد عناصر وكيل البروتوكول "سنمب-ف2" المسموح لها أن تحدد ديناميكيا. كل مصدر عنصر يكون له محدد عنصر </a:t>
            </a:r>
            <a:r>
              <a:rPr lang="en-US" dirty="0"/>
              <a:t>Object Identifier (OID)</a:t>
            </a:r>
            <a:r>
              <a:rPr lang="ar-SA" dirty="0"/>
              <a:t>، ووصف </a:t>
            </a:r>
            <a:r>
              <a:rPr lang="en-US" dirty="0"/>
              <a:t>Description</a:t>
            </a:r>
            <a:r>
              <a:rPr lang="ar-SA" dirty="0"/>
              <a:t>. يستطيع المدير- بواسطة إجراء استفسار- تحديد المعاملات البروتوكولية المسموح لها أن تهيأ ديناميكيا داخل الوكيل. يمكن ؛على سبيل المثال أن يكون أحد هذه العناصر، هو قيام طرف الاتصال </a:t>
            </a:r>
            <a:r>
              <a:rPr lang="en-US" dirty="0"/>
              <a:t>Party</a:t>
            </a:r>
            <a:r>
              <a:rPr lang="ar-SA" dirty="0"/>
              <a:t> بإجراء عملية التوثيق </a:t>
            </a:r>
            <a:r>
              <a:rPr lang="en-US" dirty="0"/>
              <a:t>Authentication</a:t>
            </a:r>
            <a:r>
              <a:rPr lang="ar-SA" dirty="0"/>
              <a:t>، أو عملية التشفير </a:t>
            </a:r>
            <a:r>
              <a:rPr lang="en-US" dirty="0"/>
              <a:t>Encryption</a:t>
            </a:r>
            <a:r>
              <a:rPr lang="ar-SA" dirty="0"/>
              <a:t>. </a:t>
            </a:r>
            <a:endParaRPr lang="en-US" dirty="0"/>
          </a:p>
          <a:p>
            <a:pPr algn="r" rt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/>
              <a:t> </a:t>
            </a:r>
            <a:endParaRPr lang="en-US" dirty="0"/>
          </a:p>
          <a:p>
            <a:pPr algn="r" rtl="1"/>
            <a:r>
              <a:rPr lang="ar-SA" b="1" u="sng" dirty="0"/>
              <a:t>رابعا: مجموعة رسائل المصيدة  </a:t>
            </a:r>
            <a:r>
              <a:rPr lang="en-US" b="1" u="sng" dirty="0"/>
              <a:t>Traps Group</a:t>
            </a:r>
            <a:endParaRPr lang="en-US" dirty="0"/>
          </a:p>
          <a:p>
            <a:pPr algn="r" rtl="1"/>
            <a:r>
              <a:rPr lang="ar-SA" dirty="0"/>
              <a:t>تحتوي هذه المجموعة على رسائل المصايد </a:t>
            </a:r>
            <a:r>
              <a:rPr lang="en-US" dirty="0"/>
              <a:t>traps</a:t>
            </a:r>
            <a:r>
              <a:rPr lang="ar-SA" dirty="0"/>
              <a:t> التي يمكن أن يرسلها الوكيل. يصاحب كل رسالة </a:t>
            </a:r>
            <a:r>
              <a:rPr lang="en-US" dirty="0"/>
              <a:t>trap</a:t>
            </a:r>
            <a:r>
              <a:rPr lang="ar-SA" dirty="0"/>
              <a:t> محدد العنصر </a:t>
            </a:r>
            <a:r>
              <a:rPr lang="en-US" dirty="0"/>
              <a:t>OID</a:t>
            </a:r>
            <a:r>
              <a:rPr lang="ar-SA" dirty="0"/>
              <a:t>، وعداد </a:t>
            </a:r>
            <a:r>
              <a:rPr lang="en-US" dirty="0"/>
              <a:t>Counter</a:t>
            </a:r>
            <a:r>
              <a:rPr lang="ar-SA" dirty="0"/>
              <a:t> لتحديد عدد المرات التي تم فيها إرسال رسالة </a:t>
            </a:r>
            <a:r>
              <a:rPr lang="en-US" dirty="0"/>
              <a:t>trap</a:t>
            </a:r>
            <a:r>
              <a:rPr lang="ar-SA" dirty="0"/>
              <a:t>. ربما يحتوي هذا الجدول - على سبيل المثال- على معلومات تبين أن الوكيل يستطيع إرسال رسالة </a:t>
            </a:r>
            <a:r>
              <a:rPr lang="en-US" dirty="0"/>
              <a:t>trap</a:t>
            </a:r>
            <a:r>
              <a:rPr lang="ar-SA" dirty="0"/>
              <a:t> تبين متى حدث اختناق </a:t>
            </a:r>
            <a:r>
              <a:rPr lang="en-US" dirty="0"/>
              <a:t>congestion</a:t>
            </a:r>
            <a:r>
              <a:rPr lang="ar-SA" dirty="0"/>
              <a:t> في منفذ مفتاح </a:t>
            </a:r>
            <a:r>
              <a:rPr lang="en-US" dirty="0"/>
              <a:t>Switch Port</a:t>
            </a:r>
            <a:r>
              <a:rPr lang="ar-SA" dirty="0"/>
              <a:t> لشبكة إقليمية </a:t>
            </a:r>
            <a:r>
              <a:rPr lang="en-US" dirty="0"/>
              <a:t>WAN</a:t>
            </a:r>
            <a:r>
              <a:rPr lang="ar-SA" dirty="0"/>
              <a:t>. وأن العداد </a:t>
            </a:r>
            <a:r>
              <a:rPr lang="en-US" dirty="0"/>
              <a:t>counter</a:t>
            </a:r>
            <a:r>
              <a:rPr lang="ar-SA" dirty="0"/>
              <a:t> المصاحب لرسالة </a:t>
            </a:r>
            <a:r>
              <a:rPr lang="en-US" dirty="0"/>
              <a:t>trap</a:t>
            </a:r>
            <a:r>
              <a:rPr lang="ar-SA" dirty="0"/>
              <a:t> سوف يخبرنا بعدد المرات التي قام بها الوكيل بإرسال رسالة </a:t>
            </a:r>
            <a:r>
              <a:rPr lang="en-US" dirty="0"/>
              <a:t>trap </a:t>
            </a:r>
            <a:r>
              <a:rPr lang="ar-SA" dirty="0"/>
              <a:t>إلى المدير.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5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b="1" u="sng" dirty="0"/>
              <a:t>خامسا: مجموعة التشغيل </a:t>
            </a:r>
            <a:r>
              <a:rPr lang="en-US" b="1" u="sng" dirty="0"/>
              <a:t>Set Group </a:t>
            </a:r>
            <a:endParaRPr lang="en-US" dirty="0"/>
          </a:p>
          <a:p>
            <a:pPr algn="r" rtl="1"/>
            <a:r>
              <a:rPr lang="ar-SA" dirty="0"/>
              <a:t>توفر هذه المجموعة من المعلومات عنصرا منفردا </a:t>
            </a:r>
            <a:r>
              <a:rPr lang="en-US" dirty="0"/>
              <a:t>Single Object</a:t>
            </a:r>
            <a:r>
              <a:rPr lang="ar-SA" dirty="0"/>
              <a:t> يسمح لمديرين متعددين أن ترسل رسائل تشغيل </a:t>
            </a:r>
            <a:r>
              <a:rPr lang="en-US" dirty="0"/>
              <a:t>SNMP Set</a:t>
            </a:r>
            <a:r>
              <a:rPr lang="ar-SA" dirty="0"/>
              <a:t> إلى وكيل منفرد دون مشاكل أو معاناة. ويطلق على هذا العنصر "رقم تسلسل التشغيل </a:t>
            </a:r>
            <a:r>
              <a:rPr lang="en-US" dirty="0"/>
              <a:t>Set Serial Number</a:t>
            </a:r>
            <a:r>
              <a:rPr lang="ar-SA" dirty="0"/>
              <a:t>"، ليساعد على تجنب الشروط التي بها يمكن أن يعاود اثنين من المديرين تشغيل نفس عنصر قاعدة المعلومات الإدارية في نفس الوقت تقريبا، وذلك بواسطة زيادة العد لمرة </a:t>
            </a:r>
            <a:r>
              <a:rPr lang="en-US" dirty="0"/>
              <a:t>incrementing once</a:t>
            </a:r>
            <a:r>
              <a:rPr lang="ar-SA" dirty="0"/>
              <a:t> لكل طلب تشغيل </a:t>
            </a:r>
            <a:r>
              <a:rPr lang="en-US" dirty="0"/>
              <a:t>Set Request</a:t>
            </a:r>
            <a:r>
              <a:rPr lang="ar-SA" dirty="0"/>
              <a:t> يتم معالجته </a:t>
            </a:r>
            <a:r>
              <a:rPr lang="en-US" dirty="0"/>
              <a:t>processed</a:t>
            </a:r>
            <a:r>
              <a:rPr lang="ar-SA" dirty="0"/>
              <a:t>. 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9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dirty="0"/>
              <a:t> بعض مشاكل البروتوكول </a:t>
            </a:r>
            <a:r>
              <a:rPr lang="ar-SA" b="1" dirty="0" smtClean="0"/>
              <a:t>“</a:t>
            </a:r>
            <a:r>
              <a:rPr lang="en-US" b="1" dirty="0" smtClean="0"/>
              <a:t>SNMPv1</a:t>
            </a:r>
            <a:r>
              <a:rPr lang="ar-SA" b="1" dirty="0" smtClean="0"/>
              <a:t>"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endParaRPr lang="en-US" dirty="0"/>
          </a:p>
          <a:p>
            <a:pPr algn="r" rtl="1"/>
            <a:r>
              <a:rPr lang="ar-SA" dirty="0"/>
              <a:t>على الرغم من كفاءة البروتوكول </a:t>
            </a:r>
            <a:r>
              <a:rPr lang="ar-SA" dirty="0" smtClean="0"/>
              <a:t>"</a:t>
            </a:r>
            <a:r>
              <a:rPr lang="en-US" b="1" dirty="0"/>
              <a:t> SNMPv1 </a:t>
            </a:r>
            <a:r>
              <a:rPr lang="ar-SA" dirty="0" smtClean="0"/>
              <a:t>" </a:t>
            </a:r>
            <a:r>
              <a:rPr lang="ar-SA" dirty="0"/>
              <a:t>في إدارة الشبكة، لكن يوجد به ثلاث مشاكل هي:</a:t>
            </a:r>
            <a:endParaRPr lang="en-US" dirty="0"/>
          </a:p>
          <a:p>
            <a:pPr algn="r" rtl="1"/>
            <a:r>
              <a:rPr lang="ar-SA" dirty="0"/>
              <a:t>-  بروتوكول قياسي للاستخدام، فقط لشبكات </a:t>
            </a:r>
            <a:r>
              <a:rPr lang="en-US" dirty="0"/>
              <a:t>IP</a:t>
            </a:r>
            <a:r>
              <a:rPr lang="ar-SA" dirty="0"/>
              <a:t>. </a:t>
            </a:r>
            <a:endParaRPr lang="en-US" dirty="0"/>
          </a:p>
          <a:p>
            <a:pPr algn="r" rtl="1"/>
            <a:r>
              <a:rPr lang="ar-SA" dirty="0"/>
              <a:t>-  غير كفء في حالة استرجاع المعلومات من الجداول الكبيرة.</a:t>
            </a:r>
            <a:endParaRPr lang="en-US" dirty="0"/>
          </a:p>
          <a:p>
            <a:pPr algn="r" rtl="1"/>
            <a:r>
              <a:rPr lang="ar-SA" dirty="0"/>
              <a:t>-  يستخدم كلمات نصية واضحة للأمن، مما يجعلها نسبيا غير آمنة.</a:t>
            </a:r>
            <a:endParaRPr lang="en-US" dirty="0"/>
          </a:p>
          <a:p>
            <a:pPr algn="r"/>
            <a:endParaRPr lang="en-US" dirty="0"/>
          </a:p>
        </p:txBody>
      </p:sp>
      <p:pic>
        <p:nvPicPr>
          <p:cNvPr id="4" name="Picture 4" descr="C:\Users\mawada\Downloads\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32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082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6052</TotalTime>
  <Words>1430</Words>
  <Application>Microsoft Office PowerPoint</Application>
  <PresentationFormat>On-screen Show (4:3)</PresentationFormat>
  <Paragraphs>82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Simplified Arabic</vt:lpstr>
      <vt:lpstr>Times New Roman</vt:lpstr>
      <vt:lpstr>Traditional Arabic</vt:lpstr>
      <vt:lpstr>Wingdings 2</vt:lpstr>
      <vt:lpstr>Flow</vt:lpstr>
      <vt:lpstr>إدارة وإستخدام الشبكات </vt:lpstr>
      <vt:lpstr>. الهيكل البنائي لقاعدة المعلومات الإدارية </vt:lpstr>
      <vt:lpstr>PowerPoint Presentation</vt:lpstr>
      <vt:lpstr>محدد العنصر Object Identifier (OID):</vt:lpstr>
      <vt:lpstr>PowerPoint Presentation</vt:lpstr>
      <vt:lpstr>PowerPoint Presentation</vt:lpstr>
      <vt:lpstr>الشجرة المستعرضة Traversal وتطبيقاتها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 قاعدة المعلومات الإدارية  MIB-I </vt:lpstr>
      <vt:lpstr>PowerPoint Presentation</vt:lpstr>
      <vt:lpstr>قاعدة المعلومات الإدارية لبروتوكول snmpv2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بعض مشاكل البروتوكول “SNMPv1"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mawadaadam@gmail.com</dc:creator>
  <cp:lastModifiedBy>hp</cp:lastModifiedBy>
  <cp:revision>64</cp:revision>
  <dcterms:created xsi:type="dcterms:W3CDTF">2022-06-25T16:03:02Z</dcterms:created>
  <dcterms:modified xsi:type="dcterms:W3CDTF">2024-05-14T14:19:52Z</dcterms:modified>
</cp:coreProperties>
</file>