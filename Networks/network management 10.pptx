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8" r:id="rId1"/>
    <p:sldMasterId id="2147483850" r:id="rId2"/>
  </p:sldMasterIdLst>
  <p:sldIdLst>
    <p:sldId id="256" r:id="rId3"/>
    <p:sldId id="292" r:id="rId4"/>
    <p:sldId id="293" r:id="rId5"/>
    <p:sldId id="294" r:id="rId6"/>
    <p:sldId id="295" r:id="rId7"/>
    <p:sldId id="311" r:id="rId8"/>
    <p:sldId id="312" r:id="rId9"/>
    <p:sldId id="313" r:id="rId10"/>
    <p:sldId id="315" r:id="rId11"/>
    <p:sldId id="316" r:id="rId12"/>
    <p:sldId id="319" r:id="rId13"/>
    <p:sldId id="320" r:id="rId14"/>
    <p:sldId id="321" r:id="rId15"/>
    <p:sldId id="322" r:id="rId16"/>
    <p:sldId id="323" r:id="rId17"/>
    <p:sldId id="324" r:id="rId18"/>
    <p:sldId id="326" r:id="rId19"/>
    <p:sldId id="328" r:id="rId20"/>
    <p:sldId id="329"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29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3598E33-A2AB-4C76-A064-386F6B304DF9}" type="datetimeFigureOut">
              <a:rPr lang="en-US" smtClean="0"/>
              <a:t>5/28/2024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3598E33-A2AB-4C76-A064-386F6B304DF9}" type="datetimeFigureOut">
              <a:rPr lang="en-US" smtClean="0"/>
              <a:t>5/28/2024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3598E33-A2AB-4C76-A064-386F6B304DF9}" type="datetimeFigureOut">
              <a:rPr lang="en-US" smtClean="0"/>
              <a:t>5/28/2024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98E33-A2AB-4C76-A064-386F6B304DF9}" type="datetimeFigureOut">
              <a:rPr lang="en-US" smtClean="0"/>
              <a:t>5/28/2024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3598E33-A2AB-4C76-A064-386F6B304DF9}" type="datetimeFigureOut">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B053F1B-4C28-4940-9DBE-82A684CF08F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2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34290" indent="0" algn="r">
              <a:buNone/>
              <a:defRPr>
                <a:solidFill>
                  <a:schemeClr val="tx1"/>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3598E33-A2AB-4C76-A064-386F6B304DF9}" type="datetimeFigureOut">
              <a:rPr lang="en-US" smtClean="0"/>
              <a:t>5/28/2024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57200218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1270929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42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1650">
                <a:solidFill>
                  <a:schemeClr val="tx1"/>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376893883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1950"/>
            </a:lvl1pPr>
            <a:lvl2pPr>
              <a:defRPr sz="1800"/>
            </a:lvl2pPr>
            <a:lvl3pPr>
              <a:defRPr sz="1500"/>
            </a:lvl3pPr>
            <a:lvl4pPr>
              <a:defRPr sz="1350"/>
            </a:lvl4pPr>
            <a:lvl5pPr>
              <a:defRPr sz="135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1950"/>
            </a:lvl1pPr>
            <a:lvl2pPr>
              <a:defRPr sz="1800"/>
            </a:lvl2pPr>
            <a:lvl3pPr>
              <a:defRPr sz="1500"/>
            </a:lvl3pPr>
            <a:lvl4pPr>
              <a:defRPr sz="1350"/>
            </a:lvl4pPr>
            <a:lvl5pPr>
              <a:defRPr sz="135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638428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1800" b="1" cap="none" baseline="0">
                <a:solidFill>
                  <a:schemeClr val="tx2"/>
                </a:solidFill>
                <a:effectLst/>
              </a:defRPr>
            </a:lvl1pPr>
            <a:lvl2pPr>
              <a:buNone/>
              <a:defRPr sz="1500" b="1"/>
            </a:lvl2pPr>
            <a:lvl3pPr>
              <a:buNone/>
              <a:defRPr sz="1350" b="1"/>
            </a:lvl3pPr>
            <a:lvl4pPr>
              <a:buNone/>
              <a:defRPr sz="1200" b="1"/>
            </a:lvl4pPr>
            <a:lvl5pPr>
              <a:buNone/>
              <a:defRPr sz="12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1859759"/>
            <a:ext cx="4041775" cy="654843"/>
          </a:xfrm>
        </p:spPr>
        <p:txBody>
          <a:bodyPr lIns="45720" tIns="0" rIns="45720" bIns="0" anchor="ctr"/>
          <a:lstStyle>
            <a:lvl1pPr marL="0" indent="0">
              <a:buNone/>
              <a:defRPr sz="1800" b="1" cap="none" baseline="0">
                <a:solidFill>
                  <a:schemeClr val="tx2"/>
                </a:solidFill>
                <a:effectLst/>
              </a:defRPr>
            </a:lvl1pPr>
            <a:lvl2pPr>
              <a:buNone/>
              <a:defRPr sz="1500" b="1"/>
            </a:lvl2pPr>
            <a:lvl3pPr>
              <a:buNone/>
              <a:defRPr sz="1350" b="1"/>
            </a:lvl3pPr>
            <a:lvl4pPr>
              <a:buNone/>
              <a:defRPr sz="1200" b="1"/>
            </a:lvl4pPr>
            <a:lvl5pPr>
              <a:buNone/>
              <a:defRPr sz="12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1650"/>
            </a:lvl1pPr>
            <a:lvl2pPr>
              <a:defRPr sz="1500"/>
            </a:lvl2pPr>
            <a:lvl3pPr>
              <a:defRPr sz="1350"/>
            </a:lvl3pPr>
            <a:lvl4pPr>
              <a:defRPr sz="1200"/>
            </a:lvl4pPr>
            <a:lvl5pPr>
              <a:defRPr sz="12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6" y="2514600"/>
            <a:ext cx="4041775" cy="3845720"/>
          </a:xfrm>
        </p:spPr>
        <p:txBody>
          <a:bodyPr tIns="0"/>
          <a:lstStyle>
            <a:lvl1pPr>
              <a:defRPr sz="1650"/>
            </a:lvl1pPr>
            <a:lvl2pPr>
              <a:defRPr sz="1500"/>
            </a:lvl2pPr>
            <a:lvl3pPr>
              <a:defRPr sz="1350"/>
            </a:lvl3pPr>
            <a:lvl4pPr>
              <a:defRPr sz="1200"/>
            </a:lvl4pPr>
            <a:lvl5pPr>
              <a:defRPr sz="12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3598E33-A2AB-4C76-A064-386F6B304DF9}" type="datetimeFigureOut">
              <a:rPr lang="en-US" smtClean="0"/>
              <a:t>5/28/2024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2272047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375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3598E33-A2AB-4C76-A064-386F6B304DF9}" type="datetimeFigureOut">
              <a:rPr lang="en-US" smtClean="0"/>
              <a:t>5/28/2024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1302698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98E33-A2AB-4C76-A064-386F6B304DF9}" type="datetimeFigureOut">
              <a:rPr lang="en-US" smtClean="0"/>
              <a:t>5/28/2024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76367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195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050"/>
            </a:lvl1pPr>
            <a:lvl2pPr indent="0" algn="l">
              <a:buNone/>
              <a:defRPr sz="900"/>
            </a:lvl2pPr>
            <a:lvl3pPr indent="0" algn="l">
              <a:buNone/>
              <a:defRPr sz="750"/>
            </a:lvl3pPr>
            <a:lvl4pPr indent="0" algn="l">
              <a:buNone/>
              <a:defRPr sz="675"/>
            </a:lvl4pPr>
            <a:lvl5pPr indent="0" algn="l">
              <a:buNone/>
              <a:defRPr sz="675"/>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100"/>
            </a:lvl1pPr>
            <a:lvl2pPr>
              <a:defRPr sz="1950"/>
            </a:lvl2pPr>
            <a:lvl3pPr>
              <a:defRPr sz="1800"/>
            </a:lvl3pPr>
            <a:lvl4pPr>
              <a:defRPr sz="1500"/>
            </a:lvl4pPr>
            <a:lvl5pPr>
              <a:defRPr sz="135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31553852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p:nvSpPr>
          <p:cNvPr id="2" name="Title 1"/>
          <p:cNvSpPr>
            <a:spLocks noGrp="1"/>
          </p:cNvSpPr>
          <p:nvPr>
            <p:ph type="title"/>
          </p:nvPr>
        </p:nvSpPr>
        <p:spPr>
          <a:xfrm>
            <a:off x="609600" y="1176998"/>
            <a:ext cx="2212848" cy="1582621"/>
          </a:xfrm>
        </p:spPr>
        <p:txBody>
          <a:bodyPr vert="horz" lIns="45720" tIns="45720" rIns="45720" bIns="45720" anchor="b"/>
          <a:lstStyle>
            <a:lvl1pPr algn="l">
              <a:buNone/>
              <a:defRPr sz="15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188"/>
              </a:spcBef>
              <a:buFontTx/>
              <a:buNone/>
              <a:defRPr sz="975"/>
            </a:lvl1pPr>
            <a:lvl2pPr>
              <a:defRPr sz="900"/>
            </a:lvl2pPr>
            <a:lvl3pPr>
              <a:defRPr sz="750"/>
            </a:lvl3pPr>
            <a:lvl4pPr>
              <a:defRPr sz="675"/>
            </a:lvl4pPr>
            <a:lvl5pPr>
              <a:defRPr sz="675"/>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3598E33-A2AB-4C76-A064-386F6B304DF9}" type="datetimeFigureOut">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2"/>
            <a:ext cx="609600" cy="365125"/>
          </a:xfrm>
        </p:spPr>
        <p:txBody>
          <a:bodyPr/>
          <a:lstStyle/>
          <a:p>
            <a:fld id="{4B053F1B-4C28-4940-9DBE-82A684CF08F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24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68580" tIns="34290" rIns="68580" bIns="34290" anchor="t" compatLnSpc="1"/>
          <a:lstStyle/>
          <a:p>
            <a:pPr marL="0" algn="l" rtl="0" eaLnBrk="1" latinLnBrk="0" hangingPunct="1"/>
            <a:endParaRPr kumimoji="0" lang="en-US" sz="1350">
              <a:solidFill>
                <a:schemeClr val="tx1"/>
              </a:solidFill>
              <a:latin typeface="+mn-lt"/>
              <a:ea typeface="+mn-ea"/>
              <a:cs typeface="+mn-cs"/>
            </a:endParaRPr>
          </a:p>
        </p:txBody>
      </p:sp>
      <p:sp>
        <p:nvSpPr>
          <p:cNvPr id="11" name="Freeform 10"/>
          <p:cNvSpPr>
            <a:spLocks/>
          </p:cNvSpPr>
          <p:nvPr/>
        </p:nvSpPr>
        <p:spPr bwMode="auto">
          <a:xfrm flipV="1">
            <a:off x="4381500" y="6219827"/>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68580" tIns="34290" rIns="68580" bIns="34290" anchor="t" compatLnSpc="1"/>
          <a:lstStyle/>
          <a:p>
            <a:pPr marL="0" algn="l" rtl="0" eaLnBrk="1" latinLnBrk="0" hangingPunct="1"/>
            <a:endParaRPr kumimoji="0" lang="en-US" sz="1350">
              <a:solidFill>
                <a:schemeClr val="tx1"/>
              </a:solidFill>
              <a:latin typeface="+mn-lt"/>
              <a:ea typeface="+mn-ea"/>
              <a:cs typeface="+mn-cs"/>
            </a:endParaRPr>
          </a:p>
        </p:txBody>
      </p:sp>
    </p:spTree>
    <p:extLst>
      <p:ext uri="{BB962C8B-B14F-4D97-AF65-F5344CB8AC3E}">
        <p14:creationId xmlns:p14="http://schemas.microsoft.com/office/powerpoint/2010/main" val="1998550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13657147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2"/>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2"/>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extLst>
      <p:ext uri="{BB962C8B-B14F-4D97-AF65-F5344CB8AC3E}">
        <p14:creationId xmlns:p14="http://schemas.microsoft.com/office/powerpoint/2010/main" val="2551927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3598E33-A2AB-4C76-A064-386F6B304DF9}" type="datetimeFigureOut">
              <a:rPr lang="en-US" smtClean="0"/>
              <a:t>5/28/2024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B053F1B-4C28-4940-9DBE-82A684CF08F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68580" tIns="34290" rIns="68580" bIns="34290" anchor="t" compatLnSpc="1"/>
          <a:lstStyle/>
          <a:p>
            <a:pPr marL="0" algn="l" rtl="0" eaLnBrk="1" latinLnBrk="0" hangingPunct="1"/>
            <a:endParaRPr kumimoji="0" lang="en-US" sz="135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68580" tIns="34290" rIns="68580" bIns="34290" anchor="t" compatLnSpc="1"/>
          <a:lstStyle/>
          <a:p>
            <a:pPr marL="0" algn="l" rtl="0" eaLnBrk="1" latinLnBrk="0" hangingPunct="1"/>
            <a:endParaRPr kumimoji="0" lang="en-US" sz="135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2"/>
            <a:ext cx="2133600" cy="365125"/>
          </a:xfrm>
          <a:prstGeom prst="rect">
            <a:avLst/>
          </a:prstGeom>
        </p:spPr>
        <p:txBody>
          <a:bodyPr vert="horz" lIns="0" tIns="0" rIns="0" bIns="0" anchor="b"/>
          <a:lstStyle>
            <a:lvl1pPr algn="l" eaLnBrk="1" latinLnBrk="0" hangingPunct="1">
              <a:defRPr kumimoji="0" sz="900">
                <a:solidFill>
                  <a:schemeClr val="tx2">
                    <a:shade val="90000"/>
                  </a:schemeClr>
                </a:solidFill>
              </a:defRPr>
            </a:lvl1pPr>
          </a:lstStyle>
          <a:p>
            <a:fld id="{A3598E33-A2AB-4C76-A064-386F6B304DF9}" type="datetimeFigureOut">
              <a:rPr lang="en-US" smtClean="0"/>
              <a:t>5/28/2024</a:t>
            </a:fld>
            <a:endParaRPr lang="en-US"/>
          </a:p>
        </p:txBody>
      </p:sp>
      <p:sp>
        <p:nvSpPr>
          <p:cNvPr id="22" name="Footer Placeholder 21"/>
          <p:cNvSpPr>
            <a:spLocks noGrp="1"/>
          </p:cNvSpPr>
          <p:nvPr>
            <p:ph type="ftr" sz="quarter" idx="3"/>
          </p:nvPr>
        </p:nvSpPr>
        <p:spPr>
          <a:xfrm>
            <a:off x="2667000" y="6356352"/>
            <a:ext cx="3352800" cy="365125"/>
          </a:xfrm>
          <a:prstGeom prst="rect">
            <a:avLst/>
          </a:prstGeom>
        </p:spPr>
        <p:txBody>
          <a:bodyPr vert="horz" lIns="0" tIns="0" rIns="0" bIns="0" anchor="b"/>
          <a:lstStyle>
            <a:lvl1pPr algn="l" eaLnBrk="1" latinLnBrk="0" hangingPunct="1">
              <a:defRPr kumimoji="0" sz="9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2"/>
            <a:ext cx="762000" cy="365125"/>
          </a:xfrm>
          <a:prstGeom prst="rect">
            <a:avLst/>
          </a:prstGeom>
        </p:spPr>
        <p:txBody>
          <a:bodyPr vert="horz" lIns="0" tIns="0" rIns="0" bIns="0" anchor="b"/>
          <a:lstStyle>
            <a:lvl1pPr algn="r" eaLnBrk="1" latinLnBrk="0" hangingPunct="1">
              <a:defRPr kumimoji="0" sz="900">
                <a:solidFill>
                  <a:schemeClr val="tx2">
                    <a:shade val="90000"/>
                  </a:schemeClr>
                </a:solidFill>
              </a:defRPr>
            </a:lvl1pPr>
          </a:lstStyle>
          <a:p>
            <a:fld id="{4B053F1B-4C28-4940-9DBE-82A684CF08F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35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350"/>
            </a:p>
          </p:txBody>
        </p:sp>
      </p:grpSp>
    </p:spTree>
    <p:extLst>
      <p:ext uri="{BB962C8B-B14F-4D97-AF65-F5344CB8AC3E}">
        <p14:creationId xmlns:p14="http://schemas.microsoft.com/office/powerpoint/2010/main" val="2172466807"/>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xStyles>
    <p:titleStyle>
      <a:lvl1pPr algn="l" rtl="0" eaLnBrk="1" latinLnBrk="0" hangingPunct="1">
        <a:spcBef>
          <a:spcPct val="0"/>
        </a:spcBef>
        <a:buNone/>
        <a:defRPr kumimoji="0" sz="3750" b="0" kern="1200">
          <a:ln>
            <a:noFill/>
          </a:ln>
          <a:solidFill>
            <a:schemeClr val="tx2"/>
          </a:solidFill>
          <a:effectLst/>
          <a:latin typeface="+mj-lt"/>
          <a:ea typeface="+mj-ea"/>
          <a:cs typeface="+mj-cs"/>
        </a:defRPr>
      </a:lvl1pPr>
    </p:titleStyle>
    <p:bodyStyle>
      <a:lvl1pPr marL="205740" indent="-205740" algn="l" rtl="0" eaLnBrk="1" latinLnBrk="0" hangingPunct="1">
        <a:spcBef>
          <a:spcPct val="20000"/>
        </a:spcBef>
        <a:buClr>
          <a:schemeClr val="accent3"/>
        </a:buClr>
        <a:buSzPct val="95000"/>
        <a:buFont typeface="Wingdings 2"/>
        <a:buChar char=""/>
        <a:defRPr kumimoji="0" sz="1950" kern="1200">
          <a:solidFill>
            <a:schemeClr val="tx1"/>
          </a:solidFill>
          <a:latin typeface="+mn-lt"/>
          <a:ea typeface="+mn-ea"/>
          <a:cs typeface="+mn-cs"/>
        </a:defRPr>
      </a:lvl1pPr>
      <a:lvl2pPr marL="480060" indent="-185166" algn="l" rtl="0" eaLnBrk="1" latinLnBrk="0" hangingPunct="1">
        <a:spcBef>
          <a:spcPct val="20000"/>
        </a:spcBef>
        <a:buClr>
          <a:schemeClr val="accent1"/>
        </a:buClr>
        <a:buSzPct val="85000"/>
        <a:buFont typeface="Wingdings 2"/>
        <a:buChar char=""/>
        <a:defRPr kumimoji="0" sz="1800" kern="1200">
          <a:solidFill>
            <a:schemeClr val="tx1"/>
          </a:solidFill>
          <a:latin typeface="+mn-lt"/>
          <a:ea typeface="+mn-ea"/>
          <a:cs typeface="+mn-cs"/>
        </a:defRPr>
      </a:lvl2pPr>
      <a:lvl3pPr marL="685800" indent="-185166" algn="l" rtl="0" eaLnBrk="1" latinLnBrk="0" hangingPunct="1">
        <a:spcBef>
          <a:spcPct val="20000"/>
        </a:spcBef>
        <a:buClr>
          <a:schemeClr val="accent2"/>
        </a:buClr>
        <a:buSzPct val="70000"/>
        <a:buFont typeface="Wingdings 2"/>
        <a:buChar char=""/>
        <a:defRPr kumimoji="0" sz="1575" kern="1200">
          <a:solidFill>
            <a:schemeClr val="tx1"/>
          </a:solidFill>
          <a:latin typeface="+mn-lt"/>
          <a:ea typeface="+mn-ea"/>
          <a:cs typeface="+mn-cs"/>
        </a:defRPr>
      </a:lvl3pPr>
      <a:lvl4pPr marL="891540" indent="-157734" algn="l" rtl="0" eaLnBrk="1" latinLnBrk="0" hangingPunct="1">
        <a:spcBef>
          <a:spcPct val="20000"/>
        </a:spcBef>
        <a:buClr>
          <a:schemeClr val="accent3"/>
        </a:buClr>
        <a:buSzPct val="65000"/>
        <a:buFont typeface="Wingdings 2"/>
        <a:buChar char=""/>
        <a:defRPr kumimoji="0" sz="1500" kern="1200">
          <a:solidFill>
            <a:schemeClr val="tx1"/>
          </a:solidFill>
          <a:latin typeface="+mn-lt"/>
          <a:ea typeface="+mn-ea"/>
          <a:cs typeface="+mn-cs"/>
        </a:defRPr>
      </a:lvl4pPr>
      <a:lvl5pPr marL="1097280" indent="-157734" algn="l" rtl="0" eaLnBrk="1" latinLnBrk="0" hangingPunct="1">
        <a:spcBef>
          <a:spcPct val="20000"/>
        </a:spcBef>
        <a:buClr>
          <a:schemeClr val="accent4"/>
        </a:buClr>
        <a:buSzPct val="65000"/>
        <a:buFont typeface="Wingdings 2"/>
        <a:buChar char=""/>
        <a:defRPr kumimoji="0" sz="1500" kern="1200">
          <a:solidFill>
            <a:schemeClr val="tx1"/>
          </a:solidFill>
          <a:latin typeface="+mn-lt"/>
          <a:ea typeface="+mn-ea"/>
          <a:cs typeface="+mn-cs"/>
        </a:defRPr>
      </a:lvl5pPr>
      <a:lvl6pPr marL="1303020" indent="-157734" algn="l" rtl="0" eaLnBrk="1" latinLnBrk="0" hangingPunct="1">
        <a:spcBef>
          <a:spcPct val="20000"/>
        </a:spcBef>
        <a:buClr>
          <a:schemeClr val="accent5"/>
        </a:buClr>
        <a:buSzPct val="80000"/>
        <a:buFont typeface="Wingdings 2"/>
        <a:buChar char=""/>
        <a:defRPr kumimoji="0" sz="1350" kern="1200">
          <a:solidFill>
            <a:schemeClr val="tx1"/>
          </a:solidFill>
          <a:latin typeface="+mn-lt"/>
          <a:ea typeface="+mn-ea"/>
          <a:cs typeface="+mn-cs"/>
        </a:defRPr>
      </a:lvl6pPr>
      <a:lvl7pPr marL="1440180" indent="-137160" algn="l" rtl="0" eaLnBrk="1" latinLnBrk="0" hangingPunct="1">
        <a:spcBef>
          <a:spcPct val="20000"/>
        </a:spcBef>
        <a:buClr>
          <a:schemeClr val="accent6"/>
        </a:buClr>
        <a:buSzPct val="80000"/>
        <a:buFont typeface="Wingdings 2"/>
        <a:buChar char=""/>
        <a:defRPr kumimoji="0" sz="1200" kern="1200" baseline="0">
          <a:solidFill>
            <a:schemeClr val="tx1"/>
          </a:solidFill>
          <a:latin typeface="+mn-lt"/>
          <a:ea typeface="+mn-ea"/>
          <a:cs typeface="+mn-cs"/>
        </a:defRPr>
      </a:lvl7pPr>
      <a:lvl8pPr marL="1645920" indent="-137160" algn="l" rtl="0" eaLnBrk="1" latinLnBrk="0" hangingPunct="1">
        <a:spcBef>
          <a:spcPct val="20000"/>
        </a:spcBef>
        <a:buClr>
          <a:schemeClr val="tx2"/>
        </a:buClr>
        <a:buChar char="•"/>
        <a:defRPr kumimoji="0" sz="1200" kern="1200">
          <a:solidFill>
            <a:schemeClr val="tx1"/>
          </a:solidFill>
          <a:latin typeface="+mn-lt"/>
          <a:ea typeface="+mn-ea"/>
          <a:cs typeface="+mn-cs"/>
        </a:defRPr>
      </a:lvl8pPr>
      <a:lvl9pPr marL="1851660" indent="-137160" algn="l" rtl="0" eaLnBrk="1" latinLnBrk="0" hangingPunct="1">
        <a:spcBef>
          <a:spcPct val="20000"/>
        </a:spcBef>
        <a:buClr>
          <a:schemeClr val="tx2"/>
        </a:buClr>
        <a:buFontTx/>
        <a:buChar char="•"/>
        <a:defRPr kumimoji="0" sz="105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ar-SA" dirty="0" smtClean="0"/>
              <a:t>إدارة وإستخدام الشبكات </a:t>
            </a:r>
            <a:endParaRPr lang="en-US" dirty="0"/>
          </a:p>
        </p:txBody>
      </p:sp>
      <p:sp>
        <p:nvSpPr>
          <p:cNvPr id="3" name="Subtitle 2"/>
          <p:cNvSpPr>
            <a:spLocks noGrp="1"/>
          </p:cNvSpPr>
          <p:nvPr>
            <p:ph type="subTitle" idx="1"/>
          </p:nvPr>
        </p:nvSpPr>
        <p:spPr>
          <a:xfrm>
            <a:off x="457200" y="3733800"/>
            <a:ext cx="7854696" cy="2590800"/>
          </a:xfrm>
        </p:spPr>
        <p:txBody>
          <a:bodyPr>
            <a:normAutofit/>
          </a:bodyPr>
          <a:lstStyle/>
          <a:p>
            <a:pPr algn="ctr" rtl="1"/>
            <a:r>
              <a:rPr lang="ar-SA" b="1" dirty="0"/>
              <a:t>. </a:t>
            </a:r>
            <a:r>
              <a:rPr lang="ar-SA" b="1" dirty="0" smtClean="0"/>
              <a:t>تطبيقات في ادارة الشبكات</a:t>
            </a:r>
            <a:r>
              <a:rPr lang="en-US" dirty="0"/>
              <a:t/>
            </a:r>
            <a:br>
              <a:rPr lang="en-US" dirty="0"/>
            </a:br>
            <a:r>
              <a:rPr lang="ar-SA" dirty="0" smtClean="0"/>
              <a:t>محاضرة رقم </a:t>
            </a:r>
            <a:r>
              <a:rPr lang="ar-SA" dirty="0" smtClean="0"/>
              <a:t>(</a:t>
            </a:r>
            <a:r>
              <a:rPr lang="en-US" dirty="0" smtClean="0"/>
              <a:t>10</a:t>
            </a:r>
            <a:r>
              <a:rPr lang="ar-SA" dirty="0" smtClean="0"/>
              <a:t>)</a:t>
            </a:r>
            <a:endParaRPr lang="ar-SA" dirty="0" smtClean="0"/>
          </a:p>
          <a:p>
            <a:pPr algn="ctr" rtl="1"/>
            <a:endParaRPr lang="ar-SA" dirty="0" smtClean="0"/>
          </a:p>
          <a:p>
            <a:pPr algn="ctr" rtl="1"/>
            <a:r>
              <a:rPr lang="ar-SA" dirty="0" smtClean="0"/>
              <a:t>					اعداد :</a:t>
            </a:r>
          </a:p>
          <a:p>
            <a:pPr algn="l" rtl="1"/>
            <a:r>
              <a:rPr lang="ar-SA" dirty="0" smtClean="0"/>
              <a:t>أ . مودة ادم محمد</a:t>
            </a:r>
            <a:endParaRPr lang="en-US" dirty="0"/>
          </a:p>
        </p:txBody>
      </p:sp>
    </p:spTree>
    <p:extLst>
      <p:ext uri="{BB962C8B-B14F-4D97-AF65-F5344CB8AC3E}">
        <p14:creationId xmlns:p14="http://schemas.microsoft.com/office/powerpoint/2010/main" val="3019230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rtl="1">
              <a:lnSpc>
                <a:spcPct val="160000"/>
              </a:lnSpc>
            </a:pPr>
            <a:r>
              <a:rPr lang="en-US" sz="2800" dirty="0">
                <a:latin typeface="Arial" panose="020B0604020202020204" pitchFamily="34" charset="0"/>
                <a:cs typeface="Arial" panose="020B0604020202020204" pitchFamily="34" charset="0"/>
              </a:rPr>
              <a:t> </a:t>
            </a:r>
            <a:r>
              <a:rPr lang="ar-SA" sz="2800" dirty="0">
                <a:latin typeface="Arial" panose="020B0604020202020204" pitchFamily="34" charset="0"/>
                <a:cs typeface="Arial" panose="020B0604020202020204" pitchFamily="34" charset="0"/>
              </a:rPr>
              <a:t>تطبيقات في إدارة الشبكات على الرغم من أن بروتوكول </a:t>
            </a:r>
            <a:r>
              <a:rPr lang="en-US" sz="2800" dirty="0">
                <a:latin typeface="Arial" panose="020B0604020202020204" pitchFamily="34" charset="0"/>
                <a:cs typeface="Arial" panose="020B0604020202020204" pitchFamily="34" charset="0"/>
              </a:rPr>
              <a:t>SNMP</a:t>
            </a:r>
            <a:r>
              <a:rPr lang="ar-SA" sz="2800" dirty="0">
                <a:latin typeface="Arial" panose="020B0604020202020204" pitchFamily="34" charset="0"/>
                <a:cs typeface="Arial" panose="020B0604020202020204" pitchFamily="34" charset="0"/>
              </a:rPr>
              <a:t> تم تصميمه للعمل في بيئة شبكات </a:t>
            </a:r>
            <a:r>
              <a:rPr lang="en-US" sz="2800" dirty="0">
                <a:latin typeface="Arial" panose="020B0604020202020204" pitchFamily="34" charset="0"/>
                <a:cs typeface="Arial" panose="020B0604020202020204" pitchFamily="34" charset="0"/>
              </a:rPr>
              <a:t>TCP/IP</a:t>
            </a:r>
            <a:r>
              <a:rPr lang="ar-SA" sz="2800" dirty="0">
                <a:latin typeface="Arial" panose="020B0604020202020204" pitchFamily="34" charset="0"/>
                <a:cs typeface="Arial" panose="020B0604020202020204" pitchFamily="34" charset="0"/>
              </a:rPr>
              <a:t>، إلا أنه يمكن توظيفه لإدارة الشبكات الأخرى مثل</a:t>
            </a:r>
            <a:r>
              <a:rPr lang="en-US" sz="2800" dirty="0">
                <a:latin typeface="Arial" panose="020B0604020202020204" pitchFamily="34" charset="0"/>
                <a:cs typeface="Arial" panose="020B0604020202020204" pitchFamily="34" charset="0"/>
              </a:rPr>
              <a:t>:</a:t>
            </a:r>
          </a:p>
          <a:p>
            <a:pPr marL="457200" indent="-457200" algn="just" rtl="1">
              <a:lnSpc>
                <a:spcPct val="160000"/>
              </a:lnSpc>
              <a:buFont typeface="Wingdings" panose="05000000000000000000" pitchFamily="2" charset="2"/>
              <a:buChar char="ü"/>
            </a:pPr>
            <a:r>
              <a:rPr lang="ar-SA" sz="2800" dirty="0">
                <a:latin typeface="Arial" panose="020B0604020202020204" pitchFamily="34" charset="0"/>
                <a:cs typeface="Arial" panose="020B0604020202020204" pitchFamily="34" charset="0"/>
              </a:rPr>
              <a:t> الشبكات التي تعمل بنظام تشغيل النوافذ، </a:t>
            </a:r>
            <a:endParaRPr lang="en-US" sz="2800" dirty="0">
              <a:latin typeface="Arial" panose="020B0604020202020204" pitchFamily="34" charset="0"/>
              <a:cs typeface="Arial" panose="020B0604020202020204" pitchFamily="34" charset="0"/>
            </a:endParaRPr>
          </a:p>
          <a:p>
            <a:pPr marL="457200" indent="-457200" algn="just" rtl="1">
              <a:lnSpc>
                <a:spcPct val="160000"/>
              </a:lnSpc>
              <a:buFont typeface="Wingdings" panose="05000000000000000000" pitchFamily="2" charset="2"/>
              <a:buChar char="ü"/>
            </a:pPr>
            <a:r>
              <a:rPr lang="ar-SA" sz="2800" dirty="0">
                <a:latin typeface="Arial" panose="020B0604020202020204" pitchFamily="34" charset="0"/>
                <a:cs typeface="Arial" panose="020B0604020202020204" pitchFamily="34" charset="0"/>
              </a:rPr>
              <a:t>والشبكات التي تعمل بنظام تشغيل يونيكس او اللينكس.</a:t>
            </a:r>
            <a:endParaRPr lang="en-US" sz="2800" dirty="0">
              <a:latin typeface="Arial" panose="020B0604020202020204" pitchFamily="34" charset="0"/>
              <a:cs typeface="Arial" panose="020B0604020202020204" pitchFamily="34" charset="0"/>
            </a:endParaRPr>
          </a:p>
          <a:p>
            <a:pPr algn="just" rtl="1">
              <a:lnSpc>
                <a:spcPct val="160000"/>
              </a:lnSpc>
            </a:pPr>
            <a:r>
              <a:rPr lang="ar-SA" sz="2800" dirty="0" smtClean="0">
                <a:latin typeface="Arial" panose="020B0604020202020204" pitchFamily="34" charset="0"/>
                <a:cs typeface="Arial" panose="020B0604020202020204" pitchFamily="34" charset="0"/>
              </a:rPr>
              <a:t>نتطرق </a:t>
            </a:r>
            <a:r>
              <a:rPr lang="ar-SA" sz="2800" dirty="0">
                <a:latin typeface="Arial" panose="020B0604020202020204" pitchFamily="34" charset="0"/>
                <a:cs typeface="Arial" panose="020B0604020202020204" pitchFamily="34" charset="0"/>
              </a:rPr>
              <a:t>في هذه المحاضرة المتطلبات اللازمة لكيفية تطبيق بروتوكول </a:t>
            </a:r>
            <a:r>
              <a:rPr lang="en-US" sz="2800" dirty="0">
                <a:latin typeface="Arial" panose="020B0604020202020204" pitchFamily="34" charset="0"/>
                <a:cs typeface="Arial" panose="020B0604020202020204" pitchFamily="34" charset="0"/>
              </a:rPr>
              <a:t>SNMP</a:t>
            </a:r>
            <a:r>
              <a:rPr lang="ar-SA" sz="2800" dirty="0">
                <a:latin typeface="Arial" panose="020B0604020202020204" pitchFamily="34" charset="0"/>
                <a:cs typeface="Arial" panose="020B0604020202020204" pitchFamily="34" charset="0"/>
              </a:rPr>
              <a:t> لإدارة أجهزة هذه الشبكات. </a:t>
            </a:r>
            <a:endParaRPr lang="en-US" sz="28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2186413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3600" b="1" dirty="0">
                <a:latin typeface="Algerian" panose="04020705040A02060702" pitchFamily="82" charset="0"/>
              </a:rPr>
              <a:t>1 . إدارة شبكات ويندوز</a:t>
            </a:r>
            <a:r>
              <a:rPr lang="en-US" sz="3600" b="1" dirty="0">
                <a:latin typeface="Algerian" panose="04020705040A02060702" pitchFamily="82" charset="0"/>
              </a:rPr>
              <a:t/>
            </a:r>
            <a:br>
              <a:rPr lang="en-US" sz="3600" b="1" dirty="0">
                <a:latin typeface="Algerian" panose="04020705040A02060702" pitchFamily="82" charset="0"/>
              </a:rPr>
            </a:br>
            <a:r>
              <a:rPr lang="en-US" sz="3600" b="1" dirty="0">
                <a:latin typeface="Algerian" panose="04020705040A02060702" pitchFamily="82" charset="0"/>
              </a:rPr>
              <a:t>NETORK  MANAGEMENT (WINDOWS)</a:t>
            </a:r>
            <a:endParaRPr lang="en-US" sz="3600" dirty="0"/>
          </a:p>
        </p:txBody>
      </p:sp>
      <p:sp>
        <p:nvSpPr>
          <p:cNvPr id="3" name="Content Placeholder 2"/>
          <p:cNvSpPr>
            <a:spLocks noGrp="1"/>
          </p:cNvSpPr>
          <p:nvPr>
            <p:ph idx="1"/>
          </p:nvPr>
        </p:nvSpPr>
        <p:spPr/>
        <p:txBody>
          <a:bodyPr/>
          <a:lstStyle/>
          <a:p>
            <a:pPr algn="r" rtl="1"/>
            <a:endParaRPr lang="en-US" dirty="0" smtClean="0"/>
          </a:p>
          <a:p>
            <a:pPr algn="r" rtl="1"/>
            <a:r>
              <a:rPr lang="ar-SA" dirty="0" smtClean="0"/>
              <a:t>إن </a:t>
            </a:r>
            <a:r>
              <a:rPr lang="ar-SA" dirty="0"/>
              <a:t>حاسبات النوافذ </a:t>
            </a:r>
            <a:r>
              <a:rPr lang="en-US" dirty="0"/>
              <a:t>NT</a:t>
            </a:r>
            <a:r>
              <a:rPr lang="ar-SA" dirty="0"/>
              <a:t> تدعم استخدام بروتوكول </a:t>
            </a:r>
            <a:r>
              <a:rPr lang="en-US" dirty="0" err="1"/>
              <a:t>snmp</a:t>
            </a:r>
            <a:r>
              <a:rPr lang="ar-YE" dirty="0" smtClean="0"/>
              <a:t>،</a:t>
            </a:r>
            <a:r>
              <a:rPr lang="ar-SA" dirty="0" smtClean="0"/>
              <a:t> </a:t>
            </a:r>
            <a:r>
              <a:rPr lang="ar-SA" dirty="0"/>
              <a:t>وتحدد عناصر قاعدة المعلومات الإدارية </a:t>
            </a:r>
            <a:r>
              <a:rPr lang="en-US" dirty="0"/>
              <a:t>MIB</a:t>
            </a:r>
            <a:r>
              <a:rPr lang="ar-SA" dirty="0"/>
              <a:t> الخاصة بها. ونتناول هنا كيفية تهيئة وتنصيب الخدمات الأساسية لبروتوكول </a:t>
            </a:r>
            <a:r>
              <a:rPr lang="en-US" dirty="0" err="1"/>
              <a:t>snmp</a:t>
            </a:r>
            <a:r>
              <a:rPr lang="ar-SA" dirty="0" smtClean="0"/>
              <a:t> </a:t>
            </a:r>
            <a:r>
              <a:rPr lang="ar-SA" dirty="0"/>
              <a:t>على شبكة النوافذ </a:t>
            </a:r>
            <a:r>
              <a:rPr lang="en-US" dirty="0"/>
              <a:t>NT</a:t>
            </a:r>
            <a:r>
              <a:rPr lang="ar-YE" dirty="0"/>
              <a:t>،</a:t>
            </a:r>
            <a:r>
              <a:rPr lang="ar-SA" dirty="0"/>
              <a:t> ونشرح العلاقات بين الوحدات البرمجية لأداء </a:t>
            </a:r>
            <a:r>
              <a:rPr lang="ar-SA" dirty="0" smtClean="0"/>
              <a:t>تطبيقات</a:t>
            </a:r>
            <a:r>
              <a:rPr lang="en-US" dirty="0"/>
              <a:t> </a:t>
            </a:r>
            <a:r>
              <a:rPr lang="en-US" dirty="0" err="1"/>
              <a:t>snmp</a:t>
            </a:r>
            <a:r>
              <a:rPr lang="en-US" dirty="0"/>
              <a:t> </a:t>
            </a:r>
            <a:r>
              <a:rPr lang="ar-SA" dirty="0" smtClean="0"/>
              <a:t>مع </a:t>
            </a:r>
            <a:r>
              <a:rPr lang="ar-SA" dirty="0"/>
              <a:t>نظام نوافذ </a:t>
            </a:r>
            <a:r>
              <a:rPr lang="en-US" dirty="0"/>
              <a:t>NT</a:t>
            </a:r>
            <a:r>
              <a:rPr lang="ar-SA" dirty="0"/>
              <a:t>. وخدمات </a:t>
            </a:r>
            <a:r>
              <a:rPr lang="en-US" dirty="0" err="1"/>
              <a:t>snmp</a:t>
            </a:r>
            <a:r>
              <a:rPr lang="ar-SA" dirty="0" smtClean="0"/>
              <a:t> </a:t>
            </a:r>
            <a:r>
              <a:rPr lang="ar-SA" dirty="0"/>
              <a:t>في نظام النوافذ، وأنواع هذه الخدمة، إضافة إلى قواعد المعلومات الإدارية </a:t>
            </a:r>
            <a:r>
              <a:rPr lang="en-US" dirty="0"/>
              <a:t>MIBs</a:t>
            </a:r>
            <a:r>
              <a:rPr lang="ar-SA" dirty="0"/>
              <a:t> لنوافذ </a:t>
            </a:r>
            <a:r>
              <a:rPr lang="en-US" dirty="0"/>
              <a:t>NT</a:t>
            </a:r>
            <a:r>
              <a:rPr lang="ar-SA" dirty="0"/>
              <a:t>.</a:t>
            </a:r>
            <a:endParaRPr lang="en-US" dirty="0"/>
          </a:p>
        </p:txBody>
      </p:sp>
    </p:spTree>
    <p:extLst>
      <p:ext uri="{BB962C8B-B14F-4D97-AF65-F5344CB8AC3E}">
        <p14:creationId xmlns:p14="http://schemas.microsoft.com/office/powerpoint/2010/main" val="3470975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3200" b="1" dirty="0">
                <a:latin typeface="Algerian" panose="04020705040A02060702" pitchFamily="82" charset="0"/>
              </a:rPr>
              <a:t>تنصيب بروتوكول </a:t>
            </a:r>
            <a:r>
              <a:rPr lang="en-US" sz="3200" b="1" dirty="0">
                <a:latin typeface="Algerian" panose="04020705040A02060702" pitchFamily="82" charset="0"/>
              </a:rPr>
              <a:t>SNMP</a:t>
            </a:r>
            <a:r>
              <a:rPr lang="ar-SA" sz="3200" b="1" dirty="0">
                <a:latin typeface="Algerian" panose="04020705040A02060702" pitchFamily="82" charset="0"/>
              </a:rPr>
              <a:t> على نظام تشغيل النوافذ </a:t>
            </a:r>
            <a:r>
              <a:rPr lang="en-US" sz="3200" dirty="0">
                <a:latin typeface="Algerian" panose="04020705040A02060702" pitchFamily="82" charset="0"/>
              </a:rPr>
              <a:t>NT</a:t>
            </a:r>
            <a:endParaRPr lang="en-US" sz="3200" dirty="0"/>
          </a:p>
        </p:txBody>
      </p:sp>
      <p:sp>
        <p:nvSpPr>
          <p:cNvPr id="3" name="Content Placeholder 2"/>
          <p:cNvSpPr>
            <a:spLocks noGrp="1"/>
          </p:cNvSpPr>
          <p:nvPr>
            <p:ph idx="1"/>
          </p:nvPr>
        </p:nvSpPr>
        <p:spPr/>
        <p:txBody>
          <a:bodyPr>
            <a:normAutofit fontScale="92500" lnSpcReduction="20000"/>
          </a:bodyPr>
          <a:lstStyle/>
          <a:p>
            <a:pPr algn="r" rtl="1">
              <a:lnSpc>
                <a:spcPct val="150000"/>
              </a:lnSpc>
            </a:pPr>
            <a:r>
              <a:rPr lang="ar-SA" sz="2400" dirty="0"/>
              <a:t>تتم عملية تنصيب وكيل </a:t>
            </a:r>
            <a:r>
              <a:rPr lang="en-US" sz="2400" dirty="0"/>
              <a:t>SNMP Agent</a:t>
            </a:r>
            <a:r>
              <a:rPr lang="ar-SA" sz="2400" dirty="0"/>
              <a:t> على حاسبات </a:t>
            </a:r>
            <a:r>
              <a:rPr lang="en-US" sz="2400" dirty="0"/>
              <a:t>NT</a:t>
            </a:r>
            <a:r>
              <a:rPr lang="ar-SA" sz="2400" dirty="0"/>
              <a:t> ، آليا</a:t>
            </a:r>
            <a:r>
              <a:rPr lang="ar-YE" sz="2400" dirty="0"/>
              <a:t>ً</a:t>
            </a:r>
            <a:r>
              <a:rPr lang="ar-SA" sz="2400" dirty="0"/>
              <a:t> أثناء تنصيب وتهيئة بروتوكول </a:t>
            </a:r>
            <a:r>
              <a:rPr lang="en-US" sz="2400" dirty="0"/>
              <a:t>TCP/IP</a:t>
            </a:r>
            <a:r>
              <a:rPr lang="ar-SA" sz="2400" dirty="0"/>
              <a:t>.</a:t>
            </a:r>
            <a:endParaRPr lang="en-US" sz="2400" dirty="0"/>
          </a:p>
          <a:p>
            <a:pPr algn="r" rtl="1">
              <a:lnSpc>
                <a:spcPct val="150000"/>
              </a:lnSpc>
            </a:pPr>
            <a:r>
              <a:rPr lang="ar-SA" sz="2400" dirty="0"/>
              <a:t> وتتم هذه العملية عندما نستخدم خادم </a:t>
            </a:r>
            <a:r>
              <a:rPr lang="en-US" sz="2400" dirty="0"/>
              <a:t>Server</a:t>
            </a:r>
            <a:r>
              <a:rPr lang="ar-SA" sz="2400" dirty="0"/>
              <a:t> يعمل بنظام تشغيل النوافذ </a:t>
            </a:r>
            <a:r>
              <a:rPr lang="en-US" sz="2400" dirty="0"/>
              <a:t>NT</a:t>
            </a:r>
            <a:r>
              <a:rPr lang="ar-SA" sz="2400" dirty="0"/>
              <a:t>.</a:t>
            </a:r>
            <a:endParaRPr lang="en-US" sz="2400" dirty="0"/>
          </a:p>
          <a:p>
            <a:pPr algn="r" rtl="1">
              <a:lnSpc>
                <a:spcPct val="150000"/>
              </a:lnSpc>
            </a:pPr>
            <a:r>
              <a:rPr lang="ar-SA" sz="2400" dirty="0"/>
              <a:t> وذلك عندما نستخدم خادم يعمل بنظام تشغيل النوافذ ويستخدم الإصدار البرمجي الخامس أو الذي يليه. </a:t>
            </a:r>
            <a:endParaRPr lang="en-US" sz="2400" dirty="0"/>
          </a:p>
          <a:p>
            <a:pPr algn="r" rtl="1">
              <a:lnSpc>
                <a:spcPct val="150000"/>
              </a:lnSpc>
            </a:pPr>
            <a:r>
              <a:rPr lang="ar-SA" sz="2400" dirty="0"/>
              <a:t>أما الخادمات التي تعمل بنظام الإصدار الرابع أو الذي قبله يمكن أن تتم عملية إضافة وكيل </a:t>
            </a:r>
            <a:r>
              <a:rPr lang="en-US" sz="2400" dirty="0"/>
              <a:t>SNMP</a:t>
            </a:r>
            <a:r>
              <a:rPr lang="ar-SA" sz="2400" dirty="0"/>
              <a:t> إلى خادم النوافذ </a:t>
            </a:r>
            <a:r>
              <a:rPr lang="en-US" sz="2400" dirty="0"/>
              <a:t>NT</a:t>
            </a:r>
            <a:r>
              <a:rPr lang="ar-SA" sz="2400" dirty="0"/>
              <a:t> في خطوة منفصلة. بعد تنصيب وتهيئة وكيل </a:t>
            </a:r>
            <a:r>
              <a:rPr lang="en-US" sz="2400" dirty="0"/>
              <a:t>SNMP</a:t>
            </a:r>
            <a:r>
              <a:rPr lang="ar-SA" sz="2400" dirty="0"/>
              <a:t>، يمكن لمحطة النوافذ إدارة وإعداد المتغيرات التي تمكن الوصول إليها من خلال محطة إدارة شبكة </a:t>
            </a:r>
            <a:r>
              <a:rPr lang="en-US" sz="2400" dirty="0"/>
              <a:t>SNMP</a:t>
            </a:r>
            <a:r>
              <a:rPr lang="ar-SA" sz="2400" dirty="0"/>
              <a:t> المركزية.</a:t>
            </a:r>
            <a:endParaRPr lang="en-US" sz="2400" dirty="0"/>
          </a:p>
          <a:p>
            <a:endParaRPr lang="en-US" dirty="0"/>
          </a:p>
        </p:txBody>
      </p:sp>
    </p:spTree>
    <p:extLst>
      <p:ext uri="{BB962C8B-B14F-4D97-AF65-F5344CB8AC3E}">
        <p14:creationId xmlns:p14="http://schemas.microsoft.com/office/powerpoint/2010/main" val="3504249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8229600" cy="1143000"/>
          </a:xfrm>
        </p:spPr>
        <p:txBody>
          <a:bodyPr>
            <a:normAutofit fontScale="90000"/>
          </a:bodyPr>
          <a:lstStyle/>
          <a:p>
            <a:pPr algn="r" rtl="1"/>
            <a:r>
              <a:rPr lang="en-US" b="1" dirty="0">
                <a:latin typeface="Algerian" panose="04020705040A02060702" pitchFamily="82" charset="0"/>
              </a:rPr>
              <a:t/>
            </a:r>
            <a:br>
              <a:rPr lang="en-US" b="1" dirty="0">
                <a:latin typeface="Algerian" panose="04020705040A02060702" pitchFamily="82" charset="0"/>
              </a:rPr>
            </a:br>
            <a:r>
              <a:rPr lang="ar-SA" sz="4000" b="1" dirty="0">
                <a:latin typeface="Algerian" panose="04020705040A02060702" pitchFamily="82" charset="0"/>
              </a:rPr>
              <a:t>خدمات </a:t>
            </a:r>
            <a:r>
              <a:rPr lang="en-US" sz="4000" b="1" dirty="0">
                <a:latin typeface="Algerian" panose="04020705040A02060702" pitchFamily="82" charset="0"/>
              </a:rPr>
              <a:t>SNMP</a:t>
            </a:r>
            <a:r>
              <a:rPr lang="ar-SA" sz="4000" b="1" dirty="0">
                <a:latin typeface="Algerian" panose="04020705040A02060702" pitchFamily="82" charset="0"/>
              </a:rPr>
              <a:t> في نظام النوافذ</a:t>
            </a:r>
            <a:r>
              <a:rPr lang="en-US" dirty="0">
                <a:solidFill>
                  <a:srgbClr val="FF0000"/>
                </a:solidFill>
                <a:latin typeface="Algerian" panose="04020705040A02060702" pitchFamily="82" charset="0"/>
              </a:rPr>
              <a:t/>
            </a:r>
            <a:br>
              <a:rPr lang="en-US" dirty="0">
                <a:solidFill>
                  <a:srgbClr val="FF0000"/>
                </a:solidFill>
                <a:latin typeface="Algerian" panose="04020705040A02060702" pitchFamily="82" charset="0"/>
              </a:rPr>
            </a:br>
            <a:endParaRPr lang="en-US" dirty="0"/>
          </a:p>
        </p:txBody>
      </p:sp>
      <p:sp>
        <p:nvSpPr>
          <p:cNvPr id="3" name="Content Placeholder 2"/>
          <p:cNvSpPr>
            <a:spLocks noGrp="1"/>
          </p:cNvSpPr>
          <p:nvPr>
            <p:ph idx="1"/>
          </p:nvPr>
        </p:nvSpPr>
        <p:spPr/>
        <p:txBody>
          <a:bodyPr/>
          <a:lstStyle/>
          <a:p>
            <a:pPr algn="just" rtl="1">
              <a:lnSpc>
                <a:spcPct val="150000"/>
              </a:lnSpc>
            </a:pPr>
            <a:r>
              <a:rPr lang="ar-SA" sz="2800" dirty="0"/>
              <a:t>يتم تنفيذ </a:t>
            </a:r>
            <a:r>
              <a:rPr lang="en-US" sz="2800" dirty="0"/>
              <a:t>SNMP</a:t>
            </a:r>
            <a:r>
              <a:rPr lang="ar-SA" sz="2800" dirty="0"/>
              <a:t> لخدمة نظام نوافذ </a:t>
            </a:r>
            <a:r>
              <a:rPr lang="en-US" sz="2800" dirty="0"/>
              <a:t>Win32</a:t>
            </a:r>
            <a:r>
              <a:rPr lang="ar-SA" sz="2800" dirty="0"/>
              <a:t>، وتنقسم الخدمات التي يقدمها بروتوكول </a:t>
            </a:r>
            <a:r>
              <a:rPr lang="en-US" sz="2800" dirty="0"/>
              <a:t>SNMP</a:t>
            </a:r>
            <a:r>
              <a:rPr lang="ar-SA" sz="2800" dirty="0"/>
              <a:t> إلى اثنين هما:</a:t>
            </a:r>
            <a:endParaRPr lang="en-US" sz="2800" dirty="0"/>
          </a:p>
          <a:p>
            <a:pPr marL="742950" indent="-742950" algn="just" rtl="1">
              <a:lnSpc>
                <a:spcPct val="150000"/>
              </a:lnSpc>
              <a:buFont typeface="+mj-lt"/>
              <a:buAutoNum type="arabicPeriod"/>
            </a:pPr>
            <a:r>
              <a:rPr lang="ar-SA" sz="2800" dirty="0"/>
              <a:t> خدمة الوكيل </a:t>
            </a:r>
            <a:r>
              <a:rPr lang="en-US" sz="2800" dirty="0"/>
              <a:t>SNMP </a:t>
            </a:r>
            <a:r>
              <a:rPr lang="ar-SA" sz="2800" dirty="0"/>
              <a:t> (التي يتم تنفيذها بواســـطة برنامج </a:t>
            </a:r>
            <a:r>
              <a:rPr lang="en-US" sz="2800" dirty="0"/>
              <a:t>SNMP.EXE</a:t>
            </a:r>
            <a:r>
              <a:rPr lang="ar-SA" sz="2800" dirty="0"/>
              <a:t>)</a:t>
            </a:r>
            <a:r>
              <a:rPr lang="en-US" sz="2800" dirty="0"/>
              <a:t>.</a:t>
            </a:r>
          </a:p>
          <a:p>
            <a:pPr marL="742950" indent="-742950" algn="just" rtl="1">
              <a:lnSpc>
                <a:spcPct val="150000"/>
              </a:lnSpc>
              <a:buFont typeface="+mj-lt"/>
              <a:buAutoNum type="arabicPeriod"/>
            </a:pPr>
            <a:r>
              <a:rPr lang="ar-SA" sz="2800" dirty="0"/>
              <a:t> وخدمة رسائل المصيدة </a:t>
            </a:r>
            <a:r>
              <a:rPr lang="en-US" sz="2800" dirty="0"/>
              <a:t>SNMP Trap</a:t>
            </a:r>
            <a:r>
              <a:rPr lang="ar-SA" sz="2800" dirty="0"/>
              <a:t> والتي يتم تنفيذها بواسطة البرنامج (</a:t>
            </a:r>
            <a:r>
              <a:rPr lang="en-US" sz="2800" dirty="0"/>
              <a:t>SNMPTRAP.EXE</a:t>
            </a:r>
            <a:r>
              <a:rPr lang="ar-SA" sz="2800" dirty="0"/>
              <a:t>).</a:t>
            </a:r>
            <a:endParaRPr lang="en-US" sz="2800" dirty="0"/>
          </a:p>
          <a:p>
            <a:pPr marL="0" indent="0" algn="just" rtl="1">
              <a:lnSpc>
                <a:spcPct val="150000"/>
              </a:lnSpc>
              <a:buNone/>
            </a:pPr>
            <a:endParaRPr lang="en-US" sz="2800" dirty="0"/>
          </a:p>
          <a:p>
            <a:endParaRPr lang="en-US" dirty="0"/>
          </a:p>
        </p:txBody>
      </p:sp>
    </p:spTree>
    <p:extLst>
      <p:ext uri="{BB962C8B-B14F-4D97-AF65-F5344CB8AC3E}">
        <p14:creationId xmlns:p14="http://schemas.microsoft.com/office/powerpoint/2010/main" val="2374508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450" y="1045369"/>
            <a:ext cx="7753350" cy="754856"/>
          </a:xfrm>
        </p:spPr>
        <p:txBody>
          <a:bodyPr/>
          <a:lstStyle/>
          <a:p>
            <a:pPr algn="r" rtl="1"/>
            <a:r>
              <a:rPr lang="ar-SA" b="1" u="sng" dirty="0" smtClean="0">
                <a:latin typeface="Algerian" panose="04020705040A02060702" pitchFamily="82" charset="0"/>
              </a:rPr>
              <a:t>تشمل خدمة الوكيل </a:t>
            </a:r>
            <a:r>
              <a:rPr lang="en-US" b="1" u="sng" dirty="0" smtClean="0">
                <a:latin typeface="Algerian" panose="04020705040A02060702" pitchFamily="82" charset="0"/>
              </a:rPr>
              <a:t>SNMP</a:t>
            </a:r>
            <a:r>
              <a:rPr lang="ar-SA" b="1" u="sng" dirty="0" smtClean="0">
                <a:latin typeface="Algerian" panose="04020705040A02060702" pitchFamily="82" charset="0"/>
              </a:rPr>
              <a:t> </a:t>
            </a:r>
            <a:endParaRPr lang="en-US" dirty="0">
              <a:latin typeface="Algerian" panose="04020705040A02060702" pitchFamily="82" charset="0"/>
            </a:endParaRPr>
          </a:p>
        </p:txBody>
      </p:sp>
      <p:sp>
        <p:nvSpPr>
          <p:cNvPr id="3" name="Content Placeholder 2"/>
          <p:cNvSpPr>
            <a:spLocks noGrp="1"/>
          </p:cNvSpPr>
          <p:nvPr>
            <p:ph idx="1"/>
          </p:nvPr>
        </p:nvSpPr>
        <p:spPr>
          <a:xfrm>
            <a:off x="85725" y="1800225"/>
            <a:ext cx="8972550" cy="4095750"/>
          </a:xfrm>
        </p:spPr>
        <p:txBody>
          <a:bodyPr>
            <a:noAutofit/>
          </a:bodyPr>
          <a:lstStyle/>
          <a:p>
            <a:pPr algn="just" rtl="1">
              <a:lnSpc>
                <a:spcPct val="150000"/>
              </a:lnSpc>
              <a:buFont typeface="Wingdings" panose="05000000000000000000" pitchFamily="2" charset="2"/>
              <a:buChar char="q"/>
            </a:pPr>
            <a:r>
              <a:rPr lang="ar-SA" sz="2400" dirty="0"/>
              <a:t>مس</a:t>
            </a:r>
            <a:r>
              <a:rPr lang="ar-YE" sz="2400" dirty="0"/>
              <a:t>ؤ</a:t>
            </a:r>
            <a:r>
              <a:rPr lang="ar-SA" sz="2400" dirty="0"/>
              <a:t>ولية  معالجة رسائل </a:t>
            </a:r>
            <a:r>
              <a:rPr lang="en-US" sz="2400" dirty="0"/>
              <a:t>SNMP Request</a:t>
            </a:r>
            <a:r>
              <a:rPr lang="ar-SA" sz="2400" dirty="0"/>
              <a:t> التي يتم استقبالها من نظم إدارة </a:t>
            </a:r>
            <a:r>
              <a:rPr lang="en-US" sz="2400" dirty="0"/>
              <a:t>SNMP</a:t>
            </a:r>
            <a:r>
              <a:rPr lang="ar-SA" sz="2400" dirty="0"/>
              <a:t>، ويرسل رسائل الاستجابة </a:t>
            </a:r>
            <a:r>
              <a:rPr lang="en-US" sz="2400" dirty="0"/>
              <a:t>Get-Response</a:t>
            </a:r>
            <a:r>
              <a:rPr lang="ar-SA" sz="2400" dirty="0"/>
              <a:t>.</a:t>
            </a:r>
          </a:p>
          <a:p>
            <a:pPr algn="just" rtl="1">
              <a:lnSpc>
                <a:spcPct val="150000"/>
              </a:lnSpc>
              <a:buFont typeface="Wingdings" panose="05000000000000000000" pitchFamily="2" charset="2"/>
              <a:buChar char="q"/>
            </a:pPr>
            <a:r>
              <a:rPr lang="ar-SA" sz="2400" dirty="0"/>
              <a:t> كما يتعامل الوكيل مع الوحدة البينية الخاصة بسوكيت النوافذ </a:t>
            </a:r>
            <a:r>
              <a:rPr lang="en-US" sz="2400" dirty="0"/>
              <a:t>(WinSock)</a:t>
            </a:r>
            <a:r>
              <a:rPr lang="ar-SA" sz="2400" dirty="0"/>
              <a:t>، والوحدة البينية لبرامج التطبيق </a:t>
            </a:r>
            <a:r>
              <a:rPr lang="en-US" sz="2400" dirty="0"/>
              <a:t>API</a:t>
            </a:r>
            <a:r>
              <a:rPr lang="ar-SA" sz="2400" dirty="0"/>
              <a:t>، ومفسر </a:t>
            </a:r>
            <a:r>
              <a:rPr lang="en-US" sz="2400" dirty="0"/>
              <a:t>Parsing</a:t>
            </a:r>
            <a:r>
              <a:rPr lang="ar-SA" sz="2400" dirty="0"/>
              <a:t> رسائل </a:t>
            </a:r>
            <a:r>
              <a:rPr lang="en-US" sz="2400" dirty="0"/>
              <a:t>SNMP</a:t>
            </a:r>
            <a:r>
              <a:rPr lang="ar-SA" sz="2400" dirty="0"/>
              <a:t>، وكذلك التعامل مع رموز القواعد المجردة </a:t>
            </a:r>
            <a:r>
              <a:rPr lang="en-US" sz="2400" dirty="0"/>
              <a:t>Abstract Syntax Notation One (ASN.1)</a:t>
            </a:r>
            <a:r>
              <a:rPr lang="ar-SA" sz="2400" dirty="0"/>
              <a:t> ،وقواعد التشفير الأساسية </a:t>
            </a:r>
            <a:r>
              <a:rPr lang="en-US" sz="2400" dirty="0"/>
              <a:t>Basic Encoding Rules(BER)</a:t>
            </a:r>
            <a:r>
              <a:rPr lang="ar-SA" sz="2400" dirty="0"/>
              <a:t>.</a:t>
            </a:r>
          </a:p>
          <a:p>
            <a:pPr algn="just" rtl="1">
              <a:lnSpc>
                <a:spcPct val="150000"/>
              </a:lnSpc>
              <a:buFont typeface="Wingdings" panose="05000000000000000000" pitchFamily="2" charset="2"/>
              <a:buChar char="q"/>
            </a:pPr>
            <a:r>
              <a:rPr lang="ar-SA" sz="2400" dirty="0"/>
              <a:t> يكون الوكيل أيضا</a:t>
            </a:r>
            <a:r>
              <a:rPr lang="ar-YE" sz="2400" dirty="0"/>
              <a:t>ً</a:t>
            </a:r>
            <a:r>
              <a:rPr lang="ar-SA" sz="2400" dirty="0"/>
              <a:t>، مسئولا</a:t>
            </a:r>
            <a:r>
              <a:rPr lang="ar-YE" sz="2400" dirty="0"/>
              <a:t>ً</a:t>
            </a:r>
            <a:r>
              <a:rPr lang="ar-SA" sz="2400" dirty="0"/>
              <a:t> عن إرسال رسائل المصيدة </a:t>
            </a:r>
            <a:r>
              <a:rPr lang="en-US" sz="2400" dirty="0"/>
              <a:t>Trap</a:t>
            </a:r>
            <a:r>
              <a:rPr lang="ar-SA" sz="2400" dirty="0"/>
              <a:t> إلى نظام إدارة الشبكة.</a:t>
            </a:r>
            <a:endParaRPr lang="en-US" sz="2400" dirty="0"/>
          </a:p>
        </p:txBody>
      </p:sp>
    </p:spTree>
    <p:extLst>
      <p:ext uri="{BB962C8B-B14F-4D97-AF65-F5344CB8AC3E}">
        <p14:creationId xmlns:p14="http://schemas.microsoft.com/office/powerpoint/2010/main" val="40141224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85800"/>
            <a:ext cx="7886700" cy="735806"/>
          </a:xfrm>
        </p:spPr>
        <p:txBody>
          <a:bodyPr>
            <a:normAutofit fontScale="90000"/>
          </a:bodyPr>
          <a:lstStyle/>
          <a:p>
            <a:pPr algn="ctr" rtl="1"/>
            <a:r>
              <a:rPr lang="ar-SA" b="1" u="sng" dirty="0" smtClean="0">
                <a:latin typeface="Algerian" panose="04020705040A02060702" pitchFamily="82" charset="0"/>
              </a:rPr>
              <a:t>يقوم برنامج "خدمة المصيدة</a:t>
            </a:r>
            <a:r>
              <a:rPr lang="en-US" b="1" u="sng" dirty="0" smtClean="0">
                <a:latin typeface="Algerian" panose="04020705040A02060702" pitchFamily="82" charset="0"/>
              </a:rPr>
              <a:t>TRAP SERVEICE </a:t>
            </a:r>
            <a:r>
              <a:rPr lang="ar-SA" b="1" u="sng" dirty="0" smtClean="0">
                <a:latin typeface="Algerian" panose="04020705040A02060702" pitchFamily="82" charset="0"/>
              </a:rPr>
              <a:t>"</a:t>
            </a:r>
            <a:endParaRPr lang="en-US" dirty="0">
              <a:latin typeface="Algerian" panose="04020705040A02060702" pitchFamily="82" charset="0"/>
            </a:endParaRPr>
          </a:p>
        </p:txBody>
      </p:sp>
      <p:sp>
        <p:nvSpPr>
          <p:cNvPr id="3" name="Content Placeholder 2"/>
          <p:cNvSpPr>
            <a:spLocks noGrp="1"/>
          </p:cNvSpPr>
          <p:nvPr>
            <p:ph idx="1"/>
          </p:nvPr>
        </p:nvSpPr>
        <p:spPr>
          <a:xfrm>
            <a:off x="914400" y="1676400"/>
            <a:ext cx="8001000" cy="4305299"/>
          </a:xfrm>
        </p:spPr>
        <p:txBody>
          <a:bodyPr>
            <a:noAutofit/>
          </a:bodyPr>
          <a:lstStyle/>
          <a:p>
            <a:pPr algn="just" rtl="1">
              <a:lnSpc>
                <a:spcPct val="150000"/>
              </a:lnSpc>
            </a:pPr>
            <a:r>
              <a:rPr lang="ar-SA" sz="2700" dirty="0"/>
              <a:t>بالإصغاء إلى رسائل المصيدة التي ترسل إلي حاسب مضيف </a:t>
            </a:r>
            <a:r>
              <a:rPr lang="en-US" sz="2700" dirty="0"/>
              <a:t>NT</a:t>
            </a:r>
            <a:r>
              <a:rPr lang="ar-SA" sz="2700" dirty="0"/>
              <a:t>،</a:t>
            </a:r>
            <a:endParaRPr lang="en-US" sz="2700" dirty="0"/>
          </a:p>
          <a:p>
            <a:pPr marL="0" indent="0" algn="just" rtl="1">
              <a:lnSpc>
                <a:spcPct val="150000"/>
              </a:lnSpc>
              <a:spcBef>
                <a:spcPts val="0"/>
              </a:spcBef>
            </a:pPr>
            <a:r>
              <a:rPr lang="ar-SA" sz="2700" dirty="0"/>
              <a:t> وبعد ذلك يقوم بتمرير البيانات إلى وحدة </a:t>
            </a:r>
            <a:r>
              <a:rPr lang="en-US" sz="2700" dirty="0"/>
              <a:t>API</a:t>
            </a:r>
            <a:r>
              <a:rPr lang="ar-SA" sz="2700" dirty="0"/>
              <a:t> الخاصة بإدارة </a:t>
            </a:r>
            <a:r>
              <a:rPr lang="en-US" sz="2700" dirty="0"/>
              <a:t>SNMP</a:t>
            </a:r>
            <a:r>
              <a:rPr lang="ar-SA" sz="2700" dirty="0"/>
              <a:t> لميكروسوفت.</a:t>
            </a:r>
            <a:endParaRPr lang="en-US" sz="2700" dirty="0"/>
          </a:p>
          <a:p>
            <a:pPr algn="just" rtl="1">
              <a:lnSpc>
                <a:spcPct val="150000"/>
              </a:lnSpc>
            </a:pPr>
            <a:r>
              <a:rPr lang="ar-SA" sz="2700" dirty="0"/>
              <a:t> تستقبل "خدمة </a:t>
            </a:r>
            <a:r>
              <a:rPr lang="ar-SA" sz="2700" dirty="0" smtClean="0"/>
              <a:t>المصيدة</a:t>
            </a:r>
            <a:r>
              <a:rPr lang="ar-SA" sz="2700" dirty="0"/>
              <a:t>" رسائل المصيدة من وحدة برنامج التطبيق </a:t>
            </a:r>
            <a:r>
              <a:rPr lang="en-US" sz="2700" dirty="0"/>
              <a:t>WinSock API</a:t>
            </a:r>
            <a:r>
              <a:rPr lang="ar-SA" sz="2700" dirty="0"/>
              <a:t> وتمرر البيانات مستخدمة</a:t>
            </a:r>
            <a:r>
              <a:rPr lang="ar-YE" sz="2700" dirty="0"/>
              <a:t>ً</a:t>
            </a:r>
            <a:r>
              <a:rPr lang="ar-SA" sz="2700" dirty="0"/>
              <a:t> خادم</a:t>
            </a:r>
            <a:r>
              <a:rPr lang="ar-YE" sz="2700" dirty="0"/>
              <a:t>اً</a:t>
            </a:r>
            <a:r>
              <a:rPr lang="ar-SA" sz="2700" dirty="0"/>
              <a:t> أنبوبي</a:t>
            </a:r>
            <a:r>
              <a:rPr lang="ar-YE" sz="2700" dirty="0"/>
              <a:t>اً </a:t>
            </a:r>
            <a:r>
              <a:rPr lang="en-US" sz="2700" dirty="0"/>
              <a:t>Pipe Server</a:t>
            </a:r>
            <a:r>
              <a:rPr lang="ar-SA" sz="2700" dirty="0" smtClean="0"/>
              <a:t>.</a:t>
            </a:r>
            <a:endParaRPr lang="en-US" sz="2700" dirty="0" smtClean="0"/>
          </a:p>
          <a:p>
            <a:pPr algn="just" rtl="1">
              <a:lnSpc>
                <a:spcPct val="150000"/>
              </a:lnSpc>
            </a:pPr>
            <a:r>
              <a:rPr lang="ar-SA" sz="2700" dirty="0"/>
              <a:t>يطلق على وكيل </a:t>
            </a:r>
            <a:r>
              <a:rPr lang="en-US" sz="2700" dirty="0"/>
              <a:t>SNMP</a:t>
            </a:r>
            <a:r>
              <a:rPr lang="ar-SA" sz="2700" dirty="0"/>
              <a:t> في نظام تشغيل النوافذ  مسمى "الوكيل الممتد أو التابع </a:t>
            </a:r>
            <a:r>
              <a:rPr lang="en-US" sz="2700" dirty="0"/>
              <a:t>Extendable SNMP Agent</a:t>
            </a:r>
            <a:r>
              <a:rPr lang="ar-YE" sz="2700" dirty="0"/>
              <a:t>"</a:t>
            </a:r>
            <a:r>
              <a:rPr lang="ar-SA" sz="2700" dirty="0"/>
              <a:t> </a:t>
            </a:r>
            <a:endParaRPr lang="en-US" sz="2700" dirty="0"/>
          </a:p>
          <a:p>
            <a:pPr algn="just" rtl="1">
              <a:lnSpc>
                <a:spcPct val="150000"/>
              </a:lnSpc>
            </a:pPr>
            <a:endParaRPr lang="en-US" sz="2700" dirty="0"/>
          </a:p>
          <a:p>
            <a:pPr marL="0" indent="0" algn="just">
              <a:lnSpc>
                <a:spcPct val="150000"/>
              </a:lnSpc>
              <a:buNone/>
            </a:pPr>
            <a:endParaRPr lang="en-US" sz="2700" dirty="0"/>
          </a:p>
        </p:txBody>
      </p:sp>
    </p:spTree>
    <p:extLst>
      <p:ext uri="{BB962C8B-B14F-4D97-AF65-F5344CB8AC3E}">
        <p14:creationId xmlns:p14="http://schemas.microsoft.com/office/powerpoint/2010/main" val="23343265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04924"/>
            <a:ext cx="7848600" cy="5172075"/>
          </a:xfrm>
        </p:spPr>
        <p:txBody>
          <a:bodyPr>
            <a:noAutofit/>
          </a:bodyPr>
          <a:lstStyle/>
          <a:p>
            <a:pPr algn="r" rtl="1">
              <a:lnSpc>
                <a:spcPct val="150000"/>
              </a:lnSpc>
            </a:pPr>
            <a:r>
              <a:rPr lang="ar-SA" sz="2800" dirty="0" smtClean="0"/>
              <a:t>يوضح </a:t>
            </a:r>
            <a:r>
              <a:rPr lang="ar-SA" sz="2800" dirty="0"/>
              <a:t>الشكل التالي العلاقة بين خدمات </a:t>
            </a:r>
            <a:r>
              <a:rPr lang="en-US" sz="2800" dirty="0"/>
              <a:t>SNMP</a:t>
            </a:r>
            <a:r>
              <a:rPr lang="ar-SA" sz="2800" dirty="0"/>
              <a:t>، وتشمل مدير تحكم الخدمة </a:t>
            </a:r>
            <a:r>
              <a:rPr lang="en-US" sz="2800" dirty="0"/>
              <a:t>Service Control Manager (SCM)</a:t>
            </a:r>
            <a:r>
              <a:rPr lang="ar-SA" sz="2800" dirty="0"/>
              <a:t>، والوكيل التابع، اللذين يعملان في نظــــــام النوافذ </a:t>
            </a:r>
            <a:r>
              <a:rPr lang="en-US" sz="2800" dirty="0"/>
              <a:t>NT</a:t>
            </a:r>
            <a:r>
              <a:rPr lang="ar-SA" sz="2800" dirty="0"/>
              <a:t>. </a:t>
            </a:r>
          </a:p>
          <a:p>
            <a:pPr algn="r" rtl="1">
              <a:lnSpc>
                <a:spcPct val="150000"/>
              </a:lnSpc>
            </a:pPr>
            <a:r>
              <a:rPr lang="ar-SA" sz="2800" dirty="0"/>
              <a:t>يتم التحكم في هذه الخدمات بواسطة مدير تحكم الخدمة </a:t>
            </a:r>
            <a:r>
              <a:rPr lang="en-US" sz="2800" dirty="0"/>
              <a:t>SCM</a:t>
            </a:r>
            <a:r>
              <a:rPr lang="ar-SA" sz="2800" dirty="0"/>
              <a:t>.</a:t>
            </a:r>
          </a:p>
          <a:p>
            <a:pPr algn="r" rtl="1">
              <a:lnSpc>
                <a:spcPct val="150000"/>
              </a:lnSpc>
            </a:pPr>
            <a:r>
              <a:rPr lang="ar-SA" sz="2800" dirty="0"/>
              <a:t> يتم تسكين الوكيل التابع داخل خدمة </a:t>
            </a:r>
            <a:r>
              <a:rPr lang="en-US" sz="2800" dirty="0"/>
              <a:t>SNMP</a:t>
            </a:r>
            <a:r>
              <a:rPr lang="ar-SA" sz="2800" dirty="0" smtClean="0"/>
              <a:t>.</a:t>
            </a:r>
            <a:endParaRPr lang="en-US" sz="2800" dirty="0" smtClean="0"/>
          </a:p>
          <a:p>
            <a:pPr algn="r" rtl="1">
              <a:lnSpc>
                <a:spcPct val="150000"/>
              </a:lnSpc>
            </a:pPr>
            <a:r>
              <a:rPr lang="ar-SA" sz="2800" dirty="0"/>
              <a:t>وهو يستقبل رسائل </a:t>
            </a:r>
            <a:r>
              <a:rPr lang="en-US" sz="2800" dirty="0"/>
              <a:t>SNMP</a:t>
            </a:r>
            <a:r>
              <a:rPr lang="ar-SA" sz="2800" dirty="0"/>
              <a:t> عبر الشبكة، باستخدام بينية برنامج التطبيق </a:t>
            </a:r>
            <a:r>
              <a:rPr lang="en-US" sz="2800" dirty="0"/>
              <a:t>WinSock API</a:t>
            </a:r>
            <a:r>
              <a:rPr lang="ar-SA" sz="2800" dirty="0"/>
              <a:t>، ويمرر رسالة البيانات لواحد أو أكثر من الوكلاء التابعين </a:t>
            </a:r>
            <a:r>
              <a:rPr lang="ar-YE" sz="2800" dirty="0"/>
              <a:t>ل</a:t>
            </a:r>
            <a:r>
              <a:rPr lang="ar-SA" sz="2800" dirty="0"/>
              <a:t>يتم تحميلهم من أجل إجراء عمليات المعالجة.</a:t>
            </a:r>
            <a:endParaRPr lang="en-US" sz="2800" dirty="0"/>
          </a:p>
          <a:p>
            <a:pPr algn="r" rtl="1">
              <a:lnSpc>
                <a:spcPct val="150000"/>
              </a:lnSpc>
            </a:pPr>
            <a:endParaRPr lang="ar-SA" sz="2800" dirty="0"/>
          </a:p>
          <a:p>
            <a:pPr algn="just" rtl="1">
              <a:lnSpc>
                <a:spcPct val="150000"/>
              </a:lnSpc>
            </a:pPr>
            <a:endParaRPr lang="en-US" sz="2700" dirty="0"/>
          </a:p>
        </p:txBody>
      </p:sp>
    </p:spTree>
    <p:extLst>
      <p:ext uri="{BB962C8B-B14F-4D97-AF65-F5344CB8AC3E}">
        <p14:creationId xmlns:p14="http://schemas.microsoft.com/office/powerpoint/2010/main" val="6732452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342900"/>
            <a:endParaRPr lang="en-US" sz="1350">
              <a:solidFill>
                <a:prstClr val="black"/>
              </a:solidFill>
              <a:latin typeface="Times New Roman"/>
            </a:endParaRPr>
          </a:p>
        </p:txBody>
      </p:sp>
      <p:grpSp>
        <p:nvGrpSpPr>
          <p:cNvPr id="6" name="Group 5"/>
          <p:cNvGrpSpPr/>
          <p:nvPr/>
        </p:nvGrpSpPr>
        <p:grpSpPr>
          <a:xfrm>
            <a:off x="1219200" y="1114425"/>
            <a:ext cx="6829425" cy="4701775"/>
            <a:chOff x="1625600" y="342900"/>
            <a:chExt cx="9105900" cy="6269033"/>
          </a:xfrm>
        </p:grpSpPr>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5600" y="342900"/>
              <a:ext cx="9105900" cy="4902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2870200" y="5103828"/>
              <a:ext cx="7211051"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ctr" defTabSz="685800" rtl="1" eaLnBrk="0" fontAlgn="base" hangingPunct="0">
                <a:spcBef>
                  <a:spcPct val="0"/>
                </a:spcBef>
                <a:spcAft>
                  <a:spcPct val="0"/>
                </a:spcAft>
              </a:pPr>
              <a:endParaRPr lang="ar-SA" sz="2100" b="1" dirty="0">
                <a:solidFill>
                  <a:prstClr val="black"/>
                </a:solidFill>
                <a:latin typeface="Algerian" panose="04020705040A02060702" pitchFamily="82" charset="0"/>
                <a:ea typeface="Times New Roman" panose="02020603050405020304" pitchFamily="18" charset="0"/>
                <a:cs typeface="Simplified Arabic" panose="02020603050405020304" pitchFamily="18" charset="-78"/>
              </a:endParaRPr>
            </a:p>
            <a:p>
              <a:pPr algn="ctr" defTabSz="685800" rtl="1" eaLnBrk="0" fontAlgn="base" hangingPunct="0">
                <a:spcBef>
                  <a:spcPct val="0"/>
                </a:spcBef>
                <a:spcAft>
                  <a:spcPct val="0"/>
                </a:spcAft>
              </a:pPr>
              <a:r>
                <a:rPr lang="ar-SA" sz="2100" b="1" dirty="0">
                  <a:solidFill>
                    <a:srgbClr val="000000"/>
                  </a:solidFill>
                  <a:latin typeface="Algerian" panose="04020705040A02060702" pitchFamily="82" charset="0"/>
                  <a:ea typeface="Times New Roman" panose="02020603050405020304" pitchFamily="18" charset="0"/>
                  <a:cs typeface="Simplified Arabic" panose="02020603050405020304" pitchFamily="18" charset="-78"/>
                </a:rPr>
                <a:t>إدارة شبكات ويندوز باستخدام بروتوكول </a:t>
              </a:r>
              <a:r>
                <a:rPr lang="en-US" sz="2100" b="1" dirty="0">
                  <a:solidFill>
                    <a:srgbClr val="000000"/>
                  </a:solidFill>
                  <a:latin typeface="Algerian" panose="04020705040A02060702" pitchFamily="82" charset="0"/>
                  <a:ea typeface="Times New Roman" panose="02020603050405020304" pitchFamily="18" charset="0"/>
                  <a:cs typeface="Simplified Arabic" panose="02020603050405020304" pitchFamily="18" charset="-78"/>
                </a:rPr>
                <a:t>SNMP</a:t>
              </a:r>
              <a:r>
                <a:rPr lang="ar-SA" sz="2100" b="1" dirty="0">
                  <a:solidFill>
                    <a:srgbClr val="000000"/>
                  </a:solidFill>
                  <a:latin typeface="Algerian" panose="04020705040A02060702" pitchFamily="82" charset="0"/>
                  <a:ea typeface="Times New Roman" panose="02020603050405020304" pitchFamily="18" charset="0"/>
                  <a:cs typeface="Simplified Arabic" panose="02020603050405020304" pitchFamily="18" charset="-78"/>
                </a:rPr>
                <a:t>.</a:t>
              </a:r>
              <a:endParaRPr lang="en-US" sz="1500" dirty="0">
                <a:solidFill>
                  <a:prstClr val="black"/>
                </a:solidFill>
                <a:latin typeface="Algerian" panose="04020705040A02060702" pitchFamily="82" charset="0"/>
              </a:endParaRPr>
            </a:p>
            <a:p>
              <a:pPr algn="ctr" defTabSz="685800" eaLnBrk="0" fontAlgn="base" hangingPunct="0">
                <a:spcBef>
                  <a:spcPct val="0"/>
                </a:spcBef>
                <a:spcAft>
                  <a:spcPct val="0"/>
                </a:spcAft>
              </a:pPr>
              <a:endParaRPr lang="en-US" sz="2700" dirty="0">
                <a:solidFill>
                  <a:prstClr val="black"/>
                </a:solidFill>
                <a:latin typeface="Algerian" panose="04020705040A02060702" pitchFamily="82" charset="0"/>
                <a:cs typeface="Arial" panose="020B0604020202020204" pitchFamily="34" charset="0"/>
              </a:endParaRPr>
            </a:p>
          </p:txBody>
        </p:sp>
      </p:grpSp>
    </p:spTree>
    <p:extLst>
      <p:ext uri="{BB962C8B-B14F-4D97-AF65-F5344CB8AC3E}">
        <p14:creationId xmlns:p14="http://schemas.microsoft.com/office/powerpoint/2010/main" val="26604180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534400" cy="4791075"/>
          </a:xfrm>
        </p:spPr>
        <p:txBody>
          <a:bodyPr>
            <a:noAutofit/>
          </a:bodyPr>
          <a:lstStyle/>
          <a:p>
            <a:pPr algn="just" rtl="1">
              <a:lnSpc>
                <a:spcPct val="150000"/>
              </a:lnSpc>
              <a:buFont typeface="Wingdings" panose="05000000000000000000" pitchFamily="2" charset="2"/>
              <a:buChar char="ü"/>
            </a:pPr>
            <a:r>
              <a:rPr lang="ar-SA" sz="2700" dirty="0"/>
              <a:t>إن الوكيل التابع هو عبارة عن ملف برنامج من نوع "مكتبة الربط الديناميكية" </a:t>
            </a:r>
            <a:r>
              <a:rPr lang="en-US" sz="2700" dirty="0"/>
              <a:t>Dynamic Link Library (DLL)</a:t>
            </a:r>
            <a:r>
              <a:rPr lang="ar-SA" sz="2700" dirty="0"/>
              <a:t>، يكون مس</a:t>
            </a:r>
            <a:r>
              <a:rPr lang="ar-YE" sz="2700" dirty="0"/>
              <a:t>ؤو</a:t>
            </a:r>
            <a:r>
              <a:rPr lang="ar-SA" sz="2700" dirty="0"/>
              <a:t>لا</a:t>
            </a:r>
            <a:r>
              <a:rPr lang="ar-YE" sz="2700" dirty="0"/>
              <a:t>ً</a:t>
            </a:r>
            <a:r>
              <a:rPr lang="ar-SA" sz="2700" dirty="0"/>
              <a:t> عن تنفيذ عمليات رسائل بروتوكول </a:t>
            </a:r>
            <a:r>
              <a:rPr lang="en-US" sz="2700" dirty="0"/>
              <a:t>SNMP</a:t>
            </a:r>
            <a:r>
              <a:rPr lang="ar-SA" sz="2700" dirty="0"/>
              <a:t>:</a:t>
            </a:r>
          </a:p>
          <a:p>
            <a:pPr algn="just" rtl="1">
              <a:lnSpc>
                <a:spcPct val="150000"/>
              </a:lnSpc>
              <a:buFont typeface="Wingdings" panose="05000000000000000000" pitchFamily="2" charset="2"/>
              <a:buChar char="ü"/>
            </a:pPr>
            <a:r>
              <a:rPr lang="ar-SA" sz="2700" dirty="0"/>
              <a:t> </a:t>
            </a:r>
            <a:r>
              <a:rPr lang="en-US" sz="2700" dirty="0"/>
              <a:t>Get-Request, </a:t>
            </a:r>
            <a:r>
              <a:rPr lang="en-US" sz="2700" dirty="0" err="1"/>
              <a:t>GetNextRequest</a:t>
            </a:r>
            <a:r>
              <a:rPr lang="en-US" sz="2700" dirty="0"/>
              <a:t>, and Set Request</a:t>
            </a:r>
            <a:r>
              <a:rPr lang="ar-SA" sz="2700" dirty="0"/>
              <a:t> باستخدام متغيرات قواعد المعلومات الإدارية </a:t>
            </a:r>
            <a:r>
              <a:rPr lang="en-US" sz="2700" dirty="0"/>
              <a:t>MIB</a:t>
            </a:r>
            <a:r>
              <a:rPr lang="ar-SA" sz="2700" dirty="0"/>
              <a:t> المحددة في الرسالة. </a:t>
            </a:r>
          </a:p>
          <a:p>
            <a:pPr algn="just" rtl="1">
              <a:lnSpc>
                <a:spcPct val="150000"/>
              </a:lnSpc>
              <a:buFont typeface="Wingdings" panose="05000000000000000000" pitchFamily="2" charset="2"/>
              <a:buChar char="ü"/>
            </a:pPr>
            <a:r>
              <a:rPr lang="ar-SA" sz="2700" dirty="0"/>
              <a:t>يمكن أن يضم النظام وكيلا</a:t>
            </a:r>
            <a:r>
              <a:rPr lang="ar-YE" sz="2700" dirty="0"/>
              <a:t>ً</a:t>
            </a:r>
            <a:r>
              <a:rPr lang="ar-SA" sz="2700" dirty="0"/>
              <a:t> تابعا</a:t>
            </a:r>
            <a:r>
              <a:rPr lang="ar-YE" sz="2700" dirty="0"/>
              <a:t>ً</a:t>
            </a:r>
            <a:r>
              <a:rPr lang="ar-SA" sz="2700" dirty="0"/>
              <a:t> "لخادم نوافذ ميكروسوفت"، ووكيلا</a:t>
            </a:r>
            <a:r>
              <a:rPr lang="ar-YE" sz="2700" dirty="0"/>
              <a:t>ً</a:t>
            </a:r>
            <a:r>
              <a:rPr lang="ar-SA" sz="2700" dirty="0"/>
              <a:t> تابعا</a:t>
            </a:r>
            <a:r>
              <a:rPr lang="ar-YE" sz="2700" dirty="0"/>
              <a:t>ً</a:t>
            </a:r>
            <a:r>
              <a:rPr lang="ar-SA" sz="2700" dirty="0"/>
              <a:t> خاص "لمدير شبكة محلية"، ووكيلا</a:t>
            </a:r>
            <a:r>
              <a:rPr lang="ar-YE" sz="2700" dirty="0"/>
              <a:t>ً</a:t>
            </a:r>
            <a:r>
              <a:rPr lang="ar-SA" sz="2700" dirty="0"/>
              <a:t> تابعا</a:t>
            </a:r>
            <a:r>
              <a:rPr lang="ar-YE" sz="2700" dirty="0"/>
              <a:t>ً</a:t>
            </a:r>
            <a:r>
              <a:rPr lang="ar-SA" sz="2700" dirty="0"/>
              <a:t> آخرا</a:t>
            </a:r>
            <a:r>
              <a:rPr lang="ar-YE" sz="2700" dirty="0"/>
              <a:t>ً</a:t>
            </a:r>
            <a:r>
              <a:rPr lang="ar-SA" sz="2700" dirty="0"/>
              <a:t> "لقاعدة المعلومات الإدارية </a:t>
            </a:r>
            <a:r>
              <a:rPr lang="en-US" sz="2700" dirty="0"/>
              <a:t>MIB-II</a:t>
            </a:r>
            <a:r>
              <a:rPr lang="ar-SA" sz="2700" dirty="0"/>
              <a:t>".</a:t>
            </a:r>
            <a:endParaRPr lang="en-US" sz="2700" dirty="0"/>
          </a:p>
          <a:p>
            <a:pPr algn="just" rtl="1">
              <a:lnSpc>
                <a:spcPct val="150000"/>
              </a:lnSpc>
              <a:buFont typeface="Wingdings" panose="05000000000000000000" pitchFamily="2" charset="2"/>
              <a:buChar char="ü"/>
            </a:pPr>
            <a:endParaRPr lang="en-US" sz="2700" dirty="0"/>
          </a:p>
        </p:txBody>
      </p:sp>
    </p:spTree>
    <p:extLst>
      <p:ext uri="{BB962C8B-B14F-4D97-AF65-F5344CB8AC3E}">
        <p14:creationId xmlns:p14="http://schemas.microsoft.com/office/powerpoint/2010/main" val="28680648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0" y="1102519"/>
            <a:ext cx="2314575" cy="669131"/>
          </a:xfrm>
        </p:spPr>
        <p:txBody>
          <a:bodyPr>
            <a:normAutofit fontScale="90000"/>
          </a:bodyPr>
          <a:lstStyle/>
          <a:p>
            <a:pPr algn="r"/>
            <a:r>
              <a:rPr lang="ar-SA" b="1" dirty="0" smtClean="0"/>
              <a:t/>
            </a:r>
            <a:br>
              <a:rPr lang="ar-SA" b="1" dirty="0" smtClean="0"/>
            </a:br>
            <a:r>
              <a:rPr lang="ar-SA" b="1" dirty="0" smtClean="0"/>
              <a:t>أنواع الخدمة</a:t>
            </a:r>
            <a:r>
              <a:rPr lang="en-US" dirty="0" smtClean="0"/>
              <a:t/>
            </a:r>
            <a:br>
              <a:rPr lang="en-US" dirty="0" smtClean="0"/>
            </a:br>
            <a:endParaRPr lang="en-US" dirty="0"/>
          </a:p>
        </p:txBody>
      </p:sp>
      <p:sp>
        <p:nvSpPr>
          <p:cNvPr id="3" name="Content Placeholder 2"/>
          <p:cNvSpPr>
            <a:spLocks noGrp="1"/>
          </p:cNvSpPr>
          <p:nvPr>
            <p:ph idx="1"/>
          </p:nvPr>
        </p:nvSpPr>
        <p:spPr>
          <a:xfrm>
            <a:off x="114300" y="1893094"/>
            <a:ext cx="8905875" cy="3263504"/>
          </a:xfrm>
        </p:spPr>
        <p:txBody>
          <a:bodyPr>
            <a:noAutofit/>
          </a:bodyPr>
          <a:lstStyle/>
          <a:p>
            <a:pPr algn="just" rtl="1">
              <a:lnSpc>
                <a:spcPct val="150000"/>
              </a:lnSpc>
            </a:pPr>
            <a:r>
              <a:rPr lang="ar-SA" sz="2400" dirty="0"/>
              <a:t>يقوم مدير تحكم خدمة </a:t>
            </a:r>
            <a:r>
              <a:rPr lang="en-US" sz="2400" dirty="0"/>
              <a:t>SNMP</a:t>
            </a:r>
            <a:r>
              <a:rPr lang="ar-SA" sz="2400" dirty="0"/>
              <a:t> لنوافذ </a:t>
            </a:r>
            <a:r>
              <a:rPr lang="en-US" sz="2400" dirty="0"/>
              <a:t>NT</a:t>
            </a:r>
            <a:r>
              <a:rPr lang="ar-SA" sz="2400" dirty="0"/>
              <a:t>، بإدارة مجموعة من الخدمات.</a:t>
            </a:r>
          </a:p>
          <a:p>
            <a:pPr algn="just" rtl="1">
              <a:lnSpc>
                <a:spcPct val="150000"/>
              </a:lnSpc>
            </a:pPr>
            <a:r>
              <a:rPr lang="ar-SA" sz="2400" dirty="0"/>
              <a:t> تعرف الخدمة بأنها نوع محدد من تطبيق  </a:t>
            </a:r>
            <a:r>
              <a:rPr lang="en-US" sz="2400" dirty="0"/>
              <a:t>Win32 </a:t>
            </a:r>
            <a:r>
              <a:rPr lang="ar-SA" sz="2400" dirty="0"/>
              <a:t> له وحدة بينية مع "مدير تحكم الخدمة </a:t>
            </a:r>
            <a:r>
              <a:rPr lang="en-US" sz="2400" dirty="0"/>
              <a:t>SCM</a:t>
            </a:r>
            <a:r>
              <a:rPr lang="ar-SA" sz="2400" dirty="0"/>
              <a:t>". تستخدم الخدمة بينية برنامج التطبيق </a:t>
            </a:r>
            <a:r>
              <a:rPr lang="en-US" sz="2400" dirty="0"/>
              <a:t>Win32 API</a:t>
            </a:r>
            <a:r>
              <a:rPr lang="ar-SA" sz="2400" dirty="0"/>
              <a:t>. </a:t>
            </a:r>
          </a:p>
          <a:p>
            <a:pPr algn="just" rtl="1">
              <a:lnSpc>
                <a:spcPct val="150000"/>
              </a:lnSpc>
            </a:pPr>
            <a:r>
              <a:rPr lang="ar-SA" sz="2400" dirty="0"/>
              <a:t>تكون مهام هذه الخدمات: رصد و مراقبة أجهزة العتاد، وعمليات المعالجات الأخرى للنظام.</a:t>
            </a:r>
          </a:p>
          <a:p>
            <a:pPr algn="just" rtl="1">
              <a:lnSpc>
                <a:spcPct val="150000"/>
              </a:lnSpc>
            </a:pPr>
            <a:r>
              <a:rPr lang="ar-SA" sz="2400" dirty="0"/>
              <a:t> ومن الضروري أن يتم معالجة هذه الخدمات في خلفية النظام </a:t>
            </a:r>
            <a:r>
              <a:rPr lang="en-US" sz="2400" dirty="0"/>
              <a:t>System Background</a:t>
            </a:r>
            <a:r>
              <a:rPr lang="ar-SA" sz="2400" dirty="0"/>
              <a:t>. </a:t>
            </a:r>
            <a:endParaRPr lang="en-US" sz="2400" dirty="0"/>
          </a:p>
          <a:p>
            <a:pPr marL="0" indent="0" algn="just" rtl="1">
              <a:lnSpc>
                <a:spcPct val="150000"/>
              </a:lnSpc>
              <a:buNone/>
            </a:pPr>
            <a:endParaRPr lang="en-US" sz="2400" dirty="0"/>
          </a:p>
        </p:txBody>
      </p:sp>
    </p:spTree>
    <p:extLst>
      <p:ext uri="{BB962C8B-B14F-4D97-AF65-F5344CB8AC3E}">
        <p14:creationId xmlns:p14="http://schemas.microsoft.com/office/powerpoint/2010/main" val="38583239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7934325" cy="5143500"/>
          </a:xfrm>
        </p:spPr>
        <p:txBody>
          <a:bodyPr>
            <a:noAutofit/>
          </a:bodyPr>
          <a:lstStyle/>
          <a:p>
            <a:pPr algn="just" rtl="1">
              <a:lnSpc>
                <a:spcPct val="150000"/>
              </a:lnSpc>
            </a:pPr>
            <a:r>
              <a:rPr lang="ar-SA" sz="2400" dirty="0"/>
              <a:t>يوجد نوع</a:t>
            </a:r>
            <a:r>
              <a:rPr lang="ar-YE" sz="2400" dirty="0"/>
              <a:t>ا</a:t>
            </a:r>
            <a:r>
              <a:rPr lang="ar-SA" sz="2400" dirty="0"/>
              <a:t>ن من الخدمات: هما 1) خدمات الأجهزة </a:t>
            </a:r>
            <a:r>
              <a:rPr lang="en-US" sz="2400" dirty="0"/>
              <a:t>Device Services</a:t>
            </a:r>
            <a:r>
              <a:rPr lang="ar-SA" sz="2400" dirty="0"/>
              <a:t>، و2) خدمات النظام </a:t>
            </a:r>
            <a:r>
              <a:rPr lang="en-US" sz="2400" dirty="0"/>
              <a:t>System Services</a:t>
            </a:r>
            <a:r>
              <a:rPr lang="ar-SA" sz="2400" dirty="0"/>
              <a:t>. </a:t>
            </a:r>
          </a:p>
          <a:p>
            <a:pPr algn="just" rtl="1">
              <a:lnSpc>
                <a:spcPct val="150000"/>
              </a:lnSpc>
            </a:pPr>
            <a:r>
              <a:rPr lang="ar-SA" sz="2400" dirty="0"/>
              <a:t>تكون مهام خدمات النظام بمراقبة وصيانة عمليات محددة مثل</a:t>
            </a:r>
            <a:r>
              <a:rPr lang="ar-YE" sz="2400" dirty="0"/>
              <a:t>:</a:t>
            </a:r>
            <a:r>
              <a:rPr lang="ar-SA" sz="2400" dirty="0"/>
              <a:t> أحداث سجل الدخول </a:t>
            </a:r>
            <a:r>
              <a:rPr lang="en-US" sz="2400" dirty="0"/>
              <a:t>Even Log</a:t>
            </a:r>
            <a:r>
              <a:rPr lang="ar-SA" sz="2400" dirty="0"/>
              <a:t>، متصفح الحاسوب </a:t>
            </a:r>
            <a:r>
              <a:rPr lang="en-US" sz="2400" dirty="0"/>
              <a:t>Computer Browser</a:t>
            </a:r>
            <a:r>
              <a:rPr lang="ar-SA" sz="2400" dirty="0"/>
              <a:t>، والمراسل </a:t>
            </a:r>
            <a:r>
              <a:rPr lang="en-US" sz="2400" dirty="0"/>
              <a:t>Messenger</a:t>
            </a:r>
            <a:r>
              <a:rPr lang="ar-SA" sz="2400" dirty="0"/>
              <a:t>، وهكذا.</a:t>
            </a:r>
            <a:endParaRPr lang="en-US" sz="2400" dirty="0"/>
          </a:p>
          <a:p>
            <a:pPr algn="just" rtl="1">
              <a:lnSpc>
                <a:spcPct val="150000"/>
              </a:lnSpc>
            </a:pPr>
            <a:r>
              <a:rPr lang="ar-SA" sz="2400" dirty="0"/>
              <a:t>أما خدمات الأجهزة (تسمى المشغلات </a:t>
            </a:r>
            <a:r>
              <a:rPr lang="en-US" sz="2400" dirty="0"/>
              <a:t>Drivers</a:t>
            </a:r>
            <a:r>
              <a:rPr lang="ar-SA" sz="2400" dirty="0"/>
              <a:t>)، تستخدم للتحكم في عتاد الطرفيات المتصلة بمحطة العمل </a:t>
            </a:r>
            <a:r>
              <a:rPr lang="en-US" sz="2400" dirty="0"/>
              <a:t>Workstation</a:t>
            </a:r>
            <a:r>
              <a:rPr lang="ar-SA" sz="2400" dirty="0"/>
              <a:t>، مثل (مشغلات الأقراص، أو بطاقات الشبكة)، وتعمل كوحدة بينية للتطبيقات البرمجية لعتاد الأجهزة. </a:t>
            </a:r>
            <a:endParaRPr lang="en-US" sz="2400" dirty="0"/>
          </a:p>
        </p:txBody>
      </p:sp>
    </p:spTree>
    <p:extLst>
      <p:ext uri="{BB962C8B-B14F-4D97-AF65-F5344CB8AC3E}">
        <p14:creationId xmlns:p14="http://schemas.microsoft.com/office/powerpoint/2010/main" val="2001737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799" y="1409701"/>
            <a:ext cx="7848601" cy="4280297"/>
          </a:xfrm>
        </p:spPr>
        <p:txBody>
          <a:bodyPr>
            <a:noAutofit/>
          </a:bodyPr>
          <a:lstStyle/>
          <a:p>
            <a:pPr algn="just" rtl="1">
              <a:lnSpc>
                <a:spcPct val="150000"/>
              </a:lnSpc>
            </a:pPr>
            <a:r>
              <a:rPr lang="ar-SA" sz="3000" dirty="0"/>
              <a:t>يتم تنصيب خدمة بروتوكول </a:t>
            </a:r>
            <a:r>
              <a:rPr lang="en-US" sz="3000" dirty="0"/>
              <a:t>SNMP</a:t>
            </a:r>
            <a:r>
              <a:rPr lang="ar-SA" sz="3000" dirty="0"/>
              <a:t> في نظام النوافذ </a:t>
            </a:r>
            <a:r>
              <a:rPr lang="en-US" sz="3000" dirty="0"/>
              <a:t>NT</a:t>
            </a:r>
            <a:r>
              <a:rPr lang="ar-SA" sz="3000" dirty="0"/>
              <a:t>، مثل خدمات الشبكة الأخرى. </a:t>
            </a:r>
          </a:p>
          <a:p>
            <a:pPr algn="just" rtl="1">
              <a:lnSpc>
                <a:spcPct val="150000"/>
              </a:lnSpc>
            </a:pPr>
            <a:r>
              <a:rPr lang="ar-SA" sz="3000" dirty="0"/>
              <a:t>المطلب الوحيد هو أن يتم تنصيب المركم البروتوكولي </a:t>
            </a:r>
            <a:r>
              <a:rPr lang="en-US" sz="3000" dirty="0"/>
              <a:t>TCP/IP</a:t>
            </a:r>
            <a:r>
              <a:rPr lang="ar-SA" sz="3000" dirty="0"/>
              <a:t> أولا</a:t>
            </a:r>
            <a:r>
              <a:rPr lang="ar-YE" sz="3000" dirty="0"/>
              <a:t>ً</a:t>
            </a:r>
            <a:r>
              <a:rPr lang="ar-SA" sz="3000" dirty="0"/>
              <a:t> قبل تنصيب خدمة </a:t>
            </a:r>
            <a:r>
              <a:rPr lang="en-US" sz="3000" dirty="0"/>
              <a:t>SNMP</a:t>
            </a:r>
            <a:r>
              <a:rPr lang="ar-SA" sz="3000" dirty="0"/>
              <a:t>. </a:t>
            </a:r>
          </a:p>
          <a:p>
            <a:pPr algn="just" rtl="1">
              <a:lnSpc>
                <a:spcPct val="150000"/>
              </a:lnSpc>
            </a:pPr>
            <a:r>
              <a:rPr lang="ar-SA" sz="3000" dirty="0"/>
              <a:t>إن المركم البروتوكولي </a:t>
            </a:r>
            <a:r>
              <a:rPr lang="en-US" sz="3000" dirty="0"/>
              <a:t>TCP/IP-32</a:t>
            </a:r>
            <a:r>
              <a:rPr lang="ar-SA" sz="3000" dirty="0"/>
              <a:t> يوجد ضمن برنامج النوافذ </a:t>
            </a:r>
            <a:r>
              <a:rPr lang="en-US" sz="3000" dirty="0"/>
              <a:t>NT</a:t>
            </a:r>
            <a:r>
              <a:rPr lang="ar-SA" sz="3000" dirty="0"/>
              <a:t> . </a:t>
            </a:r>
            <a:endParaRPr lang="en-US" sz="3000" dirty="0"/>
          </a:p>
          <a:p>
            <a:pPr algn="just" rtl="1">
              <a:lnSpc>
                <a:spcPct val="150000"/>
              </a:lnSpc>
            </a:pPr>
            <a:endParaRPr lang="en-US" sz="3000" dirty="0"/>
          </a:p>
        </p:txBody>
      </p:sp>
    </p:spTree>
    <p:extLst>
      <p:ext uri="{BB962C8B-B14F-4D97-AF65-F5344CB8AC3E}">
        <p14:creationId xmlns:p14="http://schemas.microsoft.com/office/powerpoint/2010/main" val="12026720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16794"/>
            <a:ext cx="6991350" cy="812006"/>
          </a:xfrm>
        </p:spPr>
        <p:txBody>
          <a:bodyPr>
            <a:noAutofit/>
          </a:bodyPr>
          <a:lstStyle/>
          <a:p>
            <a:pPr algn="ctr" rtl="1"/>
            <a:r>
              <a:rPr lang="ar-SA" sz="3600" dirty="0">
                <a:latin typeface="Algerian" panose="04020705040A02060702" pitchFamily="82" charset="0"/>
              </a:rPr>
              <a:t/>
            </a:r>
            <a:br>
              <a:rPr lang="ar-SA" sz="3600" dirty="0">
                <a:latin typeface="Algerian" panose="04020705040A02060702" pitchFamily="82" charset="0"/>
              </a:rPr>
            </a:br>
            <a:r>
              <a:rPr lang="ar-SA" sz="3600" b="1" dirty="0">
                <a:latin typeface="Algerian" panose="04020705040A02060702" pitchFamily="82" charset="0"/>
              </a:rPr>
              <a:t>قواعد المعلومات الإدارية  </a:t>
            </a:r>
            <a:r>
              <a:rPr lang="en-US" sz="3600" b="1" dirty="0">
                <a:latin typeface="Algerian" panose="04020705040A02060702" pitchFamily="82" charset="0"/>
              </a:rPr>
              <a:t>MIBs </a:t>
            </a:r>
            <a:r>
              <a:rPr lang="ar-SA" sz="3600" b="1" dirty="0">
                <a:latin typeface="Algerian" panose="04020705040A02060702" pitchFamily="82" charset="0"/>
              </a:rPr>
              <a:t> لنوافذ </a:t>
            </a:r>
            <a:r>
              <a:rPr lang="en-US" sz="3600" b="1" dirty="0">
                <a:latin typeface="Algerian" panose="04020705040A02060702" pitchFamily="82" charset="0"/>
              </a:rPr>
              <a:t>NT</a:t>
            </a:r>
            <a:r>
              <a:rPr lang="en-US" sz="3600" dirty="0">
                <a:latin typeface="Algerian" panose="04020705040A02060702" pitchFamily="82" charset="0"/>
              </a:rPr>
              <a:t/>
            </a:r>
            <a:br>
              <a:rPr lang="en-US" sz="3600" dirty="0">
                <a:latin typeface="Algerian" panose="04020705040A02060702" pitchFamily="82" charset="0"/>
              </a:rPr>
            </a:br>
            <a:endParaRPr lang="en-US" sz="3600" dirty="0">
              <a:latin typeface="Algerian" panose="04020705040A02060702" pitchFamily="82" charset="0"/>
            </a:endParaRPr>
          </a:p>
        </p:txBody>
      </p:sp>
      <p:sp>
        <p:nvSpPr>
          <p:cNvPr id="3" name="Content Placeholder 2"/>
          <p:cNvSpPr>
            <a:spLocks noGrp="1"/>
          </p:cNvSpPr>
          <p:nvPr>
            <p:ph idx="1"/>
          </p:nvPr>
        </p:nvSpPr>
        <p:spPr>
          <a:xfrm>
            <a:off x="628650" y="1828800"/>
            <a:ext cx="7810500" cy="3657600"/>
          </a:xfrm>
        </p:spPr>
        <p:txBody>
          <a:bodyPr>
            <a:noAutofit/>
          </a:bodyPr>
          <a:lstStyle/>
          <a:p>
            <a:pPr algn="just" rtl="1">
              <a:lnSpc>
                <a:spcPct val="150000"/>
              </a:lnSpc>
            </a:pPr>
            <a:r>
              <a:rPr lang="ar-SA" sz="2400" dirty="0"/>
              <a:t>يوجد منتجات شبكية عديدة لميكروسوفت يوجد بها وكلاء تابع</a:t>
            </a:r>
            <a:r>
              <a:rPr lang="ar-YE" sz="2400" dirty="0"/>
              <a:t>و</a:t>
            </a:r>
            <a:r>
              <a:rPr lang="ar-SA" sz="2400" dirty="0"/>
              <a:t>ن لتدعيم الوحدة البينية لإدارة بروتوكول </a:t>
            </a:r>
            <a:r>
              <a:rPr lang="en-US" sz="2400" dirty="0"/>
              <a:t>SNMP</a:t>
            </a:r>
            <a:r>
              <a:rPr lang="ar-SA" sz="2400" dirty="0"/>
              <a:t> و قواعد المعلومات الإدارية </a:t>
            </a:r>
            <a:r>
              <a:rPr lang="en-US" sz="2400" dirty="0"/>
              <a:t>MIBs</a:t>
            </a:r>
            <a:r>
              <a:rPr lang="ar-SA" sz="2400" dirty="0"/>
              <a:t> التي توجد مع نوافذ </a:t>
            </a:r>
            <a:r>
              <a:rPr lang="en-US" sz="2400" dirty="0"/>
              <a:t>NT</a:t>
            </a:r>
            <a:r>
              <a:rPr lang="ar-SA" sz="2400" dirty="0"/>
              <a:t>.</a:t>
            </a:r>
            <a:endParaRPr lang="en-US" sz="2400" dirty="0"/>
          </a:p>
          <a:p>
            <a:pPr algn="just" rtl="1">
              <a:lnSpc>
                <a:spcPct val="150000"/>
              </a:lnSpc>
            </a:pPr>
            <a:r>
              <a:rPr lang="ar-SA" sz="2400" dirty="0"/>
              <a:t>يتم تنصيب ملفات الوكلاء التابعيين </a:t>
            </a:r>
            <a:r>
              <a:rPr lang="en-US" sz="2400" dirty="0"/>
              <a:t>DLLs</a:t>
            </a:r>
            <a:r>
              <a:rPr lang="ar-SA" sz="2400" dirty="0"/>
              <a:t> لقاعدة المعلومات </a:t>
            </a:r>
            <a:r>
              <a:rPr lang="en-US" sz="2400" dirty="0"/>
              <a:t>MIB-II</a:t>
            </a:r>
            <a:r>
              <a:rPr lang="ar-SA" sz="2400" dirty="0"/>
              <a:t>، ومدير الشبكة المحلية </a:t>
            </a:r>
            <a:r>
              <a:rPr lang="en-US" sz="2400" dirty="0"/>
              <a:t>LAN Manager</a:t>
            </a:r>
            <a:r>
              <a:rPr lang="ar-SA" sz="2400" dirty="0"/>
              <a:t> وهما </a:t>
            </a:r>
            <a:r>
              <a:rPr lang="en-US" sz="2400" dirty="0"/>
              <a:t>LMMIB2.DLL, INETMIB1.DLL</a:t>
            </a:r>
            <a:r>
              <a:rPr lang="ar-SA" sz="2400" dirty="0"/>
              <a:t> مع خدمة بروتوكول </a:t>
            </a:r>
            <a:r>
              <a:rPr lang="en-US" sz="2400" dirty="0"/>
              <a:t>SNMP</a:t>
            </a:r>
            <a:r>
              <a:rPr lang="ar-SA" sz="2400" dirty="0"/>
              <a:t>. أما الملفات الأخرى </a:t>
            </a:r>
            <a:r>
              <a:rPr lang="en-US" sz="2400" dirty="0"/>
              <a:t>DLLs</a:t>
            </a:r>
            <a:r>
              <a:rPr lang="ar-SA" sz="2400" dirty="0"/>
              <a:t> الخاصة بالوكلاء التابعيين يتم تنصيبها عندما يتم تنصيب الخدمات الخاصة بها.  </a:t>
            </a:r>
            <a:endParaRPr lang="en-US" sz="2400" dirty="0"/>
          </a:p>
          <a:p>
            <a:pPr marL="0" indent="0" algn="just" rtl="1">
              <a:lnSpc>
                <a:spcPct val="150000"/>
              </a:lnSpc>
              <a:buNone/>
            </a:pPr>
            <a:endParaRPr lang="en-US" sz="2400" dirty="0"/>
          </a:p>
        </p:txBody>
      </p:sp>
    </p:spTree>
    <p:extLst>
      <p:ext uri="{BB962C8B-B14F-4D97-AF65-F5344CB8AC3E}">
        <p14:creationId xmlns:p14="http://schemas.microsoft.com/office/powerpoint/2010/main" val="15862792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8600" y="685800"/>
            <a:ext cx="4638675" cy="846260"/>
          </a:xfrm>
        </p:spPr>
        <p:txBody>
          <a:bodyPr/>
          <a:lstStyle/>
          <a:p>
            <a:pPr algn="r" rtl="1"/>
            <a:r>
              <a:rPr lang="ar-SA" b="1" dirty="0">
                <a:latin typeface="Algerian" panose="04020705040A02060702" pitchFamily="82" charset="0"/>
              </a:rPr>
              <a:t>إدارة شبكات </a:t>
            </a:r>
            <a:r>
              <a:rPr lang="ar-SA" b="1" dirty="0" smtClean="0">
                <a:latin typeface="Algerian" panose="04020705040A02060702" pitchFamily="82" charset="0"/>
              </a:rPr>
              <a:t>لينكس</a:t>
            </a:r>
            <a:r>
              <a:rPr lang="en-US" b="1" dirty="0" smtClean="0">
                <a:latin typeface="Algerian" panose="04020705040A02060702" pitchFamily="82" charset="0"/>
              </a:rPr>
              <a:t>LINUX </a:t>
            </a:r>
            <a:endParaRPr lang="en-US" dirty="0">
              <a:latin typeface="Algerian" panose="04020705040A02060702" pitchFamily="82" charset="0"/>
            </a:endParaRPr>
          </a:p>
        </p:txBody>
      </p:sp>
      <p:sp>
        <p:nvSpPr>
          <p:cNvPr id="3" name="Content Placeholder 2"/>
          <p:cNvSpPr>
            <a:spLocks noGrp="1"/>
          </p:cNvSpPr>
          <p:nvPr>
            <p:ph idx="1"/>
          </p:nvPr>
        </p:nvSpPr>
        <p:spPr>
          <a:xfrm>
            <a:off x="533400" y="1893094"/>
            <a:ext cx="7924800" cy="3983831"/>
          </a:xfrm>
        </p:spPr>
        <p:txBody>
          <a:bodyPr>
            <a:noAutofit/>
          </a:bodyPr>
          <a:lstStyle/>
          <a:p>
            <a:pPr marL="0" indent="0" algn="just" rtl="1">
              <a:lnSpc>
                <a:spcPct val="150000"/>
              </a:lnSpc>
              <a:buNone/>
            </a:pPr>
            <a:r>
              <a:rPr lang="ar-SA" sz="2400" dirty="0"/>
              <a:t>لاستخدام بروتوكول </a:t>
            </a:r>
            <a:r>
              <a:rPr lang="en-US" sz="2400" dirty="0"/>
              <a:t>SNMP</a:t>
            </a:r>
            <a:r>
              <a:rPr lang="ar-SA" sz="2400" dirty="0"/>
              <a:t> على نظم يونيكس او لينكس، ينبغي أن يوجد وكيل رئيسي </a:t>
            </a:r>
            <a:r>
              <a:rPr lang="en-US" sz="2400" dirty="0"/>
              <a:t>Master agent</a:t>
            </a:r>
            <a:r>
              <a:rPr lang="ar-SA" sz="2400" dirty="0"/>
              <a:t>، وعلى الأقل وكيل تابع </a:t>
            </a:r>
            <a:r>
              <a:rPr lang="en-US" sz="2400" dirty="0"/>
              <a:t>Sub-agent</a:t>
            </a:r>
            <a:r>
              <a:rPr lang="ar-SA" sz="2400" dirty="0"/>
              <a:t> يتم تنصيبه وتشغيله على النظام. يوجد بعض نظم يونيكس بها وكيل رئيسي لبروتوكول </a:t>
            </a:r>
            <a:r>
              <a:rPr lang="en-US" sz="2400" dirty="0"/>
              <a:t>SNMP</a:t>
            </a:r>
            <a:r>
              <a:rPr lang="ar-SA" sz="2400" dirty="0"/>
              <a:t>، يسمي "الوكيل القومي </a:t>
            </a:r>
            <a:r>
              <a:rPr lang="en-US" sz="2400" dirty="0"/>
              <a:t>Native Agent </a:t>
            </a:r>
            <a:r>
              <a:rPr lang="ar-SA" sz="2400" dirty="0"/>
              <a:t>" . عندما يوجد هذا الوكيل في النظام ينبغي عدم تشغيله </a:t>
            </a:r>
            <a:r>
              <a:rPr lang="en-US" sz="2400" dirty="0"/>
              <a:t>Disable</a:t>
            </a:r>
            <a:r>
              <a:rPr lang="ar-SA" sz="2400" dirty="0"/>
              <a:t> أو تغيير رقم المنفذ </a:t>
            </a:r>
            <a:r>
              <a:rPr lang="en-US" sz="2400" dirty="0"/>
              <a:t>Port</a:t>
            </a:r>
            <a:r>
              <a:rPr lang="ar-SA" sz="2400" dirty="0"/>
              <a:t> الذي يستعمله. عندما يتم إخماد الوكيل القومي نكون قادرين على استخدام الوكيل الرئيسي مع خادم المدير </a:t>
            </a:r>
            <a:r>
              <a:rPr lang="en-US" sz="2400" dirty="0"/>
              <a:t>Administration Server</a:t>
            </a:r>
            <a:r>
              <a:rPr lang="ar-SA" sz="2400" dirty="0"/>
              <a:t> . عندما يتم تغيير رقم المنفذ الذي يستخدم الوكيل القومي نستطيع أن نستخدمه بجانب خادم إدارة الوكيل الرئيسي.</a:t>
            </a:r>
            <a:endParaRPr lang="en-US" sz="2400" dirty="0"/>
          </a:p>
          <a:p>
            <a:pPr marL="0" indent="0" algn="just" rtl="1">
              <a:lnSpc>
                <a:spcPct val="150000"/>
              </a:lnSpc>
              <a:buNone/>
            </a:pPr>
            <a:endParaRPr lang="en-US" sz="2400" dirty="0"/>
          </a:p>
        </p:txBody>
      </p:sp>
    </p:spTree>
    <p:extLst>
      <p:ext uri="{BB962C8B-B14F-4D97-AF65-F5344CB8AC3E}">
        <p14:creationId xmlns:p14="http://schemas.microsoft.com/office/powerpoint/2010/main" val="18849323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525" y="1026319"/>
            <a:ext cx="7886700" cy="4498181"/>
          </a:xfrm>
        </p:spPr>
        <p:txBody>
          <a:bodyPr>
            <a:noAutofit/>
          </a:bodyPr>
          <a:lstStyle/>
          <a:p>
            <a:pPr marL="0" indent="0" algn="just" rtl="1">
              <a:lnSpc>
                <a:spcPct val="150000"/>
              </a:lnSpc>
              <a:buNone/>
            </a:pPr>
            <a:r>
              <a:rPr lang="ar-SA" sz="2400" dirty="0"/>
              <a:t>يمكن أن يحتوي الحاسوب المضيف على العديد من الوكلاء التابعيين، لكنه يحتوي فقط على وكيل رئيسي واحد. يوضح الشكل التالي</a:t>
            </a:r>
            <a:r>
              <a:rPr lang="ar-YE" sz="2400" dirty="0"/>
              <a:t>- </a:t>
            </a:r>
            <a:r>
              <a:rPr lang="ar-SA" sz="2400" dirty="0"/>
              <a:t>على سبيل المثال</a:t>
            </a:r>
            <a:r>
              <a:rPr lang="ar-YE" sz="2400" dirty="0"/>
              <a:t>-</a:t>
            </a:r>
            <a:r>
              <a:rPr lang="ar-SA" sz="2400" dirty="0"/>
              <a:t> حاسب مضيف يحتوي على خادم للمؤسسة، وخادم الدليل، وخادم الرسائل. كل منها يوجد له وكيل تابع خاص</a:t>
            </a:r>
            <a:r>
              <a:rPr lang="ar-YE" sz="2400" dirty="0"/>
              <a:t>،</a:t>
            </a:r>
            <a:r>
              <a:rPr lang="ar-SA" sz="2400" dirty="0"/>
              <a:t> بينما يوجد وكيل رئيسي واحد يقوم بخدمتهم. كما يوضح الشكل العمليات التفاعلية التي تتم بين محطة إدارة الشبكة والحاسوب المضيف. نلاحظ أنه في نظام تشغيل النوافذ </a:t>
            </a:r>
            <a:r>
              <a:rPr lang="en-US" sz="2400" dirty="0"/>
              <a:t>NT</a:t>
            </a:r>
            <a:r>
              <a:rPr lang="ar-SA" sz="2400" dirty="0"/>
              <a:t> يوجد وكيل رئيسي لبروتوكول </a:t>
            </a:r>
            <a:r>
              <a:rPr lang="en-US" sz="2400" dirty="0"/>
              <a:t>SNMP</a:t>
            </a:r>
            <a:r>
              <a:rPr lang="ar-SA" sz="2400" dirty="0"/>
              <a:t>، بينما في نظام يونيكس فإن الوكيل الرئيسي يتم تنصيبه مع خادم الإدارة </a:t>
            </a:r>
            <a:r>
              <a:rPr lang="en-US" sz="2400" dirty="0"/>
              <a:t>Administration Server</a:t>
            </a:r>
            <a:r>
              <a:rPr lang="ar-SA" sz="2400" dirty="0"/>
              <a:t>. </a:t>
            </a:r>
            <a:endParaRPr lang="en-US" sz="2400" dirty="0"/>
          </a:p>
          <a:p>
            <a:pPr marL="0" indent="0" algn="just" rtl="1">
              <a:lnSpc>
                <a:spcPct val="150000"/>
              </a:lnSpc>
              <a:buNone/>
            </a:pPr>
            <a:endParaRPr lang="en-US" sz="2400" dirty="0"/>
          </a:p>
        </p:txBody>
      </p:sp>
    </p:spTree>
    <p:extLst>
      <p:ext uri="{BB962C8B-B14F-4D97-AF65-F5344CB8AC3E}">
        <p14:creationId xmlns:p14="http://schemas.microsoft.com/office/powerpoint/2010/main" val="13036842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unix-m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6" y="857251"/>
            <a:ext cx="8524874" cy="467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933575" y="5574997"/>
            <a:ext cx="4572000" cy="496290"/>
          </a:xfrm>
          <a:prstGeom prst="rect">
            <a:avLst/>
          </a:prstGeom>
        </p:spPr>
        <p:txBody>
          <a:bodyPr>
            <a:spAutoFit/>
          </a:bodyPr>
          <a:lstStyle/>
          <a:p>
            <a:pPr algn="ctr" defTabSz="342900" rtl="1"/>
            <a:r>
              <a:rPr lang="ar-SA" b="1"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rPr>
              <a:t>إدارة شبكات لينكس باستخدام بروتوكول </a:t>
            </a:r>
            <a:r>
              <a:rPr lang="en-US" b="1"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rPr>
              <a:t>SNMP</a:t>
            </a:r>
            <a:r>
              <a:rPr lang="ar-SA" b="1"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rPr>
              <a:t>.</a:t>
            </a:r>
            <a:endParaRPr lang="en-US"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endParaRPr>
          </a:p>
          <a:p>
            <a:pPr algn="ctr" defTabSz="342900" rtl="1"/>
            <a:r>
              <a:rPr lang="ar-SA" sz="825"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rPr>
              <a:t> </a:t>
            </a:r>
            <a:endParaRPr lang="en-US"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endParaRPr>
          </a:p>
        </p:txBody>
      </p:sp>
    </p:spTree>
    <p:extLst>
      <p:ext uri="{BB962C8B-B14F-4D97-AF65-F5344CB8AC3E}">
        <p14:creationId xmlns:p14="http://schemas.microsoft.com/office/powerpoint/2010/main" val="41827476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81113"/>
            <a:ext cx="7886700" cy="735806"/>
          </a:xfrm>
        </p:spPr>
        <p:txBody>
          <a:bodyPr>
            <a:normAutofit fontScale="90000"/>
          </a:bodyPr>
          <a:lstStyle/>
          <a:p>
            <a:pPr algn="r" rtl="1"/>
            <a:r>
              <a:rPr lang="ar-SA" dirty="0" smtClean="0">
                <a:latin typeface="Algerian" panose="04020705040A02060702" pitchFamily="82" charset="0"/>
              </a:rPr>
              <a:t/>
            </a:r>
            <a:br>
              <a:rPr lang="ar-SA" dirty="0" smtClean="0">
                <a:latin typeface="Algerian" panose="04020705040A02060702" pitchFamily="82" charset="0"/>
              </a:rPr>
            </a:br>
            <a:r>
              <a:rPr lang="ar-SA" b="1" dirty="0" smtClean="0">
                <a:latin typeface="Algerian" panose="04020705040A02060702" pitchFamily="82" charset="0"/>
              </a:rPr>
              <a:t> استخدام الوكيل التابع بروكسي </a:t>
            </a:r>
            <a:r>
              <a:rPr lang="en-US" dirty="0" smtClean="0">
                <a:latin typeface="Algerian" panose="04020705040A02060702" pitchFamily="82" charset="0"/>
              </a:rPr>
              <a:t>Proxy</a:t>
            </a:r>
            <a:r>
              <a:rPr lang="ar-SA" b="1" dirty="0" smtClean="0">
                <a:latin typeface="Algerian" panose="04020705040A02060702" pitchFamily="82" charset="0"/>
              </a:rPr>
              <a:t> في نظم يونيكس</a:t>
            </a:r>
            <a:endParaRPr lang="en-US" dirty="0">
              <a:latin typeface="Algerian" panose="04020705040A02060702" pitchFamily="82" charset="0"/>
            </a:endParaRPr>
          </a:p>
        </p:txBody>
      </p:sp>
      <p:sp>
        <p:nvSpPr>
          <p:cNvPr id="3" name="Content Placeholder 2"/>
          <p:cNvSpPr>
            <a:spLocks noGrp="1"/>
          </p:cNvSpPr>
          <p:nvPr>
            <p:ph idx="1"/>
          </p:nvPr>
        </p:nvSpPr>
        <p:spPr>
          <a:xfrm>
            <a:off x="161925" y="2016919"/>
            <a:ext cx="8886825" cy="3263504"/>
          </a:xfrm>
        </p:spPr>
        <p:txBody>
          <a:bodyPr>
            <a:normAutofit/>
          </a:bodyPr>
          <a:lstStyle/>
          <a:p>
            <a:pPr algn="just" rtl="1">
              <a:lnSpc>
                <a:spcPct val="150000"/>
              </a:lnSpc>
            </a:pPr>
            <a:r>
              <a:rPr lang="ar-SA" sz="2700" dirty="0"/>
              <a:t>عندما نرغب </a:t>
            </a:r>
            <a:r>
              <a:rPr lang="ar-YE" sz="2700" dirty="0"/>
              <a:t>في </a:t>
            </a:r>
            <a:r>
              <a:rPr lang="ar-SA" sz="2700" dirty="0"/>
              <a:t>استخدام الوكيل القومي والوكيل الرئيسي في نفس الوقت </a:t>
            </a:r>
            <a:r>
              <a:rPr lang="en-US" sz="2700" dirty="0"/>
              <a:t>concurrently</a:t>
            </a:r>
            <a:r>
              <a:rPr lang="ar-SA" sz="2700" dirty="0"/>
              <a:t>، سوف نحتاج تنصيب </a:t>
            </a:r>
            <a:r>
              <a:rPr lang="en-US" sz="2700" dirty="0"/>
              <a:t>set up</a:t>
            </a:r>
            <a:r>
              <a:rPr lang="ar-SA" sz="2700" dirty="0"/>
              <a:t>، الوكيل بروكسي. يقوم الوكيل بروكسي بإصدار الطلبات </a:t>
            </a:r>
            <a:r>
              <a:rPr lang="en-US" sz="2700" dirty="0"/>
              <a:t>Requests</a:t>
            </a:r>
            <a:r>
              <a:rPr lang="ar-SA" sz="2700" dirty="0"/>
              <a:t> من الوكيل الرئيسي، وبعد ذلك يمررها إلى الوكيل القومي. يوضح الشكل التالي العمليات التفاعلية بين الوكيل بروكسي والوكيل القومي لبروتوكول </a:t>
            </a:r>
            <a:r>
              <a:rPr lang="en-US" sz="2700" dirty="0"/>
              <a:t>SNMP</a:t>
            </a:r>
            <a:r>
              <a:rPr lang="ar-SA" sz="2700" dirty="0"/>
              <a:t>. </a:t>
            </a:r>
            <a:endParaRPr lang="en-US" sz="2700" dirty="0"/>
          </a:p>
          <a:p>
            <a:pPr marL="0" indent="0" algn="just" rtl="1">
              <a:lnSpc>
                <a:spcPct val="150000"/>
              </a:lnSpc>
              <a:buNone/>
            </a:pPr>
            <a:endParaRPr lang="en-US" sz="2700" dirty="0"/>
          </a:p>
        </p:txBody>
      </p:sp>
    </p:spTree>
    <p:extLst>
      <p:ext uri="{BB962C8B-B14F-4D97-AF65-F5344CB8AC3E}">
        <p14:creationId xmlns:p14="http://schemas.microsoft.com/office/powerpoint/2010/main" val="13337474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unix-prox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26" y="857251"/>
            <a:ext cx="7619999" cy="4524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754886" y="5490775"/>
            <a:ext cx="5710218" cy="415498"/>
          </a:xfrm>
          <a:prstGeom prst="rect">
            <a:avLst/>
          </a:prstGeom>
        </p:spPr>
        <p:txBody>
          <a:bodyPr wrap="none">
            <a:spAutoFit/>
          </a:bodyPr>
          <a:lstStyle/>
          <a:p>
            <a:pPr algn="r" defTabSz="342900" rtl="1"/>
            <a:r>
              <a:rPr lang="ar-SA" sz="2100" b="1"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rPr>
              <a:t>استخدام الوكيل بروكسي والوكيل القومي مع بروتوكول </a:t>
            </a:r>
            <a:r>
              <a:rPr lang="en-US" sz="2100" b="1"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rPr>
              <a:t>SNMP</a:t>
            </a:r>
            <a:endParaRPr lang="en-US" sz="2100" dirty="0">
              <a:solidFill>
                <a:prstClr val="black"/>
              </a:solidFill>
              <a:latin typeface="Times New Roman"/>
            </a:endParaRPr>
          </a:p>
        </p:txBody>
      </p:sp>
    </p:spTree>
    <p:extLst>
      <p:ext uri="{BB962C8B-B14F-4D97-AF65-F5344CB8AC3E}">
        <p14:creationId xmlns:p14="http://schemas.microsoft.com/office/powerpoint/2010/main" val="1484056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rtl="1"/>
            <a:r>
              <a:rPr lang="ar-SA" b="1" dirty="0" smtClean="0">
                <a:latin typeface="Algerian" panose="04020705040A02060702" pitchFamily="82" charset="0"/>
              </a:rPr>
              <a:t/>
            </a:r>
            <a:br>
              <a:rPr lang="ar-SA" b="1" dirty="0" smtClean="0">
                <a:latin typeface="Algerian" panose="04020705040A02060702" pitchFamily="82" charset="0"/>
              </a:rPr>
            </a:br>
            <a:r>
              <a:rPr lang="ar-SA" b="1" dirty="0" smtClean="0">
                <a:latin typeface="Algerian" panose="04020705040A02060702" pitchFamily="82" charset="0"/>
              </a:rPr>
              <a:t> قاعدة المعلومات الإدارية  </a:t>
            </a:r>
            <a:r>
              <a:rPr lang="en-US" b="1" dirty="0" smtClean="0">
                <a:latin typeface="Algerian" panose="04020705040A02060702" pitchFamily="82" charset="0"/>
              </a:rPr>
              <a:t>MIB</a:t>
            </a:r>
            <a:r>
              <a:rPr lang="ar-SA" b="1" dirty="0" smtClean="0">
                <a:latin typeface="Algerian" panose="04020705040A02060702" pitchFamily="82" charset="0"/>
              </a:rPr>
              <a:t> لمحطة عمل يونيكس</a:t>
            </a:r>
            <a:r>
              <a:rPr lang="en-US" dirty="0" smtClean="0">
                <a:latin typeface="Algerian" panose="04020705040A02060702" pitchFamily="82" charset="0"/>
              </a:rPr>
              <a:t/>
            </a:r>
            <a:br>
              <a:rPr lang="en-US" dirty="0" smtClean="0">
                <a:latin typeface="Algerian" panose="04020705040A02060702" pitchFamily="82" charset="0"/>
              </a:rPr>
            </a:br>
            <a:endParaRPr lang="en-US" dirty="0">
              <a:latin typeface="Algerian" panose="04020705040A02060702" pitchFamily="82" charset="0"/>
            </a:endParaRPr>
          </a:p>
        </p:txBody>
      </p:sp>
      <p:sp>
        <p:nvSpPr>
          <p:cNvPr id="3" name="Content Placeholder 2"/>
          <p:cNvSpPr>
            <a:spLocks noGrp="1"/>
          </p:cNvSpPr>
          <p:nvPr>
            <p:ph idx="1"/>
          </p:nvPr>
        </p:nvSpPr>
        <p:spPr>
          <a:xfrm>
            <a:off x="0" y="1809750"/>
            <a:ext cx="9144000" cy="4191000"/>
          </a:xfrm>
        </p:spPr>
        <p:txBody>
          <a:bodyPr>
            <a:noAutofit/>
          </a:bodyPr>
          <a:lstStyle/>
          <a:p>
            <a:pPr algn="just" rtl="1">
              <a:lnSpc>
                <a:spcPct val="150000"/>
              </a:lnSpc>
            </a:pPr>
            <a:r>
              <a:rPr lang="ar-SA" b="1" dirty="0"/>
              <a:t> </a:t>
            </a:r>
            <a:r>
              <a:rPr lang="ar-SA" dirty="0"/>
              <a:t>يمكن تحديث قاعدة المعلومات الإدارية </a:t>
            </a:r>
            <a:r>
              <a:rPr lang="en-US" dirty="0"/>
              <a:t>MIB</a:t>
            </a:r>
            <a:r>
              <a:rPr lang="ar-SA" dirty="0"/>
              <a:t> لمحطة عمل يونيكس لتنفيذ وكيل إدارة النظم كي تعمل على نظم برمجية مختلفة مثل (</a:t>
            </a:r>
            <a:r>
              <a:rPr lang="en-US" dirty="0"/>
              <a:t>(HP-UX, IBM AIX, Sun Solaris, SunOS</a:t>
            </a:r>
            <a:r>
              <a:rPr lang="ar-SA" dirty="0"/>
              <a:t> . وقد تشمل المكونات التالية:</a:t>
            </a:r>
            <a:endParaRPr lang="en-US" dirty="0"/>
          </a:p>
          <a:p>
            <a:pPr algn="just" rtl="1">
              <a:lnSpc>
                <a:spcPct val="150000"/>
              </a:lnSpc>
            </a:pPr>
            <a:r>
              <a:rPr lang="ar-SA" b="1" dirty="0"/>
              <a:t>الذاكرة:</a:t>
            </a:r>
            <a:r>
              <a:rPr lang="ar-SA" dirty="0"/>
              <a:t> الذاكرة الرئيسية، وذاكرة التبديل </a:t>
            </a:r>
            <a:r>
              <a:rPr lang="en-US" dirty="0"/>
              <a:t>swap</a:t>
            </a:r>
            <a:r>
              <a:rPr lang="ar-SA" dirty="0"/>
              <a:t>.</a:t>
            </a:r>
            <a:endParaRPr lang="en-US" dirty="0"/>
          </a:p>
          <a:p>
            <a:pPr algn="just" rtl="1">
              <a:lnSpc>
                <a:spcPct val="150000"/>
              </a:lnSpc>
            </a:pPr>
            <a:r>
              <a:rPr lang="ar-SA" b="1" dirty="0"/>
              <a:t>الأجهزة:</a:t>
            </a:r>
            <a:r>
              <a:rPr lang="ar-SA" dirty="0"/>
              <a:t> المعالج، الطابعات، أقراص التخزين، نظم الملفات، وهكذا.</a:t>
            </a:r>
            <a:endParaRPr lang="en-US" dirty="0"/>
          </a:p>
          <a:p>
            <a:pPr algn="just" rtl="1">
              <a:lnSpc>
                <a:spcPct val="150000"/>
              </a:lnSpc>
            </a:pPr>
            <a:r>
              <a:rPr lang="ar-SA" b="1" dirty="0"/>
              <a:t>العمليات </a:t>
            </a:r>
            <a:r>
              <a:rPr lang="en-US" b="1" dirty="0"/>
              <a:t>Processes</a:t>
            </a:r>
            <a:r>
              <a:rPr lang="ar-SA" dirty="0"/>
              <a:t>: وتشمل عمليات المستخدم، وعمليات النواة</a:t>
            </a:r>
            <a:r>
              <a:rPr lang="en-US" dirty="0"/>
              <a:t>processes  Kernel</a:t>
            </a:r>
            <a:r>
              <a:rPr lang="ar-SA" dirty="0"/>
              <a:t>.</a:t>
            </a:r>
            <a:endParaRPr lang="en-US" dirty="0"/>
          </a:p>
          <a:p>
            <a:pPr algn="just" rtl="1">
              <a:lnSpc>
                <a:spcPct val="150000"/>
              </a:lnSpc>
            </a:pPr>
            <a:r>
              <a:rPr lang="ar-SA" b="1" dirty="0"/>
              <a:t>المستخدمين </a:t>
            </a:r>
            <a:r>
              <a:rPr lang="en-US" b="1" dirty="0"/>
              <a:t>Users</a:t>
            </a:r>
            <a:r>
              <a:rPr lang="ar-SA" dirty="0"/>
              <a:t>: وتشمل كلمات السر </a:t>
            </a:r>
            <a:r>
              <a:rPr lang="en-US" dirty="0"/>
              <a:t>Passwords</a:t>
            </a:r>
            <a:r>
              <a:rPr lang="ar-SA" dirty="0"/>
              <a:t>، والمجموعات </a:t>
            </a:r>
            <a:r>
              <a:rPr lang="en-US" dirty="0"/>
              <a:t>Groups</a:t>
            </a:r>
            <a:r>
              <a:rPr lang="ar-SA" dirty="0"/>
              <a:t>، والحصص </a:t>
            </a:r>
            <a:r>
              <a:rPr lang="en-US" dirty="0"/>
              <a:t>Quota</a:t>
            </a:r>
            <a:r>
              <a:rPr lang="ar-SA" dirty="0"/>
              <a:t>.</a:t>
            </a:r>
          </a:p>
          <a:p>
            <a:pPr algn="just" rtl="1">
              <a:lnSpc>
                <a:spcPct val="150000"/>
              </a:lnSpc>
            </a:pPr>
            <a:r>
              <a:rPr lang="ar-SA" sz="1800" dirty="0">
                <a:solidFill>
                  <a:srgbClr val="FF0000"/>
                </a:solidFill>
              </a:rPr>
              <a:t>في كل مرة يتم فيها الوصول إلى متغيرات </a:t>
            </a:r>
            <a:r>
              <a:rPr lang="en-US" sz="1800" dirty="0">
                <a:solidFill>
                  <a:srgbClr val="FF0000"/>
                </a:solidFill>
              </a:rPr>
              <a:t>MIB</a:t>
            </a:r>
            <a:r>
              <a:rPr lang="ar-SA" sz="1800" dirty="0">
                <a:solidFill>
                  <a:srgbClr val="FF0000"/>
                </a:solidFill>
              </a:rPr>
              <a:t> يتم تمثيلها بواسطة دوال مختلفة. ويعني ذلك أنه يتم تنفيذ دالة أجزاء منفصلة </a:t>
            </a:r>
            <a:r>
              <a:rPr lang="en-US" sz="1800" dirty="0">
                <a:solidFill>
                  <a:srgbClr val="FF0000"/>
                </a:solidFill>
              </a:rPr>
              <a:t>Separate Module</a:t>
            </a:r>
            <a:r>
              <a:rPr lang="ar-SA" sz="1800" dirty="0">
                <a:solidFill>
                  <a:srgbClr val="FF0000"/>
                </a:solidFill>
              </a:rPr>
              <a:t> لكل متغير. يتم قراءة أو كتابة القيم من خلال الوصول إليها بواسطة الدوال </a:t>
            </a:r>
            <a:r>
              <a:rPr lang="en-US" sz="1800" dirty="0"/>
              <a:t>get, set</a:t>
            </a:r>
            <a:r>
              <a:rPr lang="ar-SA" sz="1800" dirty="0"/>
              <a:t>.</a:t>
            </a:r>
            <a:endParaRPr lang="en-US" sz="1800" dirty="0"/>
          </a:p>
          <a:p>
            <a:pPr algn="just" rtl="1">
              <a:lnSpc>
                <a:spcPct val="150000"/>
              </a:lnSpc>
            </a:pPr>
            <a:endParaRPr lang="en-US" dirty="0"/>
          </a:p>
          <a:p>
            <a:pPr marL="0" indent="0" algn="just" rtl="1">
              <a:lnSpc>
                <a:spcPct val="150000"/>
              </a:lnSpc>
              <a:buNone/>
            </a:pPr>
            <a:endParaRPr lang="en-US" dirty="0"/>
          </a:p>
        </p:txBody>
      </p:sp>
    </p:spTree>
    <p:extLst>
      <p:ext uri="{BB962C8B-B14F-4D97-AF65-F5344CB8AC3E}">
        <p14:creationId xmlns:p14="http://schemas.microsoft.com/office/powerpoint/2010/main" val="14404470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8775" y="1054894"/>
            <a:ext cx="2828925" cy="611981"/>
          </a:xfrm>
        </p:spPr>
        <p:txBody>
          <a:bodyPr>
            <a:normAutofit fontScale="90000"/>
          </a:bodyPr>
          <a:lstStyle/>
          <a:p>
            <a:pPr algn="ctr" rtl="1"/>
            <a:r>
              <a:rPr lang="ar-SA" b="1" dirty="0" smtClean="0"/>
              <a:t/>
            </a:r>
            <a:br>
              <a:rPr lang="ar-SA" b="1" dirty="0" smtClean="0"/>
            </a:br>
            <a:r>
              <a:rPr lang="ar-SA" b="1" dirty="0" smtClean="0"/>
              <a:t>إدارة شبكات </a:t>
            </a:r>
            <a:r>
              <a:rPr lang="en-US" dirty="0" smtClean="0"/>
              <a:t>IBM</a:t>
            </a:r>
            <a:br>
              <a:rPr lang="en-US" dirty="0" smtClean="0"/>
            </a:br>
            <a:endParaRPr lang="en-US" dirty="0"/>
          </a:p>
        </p:txBody>
      </p:sp>
      <p:sp>
        <p:nvSpPr>
          <p:cNvPr id="3" name="Content Placeholder 2"/>
          <p:cNvSpPr>
            <a:spLocks noGrp="1"/>
          </p:cNvSpPr>
          <p:nvPr>
            <p:ph idx="1"/>
          </p:nvPr>
        </p:nvSpPr>
        <p:spPr>
          <a:xfrm>
            <a:off x="838200" y="1589356"/>
            <a:ext cx="8001000" cy="4343399"/>
          </a:xfrm>
        </p:spPr>
        <p:txBody>
          <a:bodyPr>
            <a:noAutofit/>
          </a:bodyPr>
          <a:lstStyle/>
          <a:p>
            <a:pPr algn="just" rtl="1">
              <a:lnSpc>
                <a:spcPct val="150000"/>
              </a:lnSpc>
            </a:pPr>
            <a:r>
              <a:rPr lang="ar-SA" sz="2400" b="1" dirty="0"/>
              <a:t> </a:t>
            </a:r>
            <a:r>
              <a:rPr lang="ar-SA" sz="2400" dirty="0" smtClean="0"/>
              <a:t>إن </a:t>
            </a:r>
            <a:r>
              <a:rPr lang="ar-SA" sz="2400" dirty="0"/>
              <a:t>شركة أي-بي-إم من الشركات الرائدة في تدعيم نظم إدارة الشبكات. وه</a:t>
            </a:r>
            <a:r>
              <a:rPr lang="ar-YE" sz="2400" dirty="0"/>
              <a:t>ي</a:t>
            </a:r>
            <a:r>
              <a:rPr lang="ar-SA" sz="2400" dirty="0"/>
              <a:t> المقترحة لنظام عمارة الشبكة المفتوح </a:t>
            </a:r>
            <a:r>
              <a:rPr lang="ar-SA" sz="2400" dirty="0" smtClean="0"/>
              <a:t> </a:t>
            </a:r>
            <a:r>
              <a:rPr lang="en-US" sz="2400" dirty="0" smtClean="0"/>
              <a:t>Open </a:t>
            </a:r>
            <a:r>
              <a:rPr lang="en-US" sz="2400" dirty="0"/>
              <a:t>Network Architecture (ONA) </a:t>
            </a:r>
            <a:r>
              <a:rPr lang="ar-SA" sz="2400" dirty="0" smtClean="0"/>
              <a:t> </a:t>
            </a:r>
            <a:r>
              <a:rPr lang="ar-YE" sz="2400" dirty="0" smtClean="0"/>
              <a:t>الذي </a:t>
            </a:r>
            <a:r>
              <a:rPr lang="ar-SA" sz="2400" dirty="0"/>
              <a:t>هو عبارة عن إطار عام لوصف عمارة إدارة الشبكة. </a:t>
            </a:r>
            <a:endParaRPr lang="ar-SA" sz="2400" dirty="0" smtClean="0"/>
          </a:p>
          <a:p>
            <a:pPr algn="just" rtl="1">
              <a:lnSpc>
                <a:spcPct val="150000"/>
              </a:lnSpc>
            </a:pPr>
            <a:r>
              <a:rPr lang="ar-SA" sz="2400" dirty="0" smtClean="0"/>
              <a:t>كما </a:t>
            </a:r>
            <a:r>
              <a:rPr lang="ar-SA" sz="2400" dirty="0"/>
              <a:t>أن برنامج </a:t>
            </a:r>
            <a:r>
              <a:rPr lang="en-US" sz="2400" dirty="0"/>
              <a:t>NetView</a:t>
            </a:r>
            <a:r>
              <a:rPr lang="ar-SA" sz="2400" dirty="0"/>
              <a:t> يعتبر من البرامج الرائدة في إدارة شبكات </a:t>
            </a:r>
            <a:r>
              <a:rPr lang="en-US" sz="2400" dirty="0"/>
              <a:t>IBM</a:t>
            </a:r>
            <a:r>
              <a:rPr lang="ar-SA" sz="2400" dirty="0"/>
              <a:t> للحاسبات من نوع </a:t>
            </a:r>
            <a:r>
              <a:rPr lang="en-US" sz="2400" dirty="0"/>
              <a:t>Mainframe</a:t>
            </a:r>
            <a:r>
              <a:rPr lang="ar-SA" sz="2400" dirty="0"/>
              <a:t>. وهو يستخدم في خدمات إدارة الشبكة المركزية التي تسمح بمراقبة ، والتحكم وتهيئة عمارة شبكات نظم  </a:t>
            </a:r>
            <a:r>
              <a:rPr lang="en-US" sz="2400" dirty="0"/>
              <a:t> SNA (Systems Network Architecture)</a:t>
            </a:r>
            <a:r>
              <a:rPr lang="ar-SA" sz="2400" dirty="0" smtClean="0"/>
              <a:t>.</a:t>
            </a:r>
          </a:p>
          <a:p>
            <a:pPr algn="just" rtl="1">
              <a:lnSpc>
                <a:spcPct val="150000"/>
              </a:lnSpc>
            </a:pPr>
            <a:r>
              <a:rPr lang="ar-SA" sz="2400" dirty="0" smtClean="0"/>
              <a:t>  </a:t>
            </a:r>
            <a:r>
              <a:rPr lang="ar-SA" sz="2400" dirty="0"/>
              <a:t>وتحقق إدارة نظم </a:t>
            </a:r>
            <a:r>
              <a:rPr lang="en-US" sz="2400" dirty="0"/>
              <a:t>IBM</a:t>
            </a:r>
            <a:r>
              <a:rPr lang="ar-SA" sz="2400" dirty="0"/>
              <a:t> إدارة الأعطال، والأداء، والحسابات، والتهيئة، وإدارة الأمن.</a:t>
            </a:r>
            <a:endParaRPr lang="en-US" sz="2400" dirty="0"/>
          </a:p>
        </p:txBody>
      </p:sp>
    </p:spTree>
    <p:extLst>
      <p:ext uri="{BB962C8B-B14F-4D97-AF65-F5344CB8AC3E}">
        <p14:creationId xmlns:p14="http://schemas.microsoft.com/office/powerpoint/2010/main" val="24546014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38251"/>
            <a:ext cx="9001125" cy="4251722"/>
          </a:xfrm>
        </p:spPr>
        <p:txBody>
          <a:bodyPr>
            <a:normAutofit/>
          </a:bodyPr>
          <a:lstStyle/>
          <a:p>
            <a:pPr algn="just" rtl="1">
              <a:lnSpc>
                <a:spcPct val="150000"/>
              </a:lnSpc>
              <a:buFont typeface="Wingdings" panose="05000000000000000000" pitchFamily="2" charset="2"/>
              <a:buChar char="q"/>
            </a:pPr>
            <a:r>
              <a:rPr lang="ar-SA" sz="2700" dirty="0"/>
              <a:t> يمكن تحقيق إدارة شبكات  </a:t>
            </a:r>
            <a:r>
              <a:rPr lang="en-US" sz="2700" dirty="0"/>
              <a:t>IBM</a:t>
            </a:r>
            <a:r>
              <a:rPr lang="ar-SA" sz="2700" dirty="0"/>
              <a:t> باستخدام نظم متعددة منها</a:t>
            </a:r>
            <a:r>
              <a:rPr lang="en-US" sz="2700" dirty="0"/>
              <a:t>:</a:t>
            </a:r>
          </a:p>
          <a:p>
            <a:pPr marL="0" indent="0" algn="just" rtl="1">
              <a:lnSpc>
                <a:spcPct val="150000"/>
              </a:lnSpc>
              <a:buNone/>
            </a:pPr>
            <a:r>
              <a:rPr lang="ar-SA" sz="2700" dirty="0"/>
              <a:t>أ- استخدام بروتوكول </a:t>
            </a:r>
            <a:r>
              <a:rPr lang="en-US" sz="2700" dirty="0"/>
              <a:t>SNMP</a:t>
            </a:r>
            <a:r>
              <a:rPr lang="ar-SA" sz="2700" dirty="0"/>
              <a:t> الذي تم شرحه سابقا.</a:t>
            </a:r>
            <a:endParaRPr lang="en-US" sz="2700" dirty="0"/>
          </a:p>
          <a:p>
            <a:pPr marL="0" indent="0" algn="just" rtl="1">
              <a:lnSpc>
                <a:spcPct val="150000"/>
              </a:lnSpc>
              <a:buNone/>
            </a:pPr>
            <a:r>
              <a:rPr lang="ar-SA" sz="2700" dirty="0"/>
              <a:t>ب- استخدام برنامج مدير الشبكة المحلية </a:t>
            </a:r>
            <a:r>
              <a:rPr lang="en-US" sz="2700" dirty="0"/>
              <a:t>LAN Manager (LMN)</a:t>
            </a:r>
            <a:r>
              <a:rPr lang="ar-SA" sz="2700" dirty="0"/>
              <a:t>، وهو يتحكم في الشبكات المحلية من نوع </a:t>
            </a:r>
            <a:r>
              <a:rPr lang="en-US" sz="2700" dirty="0"/>
              <a:t>Token Ring</a:t>
            </a:r>
            <a:r>
              <a:rPr lang="ar-SA" sz="2700" dirty="0"/>
              <a:t> من موقع مركزي. وهو منتج لتطوير نظام التشغيل </a:t>
            </a:r>
            <a:r>
              <a:rPr lang="en-US" sz="2700" dirty="0"/>
              <a:t>OS/2</a:t>
            </a:r>
            <a:r>
              <a:rPr lang="ar-SA" sz="2700" dirty="0"/>
              <a:t>، ويعمل مع نظام </a:t>
            </a:r>
            <a:r>
              <a:rPr lang="en-US" sz="2700" dirty="0"/>
              <a:t>NetView</a:t>
            </a:r>
            <a:r>
              <a:rPr lang="ar-SA" sz="2700" dirty="0"/>
              <a:t> لإجراء عمليات الإنذارات </a:t>
            </a:r>
            <a:r>
              <a:rPr lang="en-US" sz="2700" dirty="0"/>
              <a:t>Alarms</a:t>
            </a:r>
            <a:r>
              <a:rPr lang="ar-SA" sz="2700" dirty="0"/>
              <a:t>.</a:t>
            </a:r>
            <a:endParaRPr lang="en-US" sz="2700" dirty="0"/>
          </a:p>
          <a:p>
            <a:pPr marL="0" indent="0" algn="just" rtl="1">
              <a:lnSpc>
                <a:spcPct val="150000"/>
              </a:lnSpc>
              <a:buNone/>
            </a:pPr>
            <a:endParaRPr lang="en-US" sz="2700" dirty="0"/>
          </a:p>
        </p:txBody>
      </p:sp>
    </p:spTree>
    <p:extLst>
      <p:ext uri="{BB962C8B-B14F-4D97-AF65-F5344CB8AC3E}">
        <p14:creationId xmlns:p14="http://schemas.microsoft.com/office/powerpoint/2010/main" val="38685018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33476"/>
            <a:ext cx="8943975" cy="4356497"/>
          </a:xfrm>
        </p:spPr>
        <p:txBody>
          <a:bodyPr>
            <a:normAutofit/>
          </a:bodyPr>
          <a:lstStyle/>
          <a:p>
            <a:pPr marL="0" indent="0" algn="just" rtl="1">
              <a:lnSpc>
                <a:spcPct val="150000"/>
              </a:lnSpc>
              <a:buNone/>
            </a:pPr>
            <a:r>
              <a:rPr lang="ar-SA" sz="2700" dirty="0"/>
              <a:t>ج- استخدام برنامج </a:t>
            </a:r>
            <a:r>
              <a:rPr lang="en-US" sz="2700" dirty="0"/>
              <a:t>NetView</a:t>
            </a:r>
            <a:r>
              <a:rPr lang="ar-SA" sz="2700" dirty="0"/>
              <a:t> يقوم بتوفير خدمات الإدارة المركزية لشبكات </a:t>
            </a:r>
            <a:r>
              <a:rPr lang="en-US" sz="2700" dirty="0"/>
              <a:t>SNA</a:t>
            </a:r>
            <a:r>
              <a:rPr lang="ar-SA" sz="2700" dirty="0"/>
              <a:t>. ويستخدم على الحاسوب الرئيسي </a:t>
            </a:r>
            <a:r>
              <a:rPr lang="en-US" sz="2700" dirty="0"/>
              <a:t>IBM</a:t>
            </a:r>
            <a:r>
              <a:rPr lang="ar-SA" sz="2700" dirty="0"/>
              <a:t> وهو جزء من نظام </a:t>
            </a:r>
            <a:r>
              <a:rPr lang="en-US" sz="2700" dirty="0"/>
              <a:t>ONA</a:t>
            </a:r>
            <a:r>
              <a:rPr lang="ar-SA" sz="2700" dirty="0"/>
              <a:t>. ويتكون من أوامر للتحكم، ومراقبة العتاد، ومراقبة الجلسات، ومهام المساعدة، ورصد حالة أجهزة الشبكة، ورصد الأداء ومراقبة التوزيعات الإدارية الخاصة بالبرامج وتتبع المهام. نتناول في الفقرات التالية، كيفية تهيئة نظم شبكات </a:t>
            </a:r>
            <a:r>
              <a:rPr lang="en-US" sz="2700" dirty="0"/>
              <a:t>IBM</a:t>
            </a:r>
            <a:r>
              <a:rPr lang="ar-SA" sz="2700" dirty="0"/>
              <a:t> لإدارة شبكات </a:t>
            </a:r>
            <a:r>
              <a:rPr lang="en-US" sz="2700" dirty="0"/>
              <a:t>ATM</a:t>
            </a:r>
            <a:r>
              <a:rPr lang="ar-SA" sz="2700" dirty="0"/>
              <a:t>.</a:t>
            </a:r>
            <a:endParaRPr lang="en-US" sz="2700" dirty="0"/>
          </a:p>
          <a:p>
            <a:pPr marL="0" indent="0" algn="just" rtl="1">
              <a:lnSpc>
                <a:spcPct val="150000"/>
              </a:lnSpc>
              <a:buNone/>
            </a:pPr>
            <a:endParaRPr lang="en-US" sz="2700" dirty="0"/>
          </a:p>
        </p:txBody>
      </p:sp>
    </p:spTree>
    <p:extLst>
      <p:ext uri="{BB962C8B-B14F-4D97-AF65-F5344CB8AC3E}">
        <p14:creationId xmlns:p14="http://schemas.microsoft.com/office/powerpoint/2010/main" val="16637501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5475" y="1131094"/>
            <a:ext cx="2809875" cy="564356"/>
          </a:xfrm>
        </p:spPr>
        <p:txBody>
          <a:bodyPr>
            <a:normAutofit fontScale="90000"/>
          </a:bodyPr>
          <a:lstStyle/>
          <a:p>
            <a:pPr algn="r" rtl="1"/>
            <a:r>
              <a:rPr lang="ar-SA" b="1" dirty="0" smtClean="0">
                <a:latin typeface="Algerian" panose="04020705040A02060702" pitchFamily="82" charset="0"/>
              </a:rPr>
              <a:t/>
            </a:r>
            <a:br>
              <a:rPr lang="ar-SA" b="1" dirty="0" smtClean="0">
                <a:latin typeface="Algerian" panose="04020705040A02060702" pitchFamily="82" charset="0"/>
              </a:rPr>
            </a:br>
            <a:r>
              <a:rPr lang="ar-SA" b="1" dirty="0" smtClean="0">
                <a:latin typeface="Algerian" panose="04020705040A02060702" pitchFamily="82" charset="0"/>
              </a:rPr>
              <a:t>إدارة شبكات</a:t>
            </a:r>
            <a:r>
              <a:rPr lang="ar-SA" dirty="0" smtClean="0">
                <a:latin typeface="Algerian" panose="04020705040A02060702" pitchFamily="82" charset="0"/>
              </a:rPr>
              <a:t> </a:t>
            </a:r>
            <a:r>
              <a:rPr lang="en-US" b="1" dirty="0" smtClean="0">
                <a:latin typeface="Algerian" panose="04020705040A02060702" pitchFamily="82" charset="0"/>
              </a:rPr>
              <a:t>ATM</a:t>
            </a:r>
            <a:r>
              <a:rPr lang="en-US" dirty="0" smtClean="0">
                <a:latin typeface="Algerian" panose="04020705040A02060702" pitchFamily="82" charset="0"/>
              </a:rPr>
              <a:t/>
            </a:r>
            <a:br>
              <a:rPr lang="en-US" dirty="0" smtClean="0">
                <a:latin typeface="Algerian" panose="04020705040A02060702" pitchFamily="82" charset="0"/>
              </a:rPr>
            </a:br>
            <a:endParaRPr lang="en-US" dirty="0">
              <a:latin typeface="Algerian" panose="04020705040A02060702" pitchFamily="82" charset="0"/>
            </a:endParaRPr>
          </a:p>
        </p:txBody>
      </p:sp>
      <p:sp>
        <p:nvSpPr>
          <p:cNvPr id="3" name="Content Placeholder 2"/>
          <p:cNvSpPr>
            <a:spLocks noGrp="1"/>
          </p:cNvSpPr>
          <p:nvPr>
            <p:ph idx="1"/>
          </p:nvPr>
        </p:nvSpPr>
        <p:spPr>
          <a:xfrm>
            <a:off x="0" y="1695450"/>
            <a:ext cx="9039225" cy="4229100"/>
          </a:xfrm>
        </p:spPr>
        <p:txBody>
          <a:bodyPr>
            <a:noAutofit/>
          </a:bodyPr>
          <a:lstStyle/>
          <a:p>
            <a:pPr algn="just" rtl="1">
              <a:lnSpc>
                <a:spcPct val="160000"/>
              </a:lnSpc>
            </a:pPr>
            <a:r>
              <a:rPr lang="ar-SA" dirty="0"/>
              <a:t>نستطيع إدارة شبكات نمط النقل غير المتزامن </a:t>
            </a:r>
            <a:r>
              <a:rPr lang="en-US" dirty="0"/>
              <a:t>Asynchronous Transfer Mode (ATM)</a:t>
            </a:r>
            <a:r>
              <a:rPr lang="ar-SA" dirty="0"/>
              <a:t> من خلال استخدام منتجات </a:t>
            </a:r>
            <a:r>
              <a:rPr lang="en-US" dirty="0"/>
              <a:t>IBM</a:t>
            </a:r>
            <a:r>
              <a:rPr lang="ar-SA" dirty="0"/>
              <a:t>. يوضح الشكل8.4 كيفية استخدام منتجات </a:t>
            </a:r>
            <a:r>
              <a:rPr lang="en-US" dirty="0"/>
              <a:t>IBM</a:t>
            </a:r>
            <a:r>
              <a:rPr lang="ar-SA" dirty="0"/>
              <a:t> لتلا</a:t>
            </a:r>
            <a:r>
              <a:rPr lang="ar-YE" dirty="0"/>
              <a:t>ئ</a:t>
            </a:r>
            <a:r>
              <a:rPr lang="ar-SA" dirty="0"/>
              <a:t>م الشبكة المرجعية </a:t>
            </a:r>
            <a:r>
              <a:rPr lang="en-US" dirty="0"/>
              <a:t>ATM</a:t>
            </a:r>
            <a:r>
              <a:rPr lang="ar-SA" dirty="0"/>
              <a:t>. وتتم عمليات إدارة الشبكة بواسطة استخدام برنامج </a:t>
            </a:r>
            <a:r>
              <a:rPr lang="en-US" dirty="0"/>
              <a:t>NetView</a:t>
            </a:r>
            <a:r>
              <a:rPr lang="ar-SA" dirty="0"/>
              <a:t> الخاص بشركة </a:t>
            </a:r>
            <a:r>
              <a:rPr lang="en-US" dirty="0"/>
              <a:t>AIX</a:t>
            </a:r>
            <a:r>
              <a:rPr lang="ar-SA" dirty="0"/>
              <a:t> وهو عبارة عن مدير شبكة خاص. ويوضح الشكل8.4 نموذج</a:t>
            </a:r>
            <a:r>
              <a:rPr lang="ar-YE" dirty="0"/>
              <a:t>اً</a:t>
            </a:r>
            <a:r>
              <a:rPr lang="ar-SA" dirty="0"/>
              <a:t> هيكلي</a:t>
            </a:r>
            <a:r>
              <a:rPr lang="ar-YE" dirty="0"/>
              <a:t>اً</a:t>
            </a:r>
            <a:r>
              <a:rPr lang="ar-SA" dirty="0"/>
              <a:t> لإدارة شبكة </a:t>
            </a:r>
            <a:r>
              <a:rPr lang="en-US" dirty="0"/>
              <a:t>ATM</a:t>
            </a:r>
            <a:r>
              <a:rPr lang="ar-SA" dirty="0"/>
              <a:t> بواسطة بروتوكول </a:t>
            </a:r>
            <a:r>
              <a:rPr lang="en-US" dirty="0"/>
              <a:t>SNMP</a:t>
            </a:r>
            <a:r>
              <a:rPr lang="ar-SA" dirty="0"/>
              <a:t>، يتم فيه استخدام ما يلي:</a:t>
            </a:r>
            <a:endParaRPr lang="en-US" dirty="0"/>
          </a:p>
          <a:p>
            <a:pPr algn="just" rtl="1">
              <a:lnSpc>
                <a:spcPct val="160000"/>
              </a:lnSpc>
            </a:pPr>
            <a:r>
              <a:rPr lang="en-US" dirty="0"/>
              <a:t>M(1)</a:t>
            </a:r>
            <a:r>
              <a:rPr lang="ar-SA" dirty="0"/>
              <a:t>: وحدة بينية للشبكة الحلقية </a:t>
            </a:r>
            <a:r>
              <a:rPr lang="en-US" dirty="0"/>
              <a:t>Token Ring</a:t>
            </a:r>
            <a:r>
              <a:rPr lang="ar-SA" dirty="0"/>
              <a:t>.</a:t>
            </a:r>
            <a:endParaRPr lang="en-US" dirty="0"/>
          </a:p>
          <a:p>
            <a:pPr algn="just" rtl="1">
              <a:lnSpc>
                <a:spcPct val="160000"/>
              </a:lnSpc>
            </a:pPr>
            <a:r>
              <a:rPr lang="en-US" dirty="0"/>
              <a:t>M(2)</a:t>
            </a:r>
            <a:r>
              <a:rPr lang="ar-SA" dirty="0"/>
              <a:t>:  هو عبارة عن بروتوكول </a:t>
            </a:r>
            <a:r>
              <a:rPr lang="en-US" dirty="0"/>
              <a:t>SNMP</a:t>
            </a:r>
            <a:r>
              <a:rPr lang="ar-SA" dirty="0"/>
              <a:t> محمل فوق </a:t>
            </a:r>
            <a:r>
              <a:rPr lang="en-US" dirty="0"/>
              <a:t>IP</a:t>
            </a:r>
            <a:r>
              <a:rPr lang="ar-SA" dirty="0"/>
              <a:t>.</a:t>
            </a:r>
            <a:endParaRPr lang="en-US" dirty="0"/>
          </a:p>
          <a:p>
            <a:pPr algn="just" rtl="1">
              <a:lnSpc>
                <a:spcPct val="160000"/>
              </a:lnSpc>
            </a:pPr>
            <a:r>
              <a:rPr lang="en-US" dirty="0"/>
              <a:t>M(3)</a:t>
            </a:r>
            <a:r>
              <a:rPr lang="ar-SA" dirty="0"/>
              <a:t>: هو عبارة عن بروتوكول </a:t>
            </a:r>
            <a:r>
              <a:rPr lang="en-US" dirty="0"/>
              <a:t>SNMP </a:t>
            </a:r>
            <a:r>
              <a:rPr lang="ar-SA" dirty="0"/>
              <a:t>أو </a:t>
            </a:r>
            <a:r>
              <a:rPr lang="en-US" dirty="0"/>
              <a:t>CMIP </a:t>
            </a:r>
            <a:r>
              <a:rPr lang="ar-SA" dirty="0"/>
              <a:t>محمل فوق </a:t>
            </a:r>
            <a:r>
              <a:rPr lang="en-US" dirty="0"/>
              <a:t>IP</a:t>
            </a:r>
            <a:r>
              <a:rPr lang="ar-SA" dirty="0"/>
              <a:t>.</a:t>
            </a:r>
            <a:endParaRPr lang="en-US" dirty="0"/>
          </a:p>
          <a:p>
            <a:pPr algn="just" rtl="1">
              <a:lnSpc>
                <a:spcPct val="160000"/>
              </a:lnSpc>
            </a:pPr>
            <a:r>
              <a:rPr lang="en-US" dirty="0"/>
              <a:t>M(4)</a:t>
            </a:r>
            <a:r>
              <a:rPr lang="ar-SA" dirty="0"/>
              <a:t>: هو عبارة عن بروتوكول </a:t>
            </a:r>
            <a:r>
              <a:rPr lang="en-US" dirty="0"/>
              <a:t>SNMP</a:t>
            </a:r>
            <a:r>
              <a:rPr lang="ar-SA" dirty="0"/>
              <a:t> أو </a:t>
            </a:r>
            <a:r>
              <a:rPr lang="en-US" dirty="0"/>
              <a:t>CMIP</a:t>
            </a:r>
            <a:r>
              <a:rPr lang="ar-SA" dirty="0"/>
              <a:t> محمل فوق </a:t>
            </a:r>
            <a:r>
              <a:rPr lang="en-US" dirty="0"/>
              <a:t>IP</a:t>
            </a:r>
            <a:r>
              <a:rPr lang="ar-SA" dirty="0"/>
              <a:t>، أو فوق بروتوكول </a:t>
            </a:r>
            <a:r>
              <a:rPr lang="en-US" dirty="0"/>
              <a:t>X.25</a:t>
            </a:r>
            <a:r>
              <a:rPr lang="ar-SA" dirty="0"/>
              <a:t>.</a:t>
            </a:r>
            <a:endParaRPr lang="en-US" dirty="0"/>
          </a:p>
          <a:p>
            <a:pPr marL="0" indent="0" algn="just" rtl="1">
              <a:lnSpc>
                <a:spcPct val="160000"/>
              </a:lnSpc>
              <a:buNone/>
            </a:pPr>
            <a:endParaRPr lang="en-US" dirty="0"/>
          </a:p>
        </p:txBody>
      </p:sp>
    </p:spTree>
    <p:extLst>
      <p:ext uri="{BB962C8B-B14F-4D97-AF65-F5344CB8AC3E}">
        <p14:creationId xmlns:p14="http://schemas.microsoft.com/office/powerpoint/2010/main" val="238120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550" y="1304926"/>
            <a:ext cx="8934450" cy="3565922"/>
          </a:xfrm>
        </p:spPr>
        <p:txBody>
          <a:bodyPr>
            <a:normAutofit/>
          </a:bodyPr>
          <a:lstStyle/>
          <a:p>
            <a:pPr algn="just" rtl="1">
              <a:lnSpc>
                <a:spcPct val="150000"/>
              </a:lnSpc>
            </a:pPr>
            <a:r>
              <a:rPr lang="en-US" sz="2700" dirty="0"/>
              <a:t> M(5) </a:t>
            </a:r>
            <a:r>
              <a:rPr lang="ar-SA" sz="2700" dirty="0"/>
              <a:t> : عبارة عن وحدة بينية بين الشبكات العامة وبروتوكول النقل.</a:t>
            </a:r>
            <a:endParaRPr lang="en-US" sz="2700" dirty="0"/>
          </a:p>
          <a:p>
            <a:pPr algn="just" rtl="1">
              <a:lnSpc>
                <a:spcPct val="150000"/>
              </a:lnSpc>
            </a:pPr>
            <a:r>
              <a:rPr lang="ar-SA" sz="2700" dirty="0"/>
              <a:t>كما تستخدم وحدة بينية خاصة تربط المستخدم الطرفي مع الشبكة الخاصة. وتستخدم وحدة بينية عامة، تربط الشبكة الخاصة بالشبكة العامة مستخدمة بروتوكول </a:t>
            </a:r>
            <a:r>
              <a:rPr lang="en-US" sz="2700" dirty="0"/>
              <a:t>SNMP</a:t>
            </a:r>
            <a:r>
              <a:rPr lang="ar-SA" sz="2700" dirty="0"/>
              <a:t>. ويستخدم كلا الوحدتين نفس قواعد المعلومات الإدارية </a:t>
            </a:r>
            <a:r>
              <a:rPr lang="en-US" sz="2700" dirty="0"/>
              <a:t>MIBs</a:t>
            </a:r>
            <a:r>
              <a:rPr lang="ar-SA" sz="2700" dirty="0"/>
              <a:t> على كلا الجانبين، لتحقيق العمليات الإدارية. </a:t>
            </a:r>
            <a:endParaRPr lang="en-US" sz="2700" dirty="0"/>
          </a:p>
          <a:p>
            <a:pPr marL="0" indent="0" algn="just" rtl="1">
              <a:lnSpc>
                <a:spcPct val="150000"/>
              </a:lnSpc>
              <a:buNone/>
            </a:pPr>
            <a:endParaRPr lang="en-US" sz="2700" dirty="0"/>
          </a:p>
        </p:txBody>
      </p:sp>
    </p:spTree>
    <p:extLst>
      <p:ext uri="{BB962C8B-B14F-4D97-AF65-F5344CB8AC3E}">
        <p14:creationId xmlns:p14="http://schemas.microsoft.com/office/powerpoint/2010/main" val="28597925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342900"/>
            <a:endParaRPr lang="en-US" sz="1350">
              <a:solidFill>
                <a:prstClr val="black"/>
              </a:solidFill>
              <a:latin typeface="Times New Roman"/>
            </a:endParaRPr>
          </a:p>
        </p:txBody>
      </p:sp>
      <p:pic>
        <p:nvPicPr>
          <p:cNvPr id="5121" name="Picture 1" descr="atm-m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857250"/>
            <a:ext cx="7877175" cy="44672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1" y="281187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342900"/>
            <a:endParaRPr lang="en-US" sz="1350">
              <a:solidFill>
                <a:prstClr val="black"/>
              </a:solidFill>
              <a:latin typeface="Times New Roman"/>
            </a:endParaRPr>
          </a:p>
        </p:txBody>
      </p:sp>
      <p:sp>
        <p:nvSpPr>
          <p:cNvPr id="6" name="Rectangle 5"/>
          <p:cNvSpPr/>
          <p:nvPr/>
        </p:nvSpPr>
        <p:spPr>
          <a:xfrm>
            <a:off x="1428735" y="5324475"/>
            <a:ext cx="6245942" cy="553998"/>
          </a:xfrm>
          <a:prstGeom prst="rect">
            <a:avLst/>
          </a:prstGeom>
        </p:spPr>
        <p:txBody>
          <a:bodyPr wrap="none">
            <a:spAutoFit/>
          </a:bodyPr>
          <a:lstStyle/>
          <a:p>
            <a:pPr algn="r" defTabSz="342900" rtl="1"/>
            <a:r>
              <a:rPr lang="ar-SA" sz="3000" b="1" dirty="0">
                <a:solidFill>
                  <a:prstClr val="black"/>
                </a:solidFill>
                <a:latin typeface="Times New Roman" panose="02020603050405020304" pitchFamily="18" charset="0"/>
                <a:ea typeface="Times New Roman" panose="02020603050405020304" pitchFamily="18" charset="0"/>
                <a:cs typeface="Simplified Arabic" panose="02020603050405020304" pitchFamily="18" charset="-78"/>
              </a:rPr>
              <a:t>إدارة شبكة </a:t>
            </a:r>
            <a:r>
              <a:rPr lang="en-US" sz="3000" b="1" dirty="0">
                <a:solidFill>
                  <a:prstClr val="black"/>
                </a:solidFill>
                <a:latin typeface="Times New Roman" panose="02020603050405020304" pitchFamily="18" charset="0"/>
                <a:ea typeface="Times New Roman" panose="02020603050405020304" pitchFamily="18" charset="0"/>
                <a:cs typeface="Simplified Arabic" panose="02020603050405020304" pitchFamily="18" charset="-78"/>
              </a:rPr>
              <a:t>ATM</a:t>
            </a:r>
            <a:r>
              <a:rPr lang="ar-SA" sz="3000" b="1" dirty="0">
                <a:solidFill>
                  <a:prstClr val="black"/>
                </a:solidFill>
                <a:latin typeface="Times New Roman" panose="02020603050405020304" pitchFamily="18" charset="0"/>
                <a:ea typeface="Times New Roman" panose="02020603050405020304" pitchFamily="18" charset="0"/>
                <a:cs typeface="Simplified Arabic" panose="02020603050405020304" pitchFamily="18" charset="-78"/>
              </a:rPr>
              <a:t> باستخدام بروتوكول </a:t>
            </a:r>
            <a:r>
              <a:rPr lang="en-US" sz="3000" b="1" dirty="0">
                <a:solidFill>
                  <a:prstClr val="black"/>
                </a:solidFill>
                <a:latin typeface="Times New Roman" panose="02020603050405020304" pitchFamily="18" charset="0"/>
                <a:ea typeface="Times New Roman" panose="02020603050405020304" pitchFamily="18" charset="0"/>
                <a:cs typeface="Simplified Arabic" panose="02020603050405020304" pitchFamily="18" charset="-78"/>
              </a:rPr>
              <a:t>SNMP</a:t>
            </a:r>
            <a:r>
              <a:rPr lang="ar-SA" sz="3000" b="1" dirty="0">
                <a:solidFill>
                  <a:prstClr val="black"/>
                </a:solidFill>
                <a:latin typeface="Times New Roman" panose="02020603050405020304" pitchFamily="18" charset="0"/>
                <a:ea typeface="Times New Roman" panose="02020603050405020304" pitchFamily="18" charset="0"/>
                <a:cs typeface="Simplified Arabic" panose="02020603050405020304" pitchFamily="18" charset="-78"/>
              </a:rPr>
              <a:t>.</a:t>
            </a:r>
            <a:endParaRPr lang="en-US" sz="3000" dirty="0">
              <a:solidFill>
                <a:prstClr val="black"/>
              </a:solidFill>
              <a:latin typeface="Times New Roman"/>
            </a:endParaRPr>
          </a:p>
        </p:txBody>
      </p:sp>
    </p:spTree>
    <p:extLst>
      <p:ext uri="{BB962C8B-B14F-4D97-AF65-F5344CB8AC3E}">
        <p14:creationId xmlns:p14="http://schemas.microsoft.com/office/powerpoint/2010/main" val="19453785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533400"/>
            <a:ext cx="8229600" cy="1143000"/>
          </a:xfrm>
        </p:spPr>
        <p:txBody>
          <a:bodyPr>
            <a:noAutofit/>
          </a:bodyPr>
          <a:lstStyle/>
          <a:p>
            <a:pPr algn="ctr" rtl="1"/>
            <a:r>
              <a:rPr lang="ar-SA" sz="3200" b="1" dirty="0" smtClean="0">
                <a:latin typeface="Algerian" panose="04020705040A02060702" pitchFamily="82" charset="0"/>
              </a:rPr>
              <a:t/>
            </a:r>
            <a:br>
              <a:rPr lang="ar-SA" sz="3200" b="1" dirty="0" smtClean="0">
                <a:latin typeface="Algerian" panose="04020705040A02060702" pitchFamily="82" charset="0"/>
              </a:rPr>
            </a:br>
            <a:r>
              <a:rPr lang="ar-SA" sz="3200" b="1" dirty="0" smtClean="0">
                <a:latin typeface="Algerian" panose="04020705040A02060702" pitchFamily="82" charset="0"/>
              </a:rPr>
              <a:t>نظام </a:t>
            </a:r>
            <a:r>
              <a:rPr lang="en-US" sz="3200" dirty="0">
                <a:latin typeface="Algerian" panose="04020705040A02060702" pitchFamily="82" charset="0"/>
              </a:rPr>
              <a:t>CORBA</a:t>
            </a:r>
            <a:r>
              <a:rPr lang="ar-SA" sz="3200" b="1" dirty="0" smtClean="0">
                <a:latin typeface="Algerian" panose="04020705040A02060702" pitchFamily="82" charset="0"/>
              </a:rPr>
              <a:t> لإدارة الشبكات</a:t>
            </a:r>
            <a:r>
              <a:rPr lang="en-US" sz="3200" dirty="0" smtClean="0">
                <a:latin typeface="Algerian" panose="04020705040A02060702" pitchFamily="82" charset="0"/>
              </a:rPr>
              <a:t/>
            </a:r>
            <a:br>
              <a:rPr lang="en-US" sz="3200" dirty="0" smtClean="0">
                <a:latin typeface="Algerian" panose="04020705040A02060702" pitchFamily="82" charset="0"/>
              </a:rPr>
            </a:br>
            <a:r>
              <a:rPr lang="en-US" sz="3200" dirty="0"/>
              <a:t>Common Object Request Broker Architecture</a:t>
            </a:r>
            <a:endParaRPr lang="en-US" sz="3200" dirty="0">
              <a:latin typeface="Algerian" panose="04020705040A02060702" pitchFamily="82" charset="0"/>
            </a:endParaRPr>
          </a:p>
        </p:txBody>
      </p:sp>
      <p:sp>
        <p:nvSpPr>
          <p:cNvPr id="3" name="Content Placeholder 2"/>
          <p:cNvSpPr>
            <a:spLocks noGrp="1"/>
          </p:cNvSpPr>
          <p:nvPr>
            <p:ph idx="1"/>
          </p:nvPr>
        </p:nvSpPr>
        <p:spPr>
          <a:xfrm>
            <a:off x="152400" y="1828801"/>
            <a:ext cx="8915400" cy="3661172"/>
          </a:xfrm>
        </p:spPr>
        <p:txBody>
          <a:bodyPr>
            <a:noAutofit/>
          </a:bodyPr>
          <a:lstStyle/>
          <a:p>
            <a:pPr algn="just" rtl="1"/>
            <a:r>
              <a:rPr lang="ar-SA" sz="2400" dirty="0"/>
              <a:t>يوجد احتياج  إلى نظام يمكن توظيفه لتكامل النظم التي تعمل في وسط موزع غير متجانس. قد يشمل هذا الوسط نظم تشغيل مختلفة مثل (</a:t>
            </a:r>
            <a:r>
              <a:rPr lang="en-US" sz="2400" dirty="0"/>
              <a:t>(OS, Unix, Windows, </a:t>
            </a:r>
            <a:r>
              <a:rPr lang="en-US" sz="2400" dirty="0" err="1"/>
              <a:t>MacOS</a:t>
            </a:r>
            <a:r>
              <a:rPr lang="en-US" sz="2400" dirty="0"/>
              <a:t>, </a:t>
            </a:r>
            <a:r>
              <a:rPr lang="en-US" sz="2400" dirty="0" err="1"/>
              <a:t>etc</a:t>
            </a:r>
            <a:r>
              <a:rPr lang="ar-SA" sz="2400" dirty="0"/>
              <a:t>. </a:t>
            </a:r>
          </a:p>
          <a:p>
            <a:pPr algn="just" rtl="1"/>
            <a:r>
              <a:rPr lang="ar-SA" sz="2400" dirty="0"/>
              <a:t>وكذلك وجود نظم لشبكات متنوعة مثل:(</a:t>
            </a:r>
            <a:r>
              <a:rPr lang="en-US" sz="2400" dirty="0"/>
              <a:t>(TCP/IP, Ethernet, ATM, </a:t>
            </a:r>
            <a:r>
              <a:rPr lang="en-US" sz="2400" dirty="0" err="1"/>
              <a:t>etc</a:t>
            </a:r>
            <a:r>
              <a:rPr lang="ar-SA" sz="2400" dirty="0"/>
              <a:t>. وكذلك لغات برمجة وتطبيقات مختلفة مثل</a:t>
            </a:r>
            <a:r>
              <a:rPr lang="en-US" sz="2400" dirty="0"/>
              <a:t>: (C++, Java, Cobol, </a:t>
            </a:r>
            <a:r>
              <a:rPr lang="en-US" sz="2400" dirty="0" err="1"/>
              <a:t>etc</a:t>
            </a:r>
            <a:r>
              <a:rPr lang="ar-SA" sz="2400" dirty="0"/>
              <a:t>  وكذلك الاحتياج لوجود عتاد مختلف لتشغيل هذه التطبيقات. </a:t>
            </a:r>
            <a:endParaRPr lang="en-US" sz="2400" dirty="0"/>
          </a:p>
          <a:p>
            <a:pPr algn="just" rtl="1"/>
            <a:r>
              <a:rPr lang="ar-SA" sz="2400" dirty="0"/>
              <a:t>إن الهدف من نظام كوربا </a:t>
            </a:r>
            <a:r>
              <a:rPr lang="en-US" sz="2400" dirty="0"/>
              <a:t>CORBA</a:t>
            </a:r>
            <a:r>
              <a:rPr lang="ar-SA" sz="2400" dirty="0"/>
              <a:t>، هو تطوير وتوظيف معايير قياسية لتطبيقات الوسط غير المتجانس الموزع، لحل جميع المشاكل المذكورة السابقة. </a:t>
            </a:r>
            <a:r>
              <a:rPr lang="ar-SA" sz="2400" dirty="0" smtClean="0"/>
              <a:t>" </a:t>
            </a:r>
            <a:r>
              <a:rPr lang="ar-SA" sz="2400" dirty="0"/>
              <a:t>وهي عبارة عن طبقة وسطية </a:t>
            </a:r>
            <a:r>
              <a:rPr lang="en-US" sz="2400" dirty="0"/>
              <a:t>Middleware</a:t>
            </a:r>
            <a:r>
              <a:rPr lang="ar-SA" sz="2400" dirty="0"/>
              <a:t> توفر إطار العمل اللازم، ووحدة بينية برمجية تطبيقية </a:t>
            </a:r>
            <a:r>
              <a:rPr lang="en-US" sz="2400" dirty="0"/>
              <a:t>API</a:t>
            </a:r>
            <a:r>
              <a:rPr lang="ar-SA" sz="2400" dirty="0"/>
              <a:t> لتطوير التطبيقات الموزعة.</a:t>
            </a:r>
            <a:endParaRPr lang="en-US" sz="2400" dirty="0"/>
          </a:p>
        </p:txBody>
      </p:sp>
    </p:spTree>
    <p:extLst>
      <p:ext uri="{BB962C8B-B14F-4D97-AF65-F5344CB8AC3E}">
        <p14:creationId xmlns:p14="http://schemas.microsoft.com/office/powerpoint/2010/main" val="4254873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25" y="1169194"/>
            <a:ext cx="9020175" cy="4802981"/>
          </a:xfrm>
        </p:spPr>
        <p:txBody>
          <a:bodyPr>
            <a:noAutofit/>
          </a:bodyPr>
          <a:lstStyle/>
          <a:p>
            <a:pPr algn="r" rtl="1">
              <a:lnSpc>
                <a:spcPct val="150000"/>
              </a:lnSpc>
            </a:pPr>
            <a:r>
              <a:rPr lang="ar-SA" dirty="0"/>
              <a:t>يوضح الشكل التالي، على سبيل المثال، إدارة نظام شبكة موزعة باستخدام كوربا.</a:t>
            </a:r>
          </a:p>
          <a:p>
            <a:pPr algn="r" rtl="1">
              <a:lnSpc>
                <a:spcPct val="150000"/>
              </a:lnSpc>
            </a:pPr>
            <a:r>
              <a:rPr lang="ar-SA" dirty="0"/>
              <a:t> تستخدم كوربا نموذج</a:t>
            </a:r>
            <a:r>
              <a:rPr lang="ar-YE" dirty="0"/>
              <a:t>اً</a:t>
            </a:r>
            <a:r>
              <a:rPr lang="ar-SA" dirty="0"/>
              <a:t> معلوماتي</a:t>
            </a:r>
            <a:r>
              <a:rPr lang="ar-YE" dirty="0"/>
              <a:t>اً</a:t>
            </a:r>
            <a:r>
              <a:rPr lang="ar-SA" dirty="0"/>
              <a:t> مبن</a:t>
            </a:r>
            <a:r>
              <a:rPr lang="ar-YE" dirty="0"/>
              <a:t>ياً</a:t>
            </a:r>
            <a:r>
              <a:rPr lang="ar-SA" dirty="0"/>
              <a:t> باستخدام النظم الشيئية </a:t>
            </a:r>
            <a:r>
              <a:rPr lang="en-US" dirty="0"/>
              <a:t>Object Oriented</a:t>
            </a:r>
            <a:r>
              <a:rPr lang="ar-SA" dirty="0"/>
              <a:t> .</a:t>
            </a:r>
          </a:p>
          <a:p>
            <a:pPr algn="r" rtl="1">
              <a:lnSpc>
                <a:spcPct val="150000"/>
              </a:lnSpc>
            </a:pPr>
            <a:r>
              <a:rPr lang="ar-SA" dirty="0"/>
              <a:t> يتم تحديد بينيات </a:t>
            </a:r>
            <a:r>
              <a:rPr lang="en-US" dirty="0"/>
              <a:t>Interfaces</a:t>
            </a:r>
            <a:r>
              <a:rPr lang="ar-SA" dirty="0"/>
              <a:t> العناصر من خلال وحدة  لغة تعريف البينية </a:t>
            </a:r>
            <a:r>
              <a:rPr lang="en-US" dirty="0"/>
              <a:t>Interface Definition Language (IDL) </a:t>
            </a:r>
            <a:r>
              <a:rPr lang="ar-SA" dirty="0"/>
              <a:t>، وتستخدم بروتوكول تشغيل العمليات الداخلية لانترنيت يسمى </a:t>
            </a:r>
            <a:r>
              <a:rPr lang="en-US" dirty="0"/>
              <a:t>Internet Interoperability Protocol (IIOP)</a:t>
            </a:r>
            <a:r>
              <a:rPr lang="ar-SA" dirty="0"/>
              <a:t>، الذي يتيح عمليات نقل معتمدة </a:t>
            </a:r>
            <a:r>
              <a:rPr lang="en-US" dirty="0"/>
              <a:t>reliable</a:t>
            </a:r>
            <a:r>
              <a:rPr lang="ar-SA" dirty="0"/>
              <a:t> فوق بروتوكول النقل </a:t>
            </a:r>
            <a:r>
              <a:rPr lang="en-US" dirty="0"/>
              <a:t>TCP/IP</a:t>
            </a:r>
            <a:r>
              <a:rPr lang="ar-SA" dirty="0"/>
              <a:t>.</a:t>
            </a:r>
          </a:p>
          <a:p>
            <a:pPr algn="r" rtl="1">
              <a:lnSpc>
                <a:spcPct val="150000"/>
              </a:lnSpc>
            </a:pPr>
            <a:r>
              <a:rPr lang="ar-SA" dirty="0"/>
              <a:t> كما يوضح الشكل التالي  أن مدير كوربا، يتعامل مع </a:t>
            </a:r>
            <a:r>
              <a:rPr lang="ar-YE" dirty="0"/>
              <a:t>عدة </a:t>
            </a:r>
            <a:r>
              <a:rPr lang="ar-SA" dirty="0"/>
              <a:t>وكلاء </a:t>
            </a:r>
            <a:r>
              <a:rPr lang="ar-YE" dirty="0"/>
              <a:t>لا تجانس بينهما</a:t>
            </a:r>
            <a:r>
              <a:rPr lang="ar-SA" dirty="0"/>
              <a:t> ه</a:t>
            </a:r>
            <a:r>
              <a:rPr lang="ar-YE" dirty="0"/>
              <a:t>ي</a:t>
            </a:r>
            <a:r>
              <a:rPr lang="ar-SA" dirty="0"/>
              <a:t>: وكيل </a:t>
            </a:r>
            <a:r>
              <a:rPr lang="en-US" dirty="0"/>
              <a:t>SNMP</a:t>
            </a:r>
            <a:r>
              <a:rPr lang="ar-SA" dirty="0"/>
              <a:t>-كوربا، وكيل كوربا،  ووكيل </a:t>
            </a:r>
            <a:r>
              <a:rPr lang="en-US" dirty="0"/>
              <a:t>SNMP</a:t>
            </a:r>
            <a:r>
              <a:rPr lang="ar-SA" dirty="0"/>
              <a:t> من خلال خادم </a:t>
            </a:r>
            <a:r>
              <a:rPr lang="en-US" dirty="0"/>
              <a:t>SNMP</a:t>
            </a:r>
            <a:r>
              <a:rPr lang="ar-SA" dirty="0"/>
              <a:t>.</a:t>
            </a:r>
          </a:p>
          <a:p>
            <a:pPr algn="r" rtl="1">
              <a:lnSpc>
                <a:spcPct val="150000"/>
              </a:lnSpc>
            </a:pPr>
            <a:r>
              <a:rPr lang="ar-SA" dirty="0"/>
              <a:t> يؤخذ على نظم كوربا أنها، تحتاج إضافات لبعض خدمات إدارة الشبكة</a:t>
            </a:r>
            <a:r>
              <a:rPr lang="ar-YE" dirty="0"/>
              <a:t>- </a:t>
            </a:r>
            <a:r>
              <a:rPr lang="ar-SA" dirty="0"/>
              <a:t>غير المتاحة حالي</a:t>
            </a:r>
            <a:r>
              <a:rPr lang="ar-YE" dirty="0"/>
              <a:t>اً - </a:t>
            </a:r>
            <a:r>
              <a:rPr lang="ar-SA" dirty="0"/>
              <a:t>من أجل إدارة الشبكات غير المتجانسة بكفاءة.</a:t>
            </a:r>
            <a:endParaRPr lang="en-US" dirty="0"/>
          </a:p>
          <a:p>
            <a:pPr algn="r" rtl="1">
              <a:lnSpc>
                <a:spcPct val="150000"/>
              </a:lnSpc>
            </a:pPr>
            <a:endParaRPr lang="en-US" dirty="0"/>
          </a:p>
        </p:txBody>
      </p:sp>
    </p:spTree>
    <p:extLst>
      <p:ext uri="{BB962C8B-B14F-4D97-AF65-F5344CB8AC3E}">
        <p14:creationId xmlns:p14="http://schemas.microsoft.com/office/powerpoint/2010/main" val="30720910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descr="corba mngm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3" y="911037"/>
            <a:ext cx="9140428" cy="4758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060227" y="5669964"/>
            <a:ext cx="5474576" cy="461665"/>
          </a:xfrm>
          <a:prstGeom prst="rect">
            <a:avLst/>
          </a:prstGeom>
        </p:spPr>
        <p:txBody>
          <a:bodyPr wrap="none">
            <a:spAutoFit/>
          </a:bodyPr>
          <a:lstStyle/>
          <a:p>
            <a:pPr defTabSz="342900"/>
            <a:r>
              <a:rPr lang="ar-SA" sz="2400" b="1" dirty="0">
                <a:solidFill>
                  <a:srgbClr val="000000"/>
                </a:solidFill>
                <a:latin typeface="Times New Roman" panose="02020603050405020304" pitchFamily="18" charset="0"/>
                <a:ea typeface="Times New Roman" panose="02020603050405020304" pitchFamily="18" charset="0"/>
                <a:cs typeface="Simplified Arabic" panose="02020603050405020304" pitchFamily="18" charset="-78"/>
              </a:rPr>
              <a:t>إدارة نظام شبكة موزعة غير متجانسة باستخدام كوربا</a:t>
            </a:r>
            <a:endParaRPr lang="en-US" sz="2400" dirty="0">
              <a:solidFill>
                <a:prstClr val="black"/>
              </a:solidFill>
              <a:latin typeface="Times New Roman"/>
            </a:endParaRPr>
          </a:p>
        </p:txBody>
      </p:sp>
    </p:spTree>
    <p:extLst>
      <p:ext uri="{BB962C8B-B14F-4D97-AF65-F5344CB8AC3E}">
        <p14:creationId xmlns:p14="http://schemas.microsoft.com/office/powerpoint/2010/main" val="2525564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5925" y="988219"/>
            <a:ext cx="5124450" cy="802481"/>
          </a:xfrm>
        </p:spPr>
        <p:txBody>
          <a:bodyPr>
            <a:normAutofit fontScale="90000"/>
          </a:bodyPr>
          <a:lstStyle/>
          <a:p>
            <a:pPr algn="ctr" rtl="1"/>
            <a:r>
              <a:rPr lang="ar-SA" dirty="0" smtClean="0">
                <a:latin typeface="Algerian" panose="04020705040A02060702" pitchFamily="82" charset="0"/>
              </a:rPr>
              <a:t/>
            </a:r>
            <a:br>
              <a:rPr lang="ar-SA" dirty="0" smtClean="0">
                <a:latin typeface="Algerian" panose="04020705040A02060702" pitchFamily="82" charset="0"/>
              </a:rPr>
            </a:br>
            <a:r>
              <a:rPr lang="ar-SA" dirty="0" smtClean="0">
                <a:latin typeface="Algerian" panose="04020705040A02060702" pitchFamily="82" charset="0"/>
              </a:rPr>
              <a:t>إدارة شبكات الويب </a:t>
            </a:r>
            <a:r>
              <a:rPr lang="en-US" dirty="0" smtClean="0">
                <a:latin typeface="Algerian" panose="04020705040A02060702" pitchFamily="82" charset="0"/>
              </a:rPr>
              <a:t>Web</a:t>
            </a:r>
            <a:br>
              <a:rPr lang="en-US" dirty="0" smtClean="0">
                <a:latin typeface="Algerian" panose="04020705040A02060702" pitchFamily="82" charset="0"/>
              </a:rPr>
            </a:br>
            <a:endParaRPr lang="en-US" dirty="0">
              <a:latin typeface="Algerian" panose="04020705040A02060702" pitchFamily="82" charset="0"/>
            </a:endParaRPr>
          </a:p>
        </p:txBody>
      </p:sp>
      <p:sp>
        <p:nvSpPr>
          <p:cNvPr id="3" name="Content Placeholder 2"/>
          <p:cNvSpPr>
            <a:spLocks noGrp="1"/>
          </p:cNvSpPr>
          <p:nvPr>
            <p:ph idx="1"/>
          </p:nvPr>
        </p:nvSpPr>
        <p:spPr>
          <a:xfrm>
            <a:off x="142875" y="1712119"/>
            <a:ext cx="8829675" cy="3983831"/>
          </a:xfrm>
        </p:spPr>
        <p:txBody>
          <a:bodyPr>
            <a:noAutofit/>
          </a:bodyPr>
          <a:lstStyle/>
          <a:p>
            <a:pPr marL="0" indent="0" algn="just" rtl="1">
              <a:lnSpc>
                <a:spcPct val="150000"/>
              </a:lnSpc>
              <a:buNone/>
            </a:pPr>
            <a:r>
              <a:rPr lang="ar-SA" sz="2400" b="1" dirty="0" smtClean="0"/>
              <a:t>تم </a:t>
            </a:r>
            <a:r>
              <a:rPr lang="ar-SA" sz="2400" b="1" dirty="0"/>
              <a:t>تصميم نظام إدارة شبكات ويب لتوفير ودعم إمكانات إدارة الشبكات لتحقيق ما يلي:</a:t>
            </a:r>
            <a:endParaRPr lang="en-US" sz="2400" b="1" dirty="0"/>
          </a:p>
          <a:p>
            <a:pPr marL="0" indent="0" algn="just" rtl="1">
              <a:lnSpc>
                <a:spcPct val="150000"/>
              </a:lnSpc>
              <a:buNone/>
            </a:pPr>
            <a:r>
              <a:rPr lang="ar-SA" sz="2400" dirty="0"/>
              <a:t>أ-   تدعيم إدارة بروتوكولات متعددة. </a:t>
            </a:r>
            <a:endParaRPr lang="en-US" sz="2400" dirty="0"/>
          </a:p>
          <a:p>
            <a:pPr marL="0" indent="0" algn="just" rtl="1">
              <a:lnSpc>
                <a:spcPct val="150000"/>
              </a:lnSpc>
              <a:buNone/>
            </a:pPr>
            <a:r>
              <a:rPr lang="ar-SA" sz="2400" dirty="0"/>
              <a:t>ب- توظيف اختيارات متنوعة باستخدام نفس النظام الإداري.</a:t>
            </a:r>
            <a:endParaRPr lang="en-US" sz="2400" dirty="0"/>
          </a:p>
          <a:p>
            <a:pPr marL="0" indent="0" algn="just" rtl="1">
              <a:lnSpc>
                <a:spcPct val="150000"/>
              </a:lnSpc>
              <a:buNone/>
            </a:pPr>
            <a:r>
              <a:rPr lang="ar-SA" sz="2400" dirty="0"/>
              <a:t>ج-  تكامل التطبيقات دون الاعتماد على برنامج الإدارة.</a:t>
            </a:r>
            <a:endParaRPr lang="en-US" sz="2400" dirty="0"/>
          </a:p>
          <a:p>
            <a:pPr marL="0" indent="0" algn="just" rtl="1">
              <a:lnSpc>
                <a:spcPct val="150000"/>
              </a:lnSpc>
              <a:buNone/>
            </a:pPr>
            <a:r>
              <a:rPr lang="ar-SA" sz="2400" dirty="0"/>
              <a:t>د-  الارتقاء بالنظام مع نمو الأعمال </a:t>
            </a:r>
            <a:r>
              <a:rPr lang="en-US" sz="2400" dirty="0"/>
              <a:t>Business</a:t>
            </a:r>
            <a:r>
              <a:rPr lang="ar-SA" sz="2400" dirty="0"/>
              <a:t>.</a:t>
            </a:r>
            <a:endParaRPr lang="en-US" sz="2400" dirty="0"/>
          </a:p>
          <a:p>
            <a:pPr marL="0" indent="0" algn="just" rtl="1">
              <a:lnSpc>
                <a:spcPct val="150000"/>
              </a:lnSpc>
              <a:buNone/>
            </a:pPr>
            <a:r>
              <a:rPr lang="ar-SA" sz="2400" dirty="0"/>
              <a:t>هـ-  سهولة إدارة النظام من خلال توفير العديد من الأدوات الإدارية.</a:t>
            </a:r>
            <a:endParaRPr lang="en-US" sz="2400" dirty="0"/>
          </a:p>
          <a:p>
            <a:pPr marL="0" indent="0" algn="just" rtl="1">
              <a:lnSpc>
                <a:spcPct val="150000"/>
              </a:lnSpc>
              <a:buNone/>
            </a:pPr>
            <a:r>
              <a:rPr lang="ar-SA" sz="2400" dirty="0"/>
              <a:t>و-  سهولة صيانة وتحديث النظام ، بسرعة وبأقل المخاطر.</a:t>
            </a:r>
            <a:endParaRPr lang="en-US" sz="2400" dirty="0"/>
          </a:p>
          <a:p>
            <a:pPr marL="0" indent="0" algn="just" rtl="1">
              <a:lnSpc>
                <a:spcPct val="150000"/>
              </a:lnSpc>
              <a:buNone/>
            </a:pPr>
            <a:endParaRPr lang="en-US" sz="2400" dirty="0"/>
          </a:p>
        </p:txBody>
      </p:sp>
    </p:spTree>
    <p:extLst>
      <p:ext uri="{BB962C8B-B14F-4D97-AF65-F5344CB8AC3E}">
        <p14:creationId xmlns:p14="http://schemas.microsoft.com/office/powerpoint/2010/main" val="40660817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273968"/>
            <a:ext cx="8877300" cy="4631532"/>
          </a:xfrm>
        </p:spPr>
        <p:txBody>
          <a:bodyPr>
            <a:noAutofit/>
          </a:bodyPr>
          <a:lstStyle/>
          <a:p>
            <a:pPr algn="r" rtl="1">
              <a:lnSpc>
                <a:spcPct val="150000"/>
              </a:lnSpc>
              <a:buFont typeface="Wingdings" panose="05000000000000000000" pitchFamily="2" charset="2"/>
              <a:buChar char="ü"/>
            </a:pPr>
            <a:r>
              <a:rPr lang="ar-SA" sz="2400" dirty="0"/>
              <a:t>يوضح الشكل التالي، على سبيل المثال، نظام</a:t>
            </a:r>
            <a:r>
              <a:rPr lang="ar-YE" sz="2400" dirty="0"/>
              <a:t>اً</a:t>
            </a:r>
            <a:r>
              <a:rPr lang="ar-SA" sz="2400" dirty="0"/>
              <a:t> مبسط</a:t>
            </a:r>
            <a:r>
              <a:rPr lang="ar-YE" sz="2400" dirty="0"/>
              <a:t>اً</a:t>
            </a:r>
            <a:r>
              <a:rPr lang="ar-SA" sz="2400" dirty="0"/>
              <a:t> لإدارة شبكات ويب مستخدما</a:t>
            </a:r>
            <a:r>
              <a:rPr lang="ar-YE" sz="2400" dirty="0"/>
              <a:t>ً</a:t>
            </a:r>
            <a:r>
              <a:rPr lang="ar-SA" sz="2400" dirty="0"/>
              <a:t> بوابة ويب </a:t>
            </a:r>
            <a:r>
              <a:rPr lang="en-US" sz="2400" dirty="0"/>
              <a:t>Web Gateway</a:t>
            </a:r>
            <a:r>
              <a:rPr lang="ar-SA" sz="2400" dirty="0"/>
              <a:t>.</a:t>
            </a:r>
          </a:p>
          <a:p>
            <a:pPr algn="r" rtl="1">
              <a:lnSpc>
                <a:spcPct val="150000"/>
              </a:lnSpc>
              <a:buFont typeface="Wingdings" panose="05000000000000000000" pitchFamily="2" charset="2"/>
              <a:buChar char="ü"/>
            </a:pPr>
            <a:r>
              <a:rPr lang="ar-SA" sz="2400" dirty="0"/>
              <a:t> يتم الاتصال بين بوابة الويب ومتصفح الويب باستخدام البروتوكول </a:t>
            </a:r>
            <a:r>
              <a:rPr lang="en-US" sz="2400" dirty="0"/>
              <a:t>HTTP</a:t>
            </a:r>
            <a:r>
              <a:rPr lang="ar-SA" sz="2400" dirty="0"/>
              <a:t>. بعد ذلك، يتم تحويل طلبات </a:t>
            </a:r>
            <a:r>
              <a:rPr lang="en-US" sz="2400" dirty="0"/>
              <a:t>HTTP</a:t>
            </a:r>
            <a:r>
              <a:rPr lang="ar-SA" sz="2400" dirty="0"/>
              <a:t> إلى طلبات بروتوكول </a:t>
            </a:r>
            <a:r>
              <a:rPr lang="en-US" sz="2400" dirty="0"/>
              <a:t>SNMP/CMIP</a:t>
            </a:r>
            <a:r>
              <a:rPr lang="ar-SA" sz="2400" dirty="0"/>
              <a:t>.</a:t>
            </a:r>
          </a:p>
          <a:p>
            <a:pPr algn="r" rtl="1">
              <a:lnSpc>
                <a:spcPct val="150000"/>
              </a:lnSpc>
              <a:buFont typeface="Wingdings" panose="05000000000000000000" pitchFamily="2" charset="2"/>
              <a:buChar char="ü"/>
            </a:pPr>
            <a:r>
              <a:rPr lang="ar-SA" sz="2400" dirty="0"/>
              <a:t> كل نظام يتم إدارته يمثل خادم ويب مصغر.</a:t>
            </a:r>
          </a:p>
          <a:p>
            <a:pPr algn="r" rtl="1">
              <a:lnSpc>
                <a:spcPct val="150000"/>
              </a:lnSpc>
              <a:buFont typeface="Wingdings" panose="05000000000000000000" pitchFamily="2" charset="2"/>
              <a:buChar char="ü"/>
            </a:pPr>
            <a:r>
              <a:rPr lang="ar-SA" sz="2400" dirty="0"/>
              <a:t> يمكن الوصول إلى النظام الذي يتم إدارته من أي مكان عن طريق متصفح الويب. يؤخذ على هذه النظم أنها تستخدم بروتوكولات (</a:t>
            </a:r>
            <a:r>
              <a:rPr lang="en-US" sz="2400" dirty="0"/>
              <a:t>HTTP / XML</a:t>
            </a:r>
            <a:r>
              <a:rPr lang="ar-SA" sz="2400" dirty="0"/>
              <a:t>) التي تعبر عن البيانات بطرق كلامية "</a:t>
            </a:r>
            <a:r>
              <a:rPr lang="en-US" sz="2400" dirty="0"/>
              <a:t>Wordy</a:t>
            </a:r>
            <a:r>
              <a:rPr lang="ar-SA" sz="2400" dirty="0"/>
              <a:t>".</a:t>
            </a:r>
          </a:p>
          <a:p>
            <a:pPr algn="r" rtl="1">
              <a:lnSpc>
                <a:spcPct val="150000"/>
              </a:lnSpc>
              <a:buFont typeface="Wingdings" panose="05000000000000000000" pitchFamily="2" charset="2"/>
              <a:buChar char="ü"/>
            </a:pPr>
            <a:r>
              <a:rPr lang="ar-SA" sz="2400" dirty="0"/>
              <a:t> كما أنها لا تسمح بتوزيع الإدارة الذكية.</a:t>
            </a:r>
            <a:endParaRPr lang="en-US" sz="2400" dirty="0"/>
          </a:p>
        </p:txBody>
      </p:sp>
    </p:spTree>
    <p:extLst>
      <p:ext uri="{BB962C8B-B14F-4D97-AF65-F5344CB8AC3E}">
        <p14:creationId xmlns:p14="http://schemas.microsoft.com/office/powerpoint/2010/main" val="9539655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web-m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747" y="1228725"/>
            <a:ext cx="8797528"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669510" y="5052626"/>
            <a:ext cx="5917004" cy="461665"/>
          </a:xfrm>
          <a:prstGeom prst="rect">
            <a:avLst/>
          </a:prstGeom>
        </p:spPr>
        <p:txBody>
          <a:bodyPr wrap="none">
            <a:spAutoFit/>
          </a:bodyPr>
          <a:lstStyle/>
          <a:p>
            <a:pPr algn="r" defTabSz="342900" rtl="1"/>
            <a:r>
              <a:rPr lang="ar-SA" sz="2400" b="1" dirty="0">
                <a:solidFill>
                  <a:srgbClr val="000000"/>
                </a:solidFill>
                <a:latin typeface="Algerian" panose="04020705040A02060702" pitchFamily="82" charset="0"/>
                <a:ea typeface="Times New Roman" panose="02020603050405020304" pitchFamily="18" charset="0"/>
                <a:cs typeface="Simplified Arabic" panose="02020603050405020304" pitchFamily="18" charset="-78"/>
              </a:rPr>
              <a:t>إدارة شبكات ويب باستخدام بوابة ويب وبروتوكول </a:t>
            </a:r>
            <a:r>
              <a:rPr lang="en-US" sz="2400" b="1" dirty="0">
                <a:solidFill>
                  <a:srgbClr val="000000"/>
                </a:solidFill>
                <a:latin typeface="Algerian" panose="04020705040A02060702" pitchFamily="82" charset="0"/>
                <a:ea typeface="Times New Roman" panose="02020603050405020304" pitchFamily="18" charset="0"/>
                <a:cs typeface="Simplified Arabic" panose="02020603050405020304" pitchFamily="18" charset="-78"/>
              </a:rPr>
              <a:t>HTTP</a:t>
            </a:r>
            <a:endParaRPr lang="en-US" sz="2400" dirty="0">
              <a:solidFill>
                <a:prstClr val="black"/>
              </a:solidFill>
              <a:latin typeface="Algerian" panose="04020705040A02060702" pitchFamily="82" charset="0"/>
            </a:endParaRPr>
          </a:p>
        </p:txBody>
      </p:sp>
    </p:spTree>
    <p:extLst>
      <p:ext uri="{BB962C8B-B14F-4D97-AF65-F5344CB8AC3E}">
        <p14:creationId xmlns:p14="http://schemas.microsoft.com/office/powerpoint/2010/main" val="3582977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3700" y="950119"/>
            <a:ext cx="1771650" cy="421481"/>
          </a:xfrm>
        </p:spPr>
        <p:txBody>
          <a:bodyPr>
            <a:noAutofit/>
          </a:bodyPr>
          <a:lstStyle/>
          <a:p>
            <a:pPr algn="r"/>
            <a:r>
              <a:rPr lang="ar-SA" dirty="0" smtClean="0">
                <a:effectLst>
                  <a:outerShdw blurRad="38100" dist="38100" dir="2700000" algn="tl">
                    <a:srgbClr val="000000">
                      <a:alpha val="43137"/>
                    </a:srgbClr>
                  </a:outerShdw>
                </a:effectLst>
              </a:rPr>
              <a:t>الخلاصة</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990600" y="1464469"/>
            <a:ext cx="7620000" cy="4117181"/>
          </a:xfrm>
        </p:spPr>
        <p:txBody>
          <a:bodyPr>
            <a:noAutofit/>
          </a:bodyPr>
          <a:lstStyle/>
          <a:p>
            <a:pPr algn="just" rtl="1">
              <a:lnSpc>
                <a:spcPct val="150000"/>
              </a:lnSpc>
              <a:buFont typeface="Wingdings" panose="05000000000000000000" pitchFamily="2" charset="2"/>
              <a:buChar char="ü"/>
            </a:pPr>
            <a:r>
              <a:rPr lang="ar-SA" sz="2400" dirty="0"/>
              <a:t>أن عملية تنصيب وكيل </a:t>
            </a:r>
            <a:r>
              <a:rPr lang="en-US" sz="2400" dirty="0"/>
              <a:t>SNMP </a:t>
            </a:r>
            <a:r>
              <a:rPr lang="en-US" sz="2400" dirty="0" smtClean="0"/>
              <a:t>Agent</a:t>
            </a:r>
            <a:r>
              <a:rPr lang="ar-SA" sz="2400" dirty="0" smtClean="0"/>
              <a:t> </a:t>
            </a:r>
            <a:r>
              <a:rPr lang="ar-SA" sz="2400" dirty="0"/>
              <a:t>على حاسبات </a:t>
            </a:r>
            <a:r>
              <a:rPr lang="en-US" sz="2400" dirty="0"/>
              <a:t>NT</a:t>
            </a:r>
            <a:r>
              <a:rPr lang="ar-SA" sz="2400" dirty="0"/>
              <a:t>  تتم آليا</a:t>
            </a:r>
            <a:r>
              <a:rPr lang="ar-YE" sz="2400" dirty="0"/>
              <a:t>ً</a:t>
            </a:r>
            <a:r>
              <a:rPr lang="ar-SA" sz="2400" dirty="0"/>
              <a:t> أثناء تنصيب وتهيئة بروتوكول </a:t>
            </a:r>
            <a:r>
              <a:rPr lang="en-US" sz="2400" dirty="0"/>
              <a:t>TCP/IP</a:t>
            </a:r>
            <a:r>
              <a:rPr lang="ar-SA" sz="2400" dirty="0"/>
              <a:t>. وذلك عندما نستخدم خادم </a:t>
            </a:r>
            <a:r>
              <a:rPr lang="en-US" sz="2400" dirty="0"/>
              <a:t>Server</a:t>
            </a:r>
            <a:r>
              <a:rPr lang="ar-SA" sz="2400" dirty="0"/>
              <a:t> يعمل بنظام تشغيل النوافذ ويستخدم الإصدار البرمجي الخامس أو الذي يليه. </a:t>
            </a:r>
            <a:endParaRPr lang="ar-SA" sz="2400" dirty="0" smtClean="0"/>
          </a:p>
          <a:p>
            <a:pPr algn="just" rtl="1">
              <a:lnSpc>
                <a:spcPct val="150000"/>
              </a:lnSpc>
              <a:buFont typeface="Wingdings" panose="05000000000000000000" pitchFamily="2" charset="2"/>
              <a:buChar char="ü"/>
            </a:pPr>
            <a:r>
              <a:rPr lang="ar-SA" sz="2400" dirty="0" smtClean="0"/>
              <a:t>أما </a:t>
            </a:r>
            <a:r>
              <a:rPr lang="ar-SA" sz="2400" dirty="0"/>
              <a:t>الخادمات التي تعمل بنظام الإصدار الرابع أو الذي قبله يمكن أن تتم عملية إضافة وكيل </a:t>
            </a:r>
            <a:r>
              <a:rPr lang="en-US" sz="2400" dirty="0"/>
              <a:t>SNMP</a:t>
            </a:r>
            <a:r>
              <a:rPr lang="ar-SA" sz="2400" dirty="0"/>
              <a:t> إلى خادم النوافذ </a:t>
            </a:r>
            <a:r>
              <a:rPr lang="en-US" sz="2400" dirty="0"/>
              <a:t>NT</a:t>
            </a:r>
            <a:r>
              <a:rPr lang="ar-SA" sz="2400" dirty="0"/>
              <a:t> في خطوة منفصلة. </a:t>
            </a:r>
            <a:endParaRPr lang="en-US" sz="2400" dirty="0"/>
          </a:p>
        </p:txBody>
      </p:sp>
    </p:spTree>
    <p:extLst>
      <p:ext uri="{BB962C8B-B14F-4D97-AF65-F5344CB8AC3E}">
        <p14:creationId xmlns:p14="http://schemas.microsoft.com/office/powerpoint/2010/main" val="29108458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بعض مشاكل البروتوكول </a:t>
            </a:r>
            <a:r>
              <a:rPr lang="ar-SA" b="1" dirty="0" smtClean="0"/>
              <a:t>“</a:t>
            </a:r>
            <a:r>
              <a:rPr lang="en-US" b="1" dirty="0" smtClean="0"/>
              <a:t>SNMPv1</a:t>
            </a:r>
            <a:r>
              <a:rPr lang="ar-SA" b="1" dirty="0" smtClean="0"/>
              <a:t>" </a:t>
            </a:r>
            <a:endParaRPr lang="en-US" dirty="0"/>
          </a:p>
        </p:txBody>
      </p:sp>
      <p:sp>
        <p:nvSpPr>
          <p:cNvPr id="3" name="Content Placeholder 2"/>
          <p:cNvSpPr>
            <a:spLocks noGrp="1"/>
          </p:cNvSpPr>
          <p:nvPr>
            <p:ph idx="1"/>
          </p:nvPr>
        </p:nvSpPr>
        <p:spPr/>
        <p:txBody>
          <a:bodyPr/>
          <a:lstStyle/>
          <a:p>
            <a:pPr marL="0" indent="0" algn="r" rtl="1">
              <a:buNone/>
            </a:pPr>
            <a:endParaRPr lang="en-US" dirty="0"/>
          </a:p>
          <a:p>
            <a:pPr algn="r" rtl="1"/>
            <a:r>
              <a:rPr lang="ar-SA" dirty="0"/>
              <a:t>على الرغم من كفاءة البروتوكول </a:t>
            </a:r>
            <a:r>
              <a:rPr lang="ar-SA" dirty="0" smtClean="0"/>
              <a:t>"</a:t>
            </a:r>
            <a:r>
              <a:rPr lang="en-US" b="1" dirty="0"/>
              <a:t> SNMPv1 </a:t>
            </a:r>
            <a:r>
              <a:rPr lang="ar-SA" dirty="0" smtClean="0"/>
              <a:t>" </a:t>
            </a:r>
            <a:r>
              <a:rPr lang="ar-SA" dirty="0"/>
              <a:t>في إدارة الشبكة، لكن يوجد به ثلاث مشاكل هي:</a:t>
            </a:r>
            <a:endParaRPr lang="en-US" dirty="0"/>
          </a:p>
          <a:p>
            <a:pPr algn="r" rtl="1"/>
            <a:r>
              <a:rPr lang="ar-SA" dirty="0"/>
              <a:t>-  بروتوكول قياسي للاستخدام، فقط لشبكات </a:t>
            </a:r>
            <a:r>
              <a:rPr lang="en-US" dirty="0"/>
              <a:t>IP</a:t>
            </a:r>
            <a:r>
              <a:rPr lang="ar-SA" dirty="0"/>
              <a:t>. </a:t>
            </a:r>
            <a:endParaRPr lang="en-US" dirty="0"/>
          </a:p>
          <a:p>
            <a:pPr algn="r" rtl="1"/>
            <a:r>
              <a:rPr lang="ar-SA" dirty="0"/>
              <a:t>-  غير كفء في حالة استرجاع المعلومات من الجداول الكبيرة.</a:t>
            </a:r>
            <a:endParaRPr lang="en-US" dirty="0"/>
          </a:p>
          <a:p>
            <a:pPr algn="r" rtl="1"/>
            <a:r>
              <a:rPr lang="ar-SA" dirty="0"/>
              <a:t>-  يستخدم كلمات نصية واضحة للأمن، مما يجعلها نسبيا غير آمنة.</a:t>
            </a:r>
            <a:endParaRPr lang="en-US" dirty="0"/>
          </a:p>
          <a:p>
            <a:pPr algn="r"/>
            <a:endParaRPr lang="en-US" dirty="0"/>
          </a:p>
        </p:txBody>
      </p:sp>
      <p:pic>
        <p:nvPicPr>
          <p:cNvPr id="4" name="Picture 4" descr="C:\Users\mawada\Downloads\2.png"/>
          <p:cNvPicPr>
            <a:picLocks noChangeAspect="1" noChangeArrowheads="1"/>
          </p:cNvPicPr>
          <p:nvPr/>
        </p:nvPicPr>
        <p:blipFill>
          <a:blip r:embed="rId2"/>
          <a:srcRect/>
          <a:stretch>
            <a:fillRect/>
          </a:stretch>
        </p:blipFill>
        <p:spPr bwMode="auto">
          <a:xfrm>
            <a:off x="0" y="0"/>
            <a:ext cx="9144000" cy="6324600"/>
          </a:xfrm>
          <a:prstGeom prst="rect">
            <a:avLst/>
          </a:prstGeom>
          <a:noFill/>
        </p:spPr>
      </p:pic>
    </p:spTree>
    <p:extLst>
      <p:ext uri="{BB962C8B-B14F-4D97-AF65-F5344CB8AC3E}">
        <p14:creationId xmlns:p14="http://schemas.microsoft.com/office/powerpoint/2010/main" val="29208225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ustom 1">
      <a:majorFont>
        <a:latin typeface="Times New Roman"/>
        <a:ea typeface=""/>
        <a:cs typeface=""/>
      </a:majorFont>
      <a:minorFont>
        <a:latin typeface="Times New Roman"/>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ustom 1">
      <a:majorFont>
        <a:latin typeface="Times New Roman"/>
        <a:ea typeface=""/>
        <a:cs typeface=""/>
      </a:majorFont>
      <a:minorFont>
        <a:latin typeface="Times New Roman"/>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11832</TotalTime>
  <Words>2034</Words>
  <Application>Microsoft Office PowerPoint</Application>
  <PresentationFormat>On-screen Show (4:3)</PresentationFormat>
  <Paragraphs>118</Paragraphs>
  <Slides>34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34</vt:i4>
      </vt:variant>
    </vt:vector>
  </HeadingPairs>
  <TitlesOfParts>
    <vt:vector size="42" baseType="lpstr">
      <vt:lpstr>Algerian</vt:lpstr>
      <vt:lpstr>Arial</vt:lpstr>
      <vt:lpstr>Simplified Arabic</vt:lpstr>
      <vt:lpstr>Times New Roman</vt:lpstr>
      <vt:lpstr>Wingdings</vt:lpstr>
      <vt:lpstr>Wingdings 2</vt:lpstr>
      <vt:lpstr>Flow</vt:lpstr>
      <vt:lpstr>1_Flow</vt:lpstr>
      <vt:lpstr>إدارة وإستخدام الشبكات </vt:lpstr>
      <vt:lpstr>PowerPoint Presentation</vt:lpstr>
      <vt:lpstr>1 . إدارة شبكات ويندوز NETORK  MANAGEMENT (WINDOWS)</vt:lpstr>
      <vt:lpstr>تنصيب بروتوكول SNMP على نظام تشغيل النوافذ NT</vt:lpstr>
      <vt:lpstr> خدمات SNMP في نظام النوافذ </vt:lpstr>
      <vt:lpstr>تشمل خدمة الوكيل SNMP </vt:lpstr>
      <vt:lpstr>يقوم برنامج "خدمة المصيدةTRAP SERVEICE "</vt:lpstr>
      <vt:lpstr>PowerPoint Presentation</vt:lpstr>
      <vt:lpstr>PowerPoint Presentation</vt:lpstr>
      <vt:lpstr>PowerPoint Presentation</vt:lpstr>
      <vt:lpstr> أنواع الخدمة </vt:lpstr>
      <vt:lpstr>PowerPoint Presentation</vt:lpstr>
      <vt:lpstr>PowerPoint Presentation</vt:lpstr>
      <vt:lpstr> قواعد المعلومات الإدارية  MIBs  لنوافذ NT </vt:lpstr>
      <vt:lpstr>إدارة شبكات لينكسLINUX </vt:lpstr>
      <vt:lpstr>PowerPoint Presentation</vt:lpstr>
      <vt:lpstr>PowerPoint Presentation</vt:lpstr>
      <vt:lpstr>  استخدام الوكيل التابع بروكسي Proxy في نظم يونيكس</vt:lpstr>
      <vt:lpstr>PowerPoint Presentation</vt:lpstr>
      <vt:lpstr>  قاعدة المعلومات الإدارية  MIB لمحطة عمل يونيكس </vt:lpstr>
      <vt:lpstr> إدارة شبكات IBM </vt:lpstr>
      <vt:lpstr>PowerPoint Presentation</vt:lpstr>
      <vt:lpstr>PowerPoint Presentation</vt:lpstr>
      <vt:lpstr> إدارة شبكات ATM </vt:lpstr>
      <vt:lpstr>PowerPoint Presentation</vt:lpstr>
      <vt:lpstr>PowerPoint Presentation</vt:lpstr>
      <vt:lpstr> نظام CORBA لإدارة الشبكات Common Object Request Broker Architecture</vt:lpstr>
      <vt:lpstr>PowerPoint Presentation</vt:lpstr>
      <vt:lpstr>PowerPoint Presentation</vt:lpstr>
      <vt:lpstr> إدارة شبكات الويب Web </vt:lpstr>
      <vt:lpstr>PowerPoint Presentation</vt:lpstr>
      <vt:lpstr>PowerPoint Presentation</vt:lpstr>
      <vt:lpstr>الخلاصة</vt:lpstr>
      <vt:lpstr> بعض مشاكل البروتوكول “SNMPv1"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mawadaadam@gmail.com</dc:creator>
  <cp:lastModifiedBy>hp</cp:lastModifiedBy>
  <cp:revision>82</cp:revision>
  <dcterms:created xsi:type="dcterms:W3CDTF">2022-06-25T16:03:02Z</dcterms:created>
  <dcterms:modified xsi:type="dcterms:W3CDTF">2024-05-28T14:20:49Z</dcterms:modified>
</cp:coreProperties>
</file>